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Arke 对齐：承接业界进展、解决关键难题，并显式列出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AF2FA"/>
                </a:solidFill>
                <a:latin typeface="Microsoft YaHei"/>
              </a:rPr>
              <a:t>输入：Chapter 02/03 的 7 方案洞察 + H1–H10 难题清单。
输出：逐条映射到 Arke 四件套设计；未覆盖点标为 TODO（含验证方式）。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10058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对齐目标：用「可验证的结构化系统」替代「自由代码搜索」的不可控成本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落地优先：首场景 = AI 算力下的算子自动生成与调优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工程标准：Gate/Benchmark 驱动，保证可复现、可回归、可运营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10 · 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Arke 整体技术架构 · 从用户入口到硬件执行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645920" cy="548640"/>
          </a:xfrm>
          <a:prstGeom prst="rect">
            <a:avLst/>
          </a:prstGeom>
          <a:solidFill>
            <a:srgbClr val="18355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8D1B8"/>
                </a:solidFill>
                <a:latin typeface="Microsoft YaHei"/>
              </a:rPr>
              <a:t>用户入口层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645920" cy="548640"/>
          </a:xfrm>
          <a:prstGeom prst="rect">
            <a:avLst/>
          </a:prstGeom>
          <a:solidFill>
            <a:srgbClr val="18355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8D1B8"/>
                </a:solidFill>
                <a:latin typeface="Microsoft YaHei"/>
              </a:rPr>
              <a:t>Language 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645920" cy="1234440"/>
          </a:xfrm>
          <a:prstGeom prst="rect">
            <a:avLst/>
          </a:prstGeom>
          <a:solidFill>
            <a:srgbClr val="18355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645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2C55C"/>
                </a:solidFill>
                <a:latin typeface="Microsoft YaHei"/>
              </a:rPr>
              <a:t>IR 层（四层）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1645920" cy="1188720"/>
          </a:xfrm>
          <a:prstGeom prst="rect">
            <a:avLst/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7AB8FF"/>
                </a:solidFill>
                <a:latin typeface="Microsoft YaHei"/>
              </a:rPr>
              <a:t>Agent &amp; Compiler Toolchain 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623560"/>
            <a:ext cx="1645920" cy="502920"/>
          </a:xfrm>
          <a:prstGeom prst="rect">
            <a:avLst/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F6E6E"/>
                </a:solidFill>
                <a:latin typeface="Microsoft YaHei"/>
              </a:rPr>
              <a:t>Backend 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199632"/>
            <a:ext cx="1645920" cy="411480"/>
          </a:xfrm>
          <a:prstGeom prst="rect">
            <a:avLst/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19963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F6E6E"/>
                </a:solidFill>
                <a:latin typeface="Microsoft YaHei"/>
              </a:rPr>
              <a:t>硬件执行层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.ak 文件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7774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自然语言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CLI 参数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546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Python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2423160"/>
            <a:ext cx="914400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Arke Language v2  ·  kernel { semantics }  +  strategy { @rationale decisions }  ·  where 符号维度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L4  SemanticIR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what to compute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774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L3  StrategyIR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774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how to optimize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L2  ScheduleIR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schedule mapping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9546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L1  InstructionIR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546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near-LLVM 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9136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← LLM 参与度：主作者  /  主决策者  /  review only  /  不参与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4434840"/>
            <a:ext cx="4114800" cy="100584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Agent  ·  Bounded Action Space
Tool-Use API · Budget · Trajectory · @rationale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434840"/>
            <a:ext cx="4846320" cy="100584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Compiler Toolchain  ·  OpRegistry · Pass Pipeline · BackendRegistry
V0 静态 · V1 数值 · V2 性能  三级验证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Triton  (Phase 1–2)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4736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MLIR Dialect  (Phase 3)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584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LLVM IR  (Phase 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NVIDIA GPU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774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Huawei Ascend NPU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AMD GPU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546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未来 NPU / DSA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四件套能力一览：Language × IR × Compiler Toolchain ×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14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828800"/>
            <a:ext cx="269748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AI-Native DSL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算子级抽象 · where 符号维度 · strategy/annotation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LLM 可读写 · token 经济 · 入口统一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978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9787" y="1828800"/>
            <a:ext cx="269748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838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838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Multi-Layer 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Semantic / Strategy / Schedule / Instruction 四层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按 LLM 参与度分层，策略可搜索、可回滚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4427" y="1828800"/>
            <a:ext cx="269748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Compiler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Registry + Pass + Verifier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OpRegistry SSOT · Pass Pipeline · BackendRegistry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V0/V1/V2 三级验证 · checkpoint/rollback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906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9067" y="1828800"/>
            <a:ext cx="269748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766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766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Bounded Action + Tool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766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list_legal_actions → apply_decision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budget / compact / trajectory /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承接业界好进展（P1–P8）→ Arke 设计落点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P1 搜索化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59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Agent loop + check/rollback，把优化建模为可迭代决策序列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41447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41447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3288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P2 验证门禁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32887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V0(&lt;1ms) / V1(数值) / V2(性能) 三级验证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08375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08375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99815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P3 硬件信号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99815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get_hw_profile + compile_and_profile 作为工具协议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75303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575303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66743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P4 并行探索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666743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（TODO）并行 worker / beam-search 编排接口标准化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42231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142231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33671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P5 稳定抽象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233671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SemanticIR/StrategyIR 作为稳定中间层，下接 Triton/MLIR/LLVM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09159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709159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80059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P6 知识注入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800599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@rationale + 可检索的 KB（逐步替代纯 prompt 模板）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276087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276087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6752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P7 目标函数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367527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Benchmark BL/OT/ST/L + Gate 出口标准（可运营）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43015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843015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934455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P8 可观测性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934455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trajectory JSONL / report / artifacts 作为一等产物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关键难题对齐（H1–H5）：结构化表达 × 跨硬件 × 深层控制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56232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Semantic/Strategy 分离 + Strategy IR（可回滚可审计）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67128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将自由代码优化转为 legal_actions 枚举的完备性评估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946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42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@rationale 作为一等字段 + trajectory JSONL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3512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构建可检索 rationale KB（索引/相似度/跨硬件迁移评估）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5584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483864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2900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where + symbolic dimension system + conditional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39896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动态 shape specialization 策略与 cache 设计的基准化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4223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70248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70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15384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target-aware strategy + BackendRegistry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26280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跨硬件 lift 的量化实验（≥10%）与失败模式归因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2861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056632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56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01768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Phase 3 MLIR / Phase 4 LLVM IR 路线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1266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L2/L3 决策空间（memory/warp/register/barrier）的 action schema 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关键难题对齐（H6–H10）：成本治理 × 规模化落地 × 可控性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56232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budget（decisions/compiles）+ prompt cache/compact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67128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跨 session 的长期记忆与压缩策略（不丢 ground truth）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946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42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Benchmark BL6 + Gate 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3512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模型级 bottleneck→再优化→回归 的产品化闭环（orchestrator）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5584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483864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2900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BL/OT/ST/L 基准体系 + 多 baseline（P0–P5）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39896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端到端指标（吞吐/延迟/内存）统一报表与回归门禁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4223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70248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70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15384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SemanticIR 的组合性 + StrategyIR 的融合决策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26280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融合边界自动发现 + 语义合约（subgraph contract）标准化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2861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056632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56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01768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Bounded Action Space + V0 静态验证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1266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动作空间安全策略（资源上限/越界/并发）与 sandbox 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11 · 件套架构 ·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.ak 源文件  →  Parser  →  AST  →  SemanticIR / StrategyIR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447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887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.ak 源文件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kernel { ... }
strategy { @rationale ...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6535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6535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7975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Lexer +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7975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EBNF 文法  ·  正则词法
歧义 0 · token 最小化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46807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03623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3623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5063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5063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kernel_def · strategy_def
where_clause · @rationale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93895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50711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0711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2151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Resolver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151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Op Registry 查表
符号维度求解 · 类型推断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40983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97799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7799" y="1828800"/>
            <a:ext cx="173736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239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2C55C"/>
                </a:solidFill>
                <a:latin typeface="Microsoft YaHei"/>
              </a:rPr>
              <a:t>Layer 4
SemanticIR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9239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纯数学 DAG
SSA by construction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88071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44887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44887" y="1828800"/>
            <a:ext cx="173736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6327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2C55C"/>
                </a:solidFill>
                <a:latin typeface="Microsoft YaHei"/>
              </a:rPr>
              <a:t>Layer 3
StrategyIR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6327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决策列表 + @rationale
可枚举 · 可回滚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35159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0080" y="3749039"/>
            <a:ext cx="10881360" cy="2560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核心设计要素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算子级抽象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不暴露 loop / thread / memory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4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3484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语义 / 策略双段式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kernel vs strategy 句法级切开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100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Universal 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语言不枚举算子 · Op Registry 注入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符号维度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where B: dynamic(max=64) 一等公民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4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3484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1772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@rationale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每决策强制带自然语言理由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0100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100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Token 最小化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8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`.ak` 72 tokens · Triton 1102 tokens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12 · 件套架构 ·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多层 IR · 职责 × LLM 参与度 × 验证点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IR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承载内容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LLM 参与度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783080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主验证级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109728" cy="6400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Layer 4 · SemanticIR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359152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359152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纯数学 DAG · SSA 不可变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35915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主作者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2359152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V1 数值参考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07792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907792"/>
            <a:ext cx="109728" cy="64008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72384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C55C"/>
                </a:solidFill>
                <a:latin typeface="Microsoft YaHei"/>
              </a:rPr>
              <a:t>Layer 3 · StrategyIR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3072384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307238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决策列表 · @rationale · 可回滚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3072384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主决策者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072384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 静态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21024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621024"/>
            <a:ext cx="109728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785616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AB8FF"/>
                </a:solidFill>
                <a:latin typeface="Microsoft YaHei"/>
              </a:rPr>
              <a:t>Layer 2 · ScheduleIR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1" y="378561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怎么映射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785616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thread / block / warp / 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78561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3785616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V0+V2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334256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334256"/>
            <a:ext cx="109728" cy="64008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F6E6E"/>
                </a:solidFill>
                <a:latin typeface="Microsoft YaHei"/>
              </a:rPr>
              <a:t>Layer 1 · InstructionIR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1" y="4498848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怎么成指令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498848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近 LLVM 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449884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不参与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2912" y="4498848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V2 性能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9FB5C9"/>
                </a:solidFill>
                <a:latin typeface="Microsoft YaHei"/>
              </a:rPr>
              <a:t>↓  lowering 方向  ↓     LLM 参与度递减      V0→V1→V2 验证递进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623560"/>
            <a:ext cx="5303520" cy="50292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下接  ·  MLIR Standard Dialects (linalg / transform / scf / gpu)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623560"/>
            <a:ext cx="5303520" cy="50292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下接  ·  LLVM IR  →  PTX / ISA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13 · 件套架构 · Compiler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OpRegistry（SSOT）× Pass Pipeline × BackendRegistry × 三级验证器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090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966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ShapeInference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7822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7842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SemanticVerify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8698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718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StrategyLower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9574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9594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0450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0470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Codegen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1326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1346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Profile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202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0907" y="2651760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D1B8"/>
                </a:solidFill>
                <a:latin typeface="Microsoft YaHei"/>
              </a:rPr>
              <a:t>Pass Pipeline  ·  Analysis  /  Transform  /  Verification 三族 · 可组合 · 可替换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7373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737360"/>
            <a:ext cx="10881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85623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OpRegistry  ·  Single Source of Truth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17627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signature · shape_rule · template_hint · reference_impl · input_gen · attrs · strategy_space · hw_variants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6956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7832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8708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0460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1336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" y="402336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109728" cy="7315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BackendRegistry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Triton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MLIR Backend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LLVM IR Backend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937760"/>
            <a:ext cx="91440" cy="9144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V0  静态 · &lt;1ms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类型 / Shape / SSA / HW constraint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4937760"/>
            <a:ext cx="91440" cy="9144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C55C"/>
                </a:solidFill>
                <a:latin typeface="Microsoft YaHei"/>
              </a:rPr>
              <a:t>V1  数值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SemanticInterpreter + 参考对拍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55280" y="4937760"/>
            <a:ext cx="91440" cy="9144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6E6E"/>
                </a:solidFill>
                <a:latin typeface="Microsoft YaHei"/>
              </a:rPr>
              <a:t>V2  性能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compile + profile + P0~P5 baseline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98932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门禁顺序  ·  Function ▸ Accuracy ▸ Performance    /    Checkpoint · Rollback · 让 LLM 「大胆试、安全退」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14 · 件套架构 · Agent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LLM ↔ ArkeEnv 结构化闭环  ·  Tool-Use × Budget ×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92608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41148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6E6E"/>
                </a:solidFill>
                <a:latin typeface="Microsoft YaHei"/>
              </a:rPr>
              <a:t>LLM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Decides (not generates code)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0779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0779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analyze kernel  ·  read HW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5643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56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list_legal_actions()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3192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0507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0507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apply_decision(... @rationale)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48056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537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5371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verify → compile →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2920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023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0235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iterate  /  rollback  /  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828800"/>
            <a:ext cx="310896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1828800"/>
            <a:ext cx="109728" cy="411480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1965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AB8FF"/>
                </a:solidFill>
                <a:latin typeface="Microsoft YaHei"/>
              </a:rPr>
              <a:t>ArkeEnv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3317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Verifies + Executes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28346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28803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analyze_compute / get_hw_profile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32918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list_legal_actions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37490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37947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apply_decision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42062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42519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verify_correctness  (V1)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46634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47091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compile_and_profile (V2)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51206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51663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checkpoint / rollback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566160" y="2926080"/>
            <a:ext cx="4937760" cy="0"/>
          </a:xfrm>
          <a:prstGeom prst="line">
            <a:avLst/>
          </a:prstGeom>
          <a:ln w="19050">
            <a:solidFill>
              <a:srgbClr val="EF6E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566160" y="4206240"/>
            <a:ext cx="4937760" cy="0"/>
          </a:xfrm>
          <a:prstGeom prst="line">
            <a:avLst/>
          </a:prstGeom>
          <a:ln w="19050">
            <a:solidFill>
              <a:srgbClr val="7AB8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566160" y="26334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F6E6E"/>
                </a:solidFill>
                <a:latin typeface="Microsoft YaHei"/>
              </a:rPr>
              <a:t>tool_use  (structured API)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224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7AB8FF"/>
                </a:solidFill>
                <a:latin typeface="Microsoft YaHei"/>
              </a:rPr>
              <a:t>tool_result (legal actions · verification · profile)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40" y="4846320"/>
            <a:ext cx="4572000" cy="10058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49194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D1B8"/>
                </a:solidFill>
                <a:latin typeface="Microsoft YaHei"/>
              </a:rPr>
              <a:t>Optimization State  ·  Ground Truth 不被压缩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8620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Strategy IR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0634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Compile Results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Decision Log + @rationale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662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Budget  (decisions / compiles)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98932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双模集成  ·  Mode A 内置 (CLI / Python API)    /    Mode B 外部 (Cursor · Claude Code · OpenClaw)    ·    Trajectory JSONL 全量落盘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10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