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Microsoft YaHei"/>
              </a:rPr>
              <a:t>AI-NATIVE COMPILE STACK · TECH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EAF2FA"/>
                </a:solidFill>
                <a:latin typeface="Microsoft YaHei"/>
              </a:rPr>
              <a:t>AI 原生算子编译栈的「四件套」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38D1B8"/>
                </a:solidFill>
                <a:latin typeface="Microsoft YaHei"/>
              </a:rPr>
              <a:t>Language × IR × Compiler Toolchain ×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9FB5C9"/>
                </a:solidFill>
                <a:latin typeface="Microsoft YaHei"/>
              </a:rPr>
              <a:t>构建策略、必要性与工程权衡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92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AF2FA"/>
                </a:solidFill>
                <a:latin typeface="Microsoft YaHei"/>
              </a:rPr>
              <a:t>从「让 LLM 写代码」到「让 LLM 做决策」—— 一套让 LLM 在有界动作空间中探索、编译器负责验证的 AI-Native 基础设施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303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FB5C9"/>
                </a:solidFill>
                <a:latin typeface="Microsoft YaHei"/>
              </a:rPr>
              <a:t>讨论焦点  ·  Language / IR / Compiler Toolchain / Agent 四件套的构建必要性、设计取舍与未来展开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669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FB5C9"/>
                </a:solidFill>
                <a:latin typeface="Microsoft YaHei"/>
              </a:rPr>
              <a:t>案例参照  ·  Arke Project · 45 ops · OT0–OT4 · BL1–BL6 · Triton → MLIR → LLVM 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本次分享地图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0020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1655064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背景：AI 编程编译的范式迁移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87452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为什么「四件套」不是可选项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9456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86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Consolas"/>
              </a:rPr>
              <a:t>02–06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249424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四件套分述：Language / IR / Compiler /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46888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必要性 · 构建策略 · 技术讨论点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78892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Consolas"/>
              </a:rPr>
              <a:t>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843784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业界洞察：四条主线 + 方案全景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06324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LLM-for-Code · Autotune · MLIR · Agentic Infra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38328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474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Consolas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3438144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LLM-Driven Kernel Generation 7 大代表方案深度洞察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65760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KernelEvolve · KernelFalcon/Agent · KernelGen · AutoKernel · K-Search · AVO · CuTeGen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97764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069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Consolas"/>
              </a:rPr>
              <a:t>11–12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032504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汇总对比 + 演进趋势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42519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9 维特征矩阵 · 优劣速览 · 目标态趋势 · 呼应 Arke 规划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57200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6634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Consolas"/>
              </a:rPr>
              <a:t>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4626864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6 项必备特征 T1–T6 + 方案对比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484632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本方案 vs 业界 · 六维度优势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16636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257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Consolas"/>
              </a:rPr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5221224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整体技术架构 + 四件套各自架构图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544068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Arke 总图 · Language · IR · Compiler · Agent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6072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852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Consolas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80" y="5815584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贯通 + Q&amp;A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603504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职责矩阵 · 验证 · Benchmark · Token · Q&amp;A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01 ·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AI 时代算子开发的结构性拐点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007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178308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011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38D1B8"/>
                </a:solidFill>
                <a:latin typeface="Microsoft YaHei"/>
              </a:rPr>
              <a:t>硬件膨胀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0604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NVIDIA SIMT / Ascend · AMD · NPU / DSA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架构维度持续扩张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「一套代码一套调优」 成本不可承受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047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7047" y="178308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1367" y="2011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2C55C"/>
                </a:solidFill>
                <a:latin typeface="Microsoft YaHei"/>
              </a:rPr>
              <a:t>算子复杂化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367" y="260604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FlashAttention · GQA · MLA · RoPE / YaRN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Fused Compound · 动态 shape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传统 Triton / CUDA 人写人调成为瓶颈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6087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6087" y="1783080"/>
            <a:ext cx="365760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407" y="2011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F6E6E"/>
                </a:solidFill>
                <a:latin typeface="Microsoft YaHei"/>
              </a:rPr>
              <a:t>LLM 直写失灵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407" y="260604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正确率 83% vs 结构化 100%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~3500 tokens / 迭代 · 幻觉 · 调试链路长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性能方差大 · 决策不可解释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49240"/>
            <a:ext cx="10515600" cy="10058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440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方向性共识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742432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AF2FA"/>
                </a:solidFill>
                <a:latin typeface="Microsoft YaHei"/>
              </a:rPr>
              <a:t>AI 时代的编译基础设施不是「一个更强的编译器」，而是一套让 LLM 以「决策者」身份、让编译器以「验证者」身份协同工作的完整栈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01 ·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四件套：把「AI 原生编译栈」拆成可独立演进的四块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95147" y="178308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178308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1965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747" y="2377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AF2FA"/>
                </a:solidFill>
                <a:latin typeface="Microsoft YaHei"/>
              </a:rPr>
              <a:t>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747" y="278892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AI 友好 DSL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3747" y="3154680"/>
            <a:ext cx="731520" cy="13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47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语义 / 策略分离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算子级抽象 · 符号 shape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Token 最小化入口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9787" y="178308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9787" y="178308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8387" y="1965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2C55C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2377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AF2FA"/>
                </a:solidFill>
                <a:latin typeface="Microsoft YaHei"/>
              </a:rPr>
              <a:t>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278892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多层 LLM-Native 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58387" y="3154680"/>
            <a:ext cx="731520" cy="130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8387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L4 Semantic · L3 Strategy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L2 Schedule · L1 Instruction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按 LLM 参与度分层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4427" y="178308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4427" y="178308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3027" y="1965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7AB8F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3027" y="2377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AF2FA"/>
                </a:solidFill>
                <a:latin typeface="Microsoft YaHei"/>
              </a:rPr>
              <a:t>Compiler Toolchain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3027" y="278892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OpRegistry + Pass + Verifier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3027" y="3154680"/>
            <a:ext cx="731520" cy="130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27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算子 / Pass / 后端 可插拔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数据驱动替代 if/elif 地狱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V0 / V1 / V2 三级验证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9067" y="178308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99067" y="1783080"/>
            <a:ext cx="269748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7667" y="1965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F6E6E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7667" y="2377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AF2FA"/>
                </a:solidFill>
                <a:latin typeface="Microsoft YaHei"/>
              </a:rPr>
              <a:t>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7667" y="278892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有界动作空间 + 协议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27667" y="3154680"/>
            <a:ext cx="731520" cy="1300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27667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Tool-use 结构化 API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Budget · Trajectory · @rationale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Mode A 内置 / Mode B 外部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6072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8704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耦合而解耦  ·  Language ↔ IR 贴近  /  Compiler ↔ IR 贴近  /  Agent 只通过工具协议访问前三者  —— 任何一件变动都可以在界面处被隔离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D1B8"/>
                </a:solidFill>
                <a:latin typeface="Microsoft YaHei"/>
              </a:rPr>
              <a:t>件套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8D1B8"/>
                </a:solidFill>
                <a:latin typeface="Microsoft YaHei"/>
              </a:rPr>
              <a:t>AI-Native DSL</a:t>
            </a:r>
          </a:p>
        </p:txBody>
      </p:sp>
      <p:sp>
        <p:nvSpPr>
          <p:cNvPr id="6" name="Oval 5"/>
          <p:cNvSpPr/>
          <p:nvPr/>
        </p:nvSpPr>
        <p:spPr>
          <a:xfrm>
            <a:off x="9326880" y="1280160"/>
            <a:ext cx="2103120" cy="2103120"/>
          </a:xfrm>
          <a:prstGeom prst="ellipse">
            <a:avLst/>
          </a:prstGeom>
          <a:solidFill>
            <a:srgbClr val="122A43"/>
          </a:solidFill>
          <a:ln w="254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0" y="146304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28016" cy="15544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议题核心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AF2FA"/>
                </a:solidFill>
                <a:latin typeface="Microsoft YaHei"/>
              </a:rPr>
              <a:t>给 LLM 一个「算子级抽象 × 语义策略分离 × token 最小化」的编程表面 —— 让 LLM 从「写代码」走向「做决策」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必要性 · 为什么必须存在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构建策略 · 如何做对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技术讨论点 · 开放问题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02 ·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必要性  ·  构建策略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6634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Microsoft YaHei"/>
              </a:rPr>
              <a:t>必要性  ·  为什么必须存在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53035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Python / Triton 暴露循环 / 线程 / 地址 → LLM 需同时懂 Python 语义 + CUDA 概念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一个简单 matmul Triton 手写 ~1102 tokens，.ak ~72 tokens  (15×)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正确率：LLM 直写 Triton ≈ 83%，结构化协议 ≈ 100%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Token 成本：~3500 tokens / 迭代 难以收敛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调试链路：错误反馈是编译报错而非结构化 delta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结论：AI 时代必须有一个 LLM 友好的「入口语言」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构建策略  ·  如何做对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语义 / 策略双段式：kernel { semantics } / strategy { @rationale decisions }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算子级抽象：不做 loop-nest 语言，循环 / 线程 / 显存是编译器的事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Universal Op + 外部 Op Registry：语言不枚举算子，支持任意扩展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符号 shape 一等公民：where B: dynamic(max=64), S: dynamic(max=8192), D: static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@rationale 作为语法一等公民，每个决策强制携带自然语言理由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Token 最小化：新特性（symbolic shape / type inference）必须进一步降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02 ·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技术讨论点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DSL vs 嵌入式 Python DSL vs 注解式：给 LLM 用的语言，是否必须正则 + 无歧义文法？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8775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715768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2491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算子级抽象天花板：什么场景必须暴露 loop / schedule？是否需要 escape hatch？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9242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20440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29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条件策略（when / otherwise）：应放在 Language 表达还是 Strategy 表达？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9709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325112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25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342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多入口（.ak / 自然语言 / Python API）的 LLM 友好度与 token 成本如何量化对比？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0176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129784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29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389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Language 演进（v2 where / tuple / type inference）如何保证不破坏已训练 LLM 的先验？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2C55C"/>
                </a:solidFill>
                <a:latin typeface="Microsoft YaHei"/>
              </a:rPr>
              <a:t>件套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2C55C"/>
                </a:solidFill>
                <a:latin typeface="Microsoft YaHei"/>
              </a:rPr>
              <a:t>Multi-Layer LLM-Native IR</a:t>
            </a:r>
          </a:p>
        </p:txBody>
      </p:sp>
      <p:sp>
        <p:nvSpPr>
          <p:cNvPr id="6" name="Oval 5"/>
          <p:cNvSpPr/>
          <p:nvPr/>
        </p:nvSpPr>
        <p:spPr>
          <a:xfrm>
            <a:off x="9326880" y="1280160"/>
            <a:ext cx="2103120" cy="2103120"/>
          </a:xfrm>
          <a:prstGeom prst="ellipse">
            <a:avLst/>
          </a:prstGeom>
          <a:solidFill>
            <a:srgbClr val="122A43"/>
          </a:solidFill>
          <a:ln w="254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0" y="146304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F2C55C"/>
                </a:solidFill>
                <a:latin typeface="Consola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28016" cy="15544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议题核心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AF2FA"/>
                </a:solidFill>
                <a:latin typeface="Microsoft YaHei"/>
              </a:rPr>
              <a:t>把「算什么 / 怎么优化 / 怎么调度 / 怎么成指令」按 LLM 参与度分为 4 层 —— 每一层只做一件事，每一层都有清晰的验证责任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必要性 · 为什么必须存在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构建策略 · 如何做对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技术讨论点 · 开放问题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03 · 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必要性  ·  构建策略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必要性  ·  为什么必须存在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53035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MLIR / LLVM IR 为编译器工程师而设计：C++ / TableGen / dialect 爆炸 / SSA 心智负担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单层 IR 混合「算什么 / 怎么调度 / 指令怎么排」，LLM 决策粒度被混淆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动态 shape 外挂（Python 侧 shape 信息 / 运行时 guard）与编译期分析割裂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现状：算子知识散落在 6 个文件、~3000 行冗余；加 1 op 要改 6 处；shape 推断 401 行 if/elif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结论：需要为 LLM 设计一套多层、算法无关、可序列化的 IR —— LLM-Native 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构建策略  ·  如何做对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四层 IR · 按 LLM 参与度分层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L4 SemanticIR · LLM 主作者 · 不可变 · SSA by construction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L3 StrategyIR · LLM 主决策者 · 可搜索 / 可回滚 · L1/L2/L3 决策级别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L2 ScheduleIR · LLM 仅 review · thread / block / warp / vector 映射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L1 InstructionIR · LLM 不介入 · 近 LLVM IR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JSON 是序列化格式，不是 IR —— IR 以类型化对象存在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算法无关 · 节点 / 边 / 决策原语通用；具体算子由 Op Registry 注入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MLIR / LLVM 作为后端而非依赖：可经 linalg / transform / scf / gpu 下降，也可直接 emit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03 · 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技术讨论点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为什么是 4 层？「LLM 参与度」能否作为分层的一等依据？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8775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715768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2491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StrategyIR L1/L2/L3 决策在 Triton 天花板下能否全部表达？何时必须切 MLIR？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9242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20440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29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符号维度（M / seq_len）如何在四层之间一致传播？约束求解放在哪一层？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9709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325112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25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342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ConditionalNode vs 任意 CFG：AI 生成的 kernel 是否永远不需要 goto 式控制流？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0176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129784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29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389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多后端共存时，IR 的「可 lower 性」如何不被单一后端绑架？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7AB8FF"/>
                </a:solidFill>
                <a:latin typeface="Microsoft YaHei"/>
              </a:rPr>
              <a:t>件套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Compiler Toolchain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7AB8FF"/>
                </a:solidFill>
                <a:latin typeface="Microsoft YaHei"/>
              </a:rPr>
              <a:t>OpRegistry × Pass × Verifier</a:t>
            </a:r>
          </a:p>
        </p:txBody>
      </p:sp>
      <p:sp>
        <p:nvSpPr>
          <p:cNvPr id="6" name="Oval 5"/>
          <p:cNvSpPr/>
          <p:nvPr/>
        </p:nvSpPr>
        <p:spPr>
          <a:xfrm>
            <a:off x="9326880" y="1280160"/>
            <a:ext cx="2103120" cy="2103120"/>
          </a:xfrm>
          <a:prstGeom prst="ellipse">
            <a:avLst/>
          </a:prstGeom>
          <a:solidFill>
            <a:srgbClr val="122A43"/>
          </a:solidFill>
          <a:ln w="254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0" y="146304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7AB8FF"/>
                </a:solidFill>
                <a:latin typeface="Consola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28016" cy="15544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B8FF"/>
                </a:solidFill>
                <a:latin typeface="Microsoft YaHei"/>
              </a:rPr>
              <a:t>议题核心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AF2FA"/>
                </a:solidFill>
                <a:latin typeface="Microsoft YaHei"/>
              </a:rPr>
              <a:t>把「算子 / Pass / 后端」从硬编码变成数据驱动 —— 让「加一个算子 / 换一个后端」不再是重写，而是注册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必要性 · 为什么必须存在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构建策略 · 如何做对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技术讨论点 · 开放问题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04 · Compiler Toolchain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必要性  ·  构建策略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6634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7AB8FF"/>
                </a:solidFill>
                <a:latin typeface="Microsoft YaHei"/>
              </a:rPr>
              <a:t>必要性  ·  为什么必须存在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53035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反面教材：加一个算子改 6 处 · shape 推断 401 行 if/elif · 45 个手写 NumPy 参考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编译器如果又优化又下降又 codegen，会侵蚀 LLM 的决策空间并稀释正确性保证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Pass 逻辑串行耦合 · 无 pre/post condition · 无 analysis cache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后端切换（Triton → MLIR → LLVM）没有统一协议，target routing 靠 if/elif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结论：工具链必须从「硬编码」走向「数据驱动 · 可插拔 · 可度量」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构建策略  ·  如何做对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OpRegistry as Single Source of Truth · shape rule / template / reference / input gen / strategy 派生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Pass Infrastructure · Pass 协议 + Pipeline + PassContext · Analysis / Transform / Verification 三族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SemanticInterpreter · 用 PyTorch eager 执行 IR graph，替代 45 个手写 NumPy 参考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ShapeInferenceEngine · 声明式规则替代 401 行 if/elif 链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Backend Abstraction + BackendRegistry · Triton / MLIR / LLVM 同一协议 · target routing 注册中心化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Compiler-as-Verifier · V0 &lt;1ms 静态 / V1 数值对参考 / V2 HW 真实 profile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Checkpoint / Rollback · 门禁顺序 Function ▸ Accuracy ▸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12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04 · Compiler Toolchain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技术讨论点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「编译器不优化只验证」这条线能否贯穿到 LLVM IR 层？哪里必须编译器自己做（如 regalloc）？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8775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715768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2491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OpRegistry 边界：硬件特化 variant 写进 Registry 还是下沉到 Backend？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9242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20440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29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V0 &lt;1ms 如何工程化保证？是否需要再加 L0 类型 / 语法层的即时反馈？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9709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325112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25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342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Pass 依赖与可重入性：Analysis 结果缓存失效？pre/post-condition 是否应编译期检查？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0176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129784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29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389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Triton 抽象天花板具体卡在哪些决策上？何时切 MLIR？何时直出 LLVM？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F6E6E"/>
                </a:solidFill>
                <a:latin typeface="Microsoft YaHei"/>
              </a:rPr>
              <a:t>件套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Agent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F6E6E"/>
                </a:solidFill>
                <a:latin typeface="Microsoft YaHei"/>
              </a:rPr>
              <a:t>Bounded Action × Tool Protocol</a:t>
            </a:r>
          </a:p>
        </p:txBody>
      </p:sp>
      <p:sp>
        <p:nvSpPr>
          <p:cNvPr id="6" name="Oval 5"/>
          <p:cNvSpPr/>
          <p:nvPr/>
        </p:nvSpPr>
        <p:spPr>
          <a:xfrm>
            <a:off x="9326880" y="1280160"/>
            <a:ext cx="2103120" cy="2103120"/>
          </a:xfrm>
          <a:prstGeom prst="ellipse">
            <a:avLst/>
          </a:prstGeom>
          <a:solidFill>
            <a:srgbClr val="122A43"/>
          </a:solidFill>
          <a:ln w="254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0" y="146304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EF6E6E"/>
                </a:solidFill>
                <a:latin typeface="Consola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28016" cy="15544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F6E6E"/>
                </a:solidFill>
                <a:latin typeface="Microsoft YaHei"/>
              </a:rPr>
              <a:t>议题核心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AF2FA"/>
                </a:solidFill>
                <a:latin typeface="Microsoft YaHei"/>
              </a:rPr>
              <a:t>把 LLM 从「自由文本生成器」约束成「可审计 / 可回放 / 可学习」的优化决策者 —— 有界动作空间 + 结构化协议 + 预算治理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必要性 · 为什么必须存在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构建策略 · 如何做对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技术讨论点 · 开放问题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05 ·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必要性  ·  构建策略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6634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Microsoft YaHei"/>
              </a:rPr>
              <a:t>必要性  ·  为什么必须存在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53035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LLM 三病 · 幻觉代码 / 上下文爆炸 / 决策不可追溯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自由文本生成 token 经济学不可持续：~3500 tokens/迭代 × 数十轮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即便 LLM 能力提升，「无界生成 + 事后 diff」模型无法提供审计 / 回放 / 迁移能力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外部 Agent（Cursor / Claude Code）已具 LLM 能力，缺的是结构化工具协议 + 身份注入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结论：Agent 必须被工程化为「有界动作空间 + 结构化协议 + 预算治理」的系统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构建策略  ·  如何做对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Bounded Action Space · LLM 只从编译器枚举的合法动作中选，不生成自由代码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Tool-Use 协议 · analyze_compute / list_legal_actions / apply_decision / verify / profile / checkpoint / rollback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双模集成 · Mode A 内置 (CLI / Python API) / Mode B 外部 (Cursor · Claude Code · OpenClaw)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Budget 管理 · decisions / compiles 分开计数 · 实时回注到 tool_result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Context 工程 · 分段 Prompt Cache (Role / HW / Kernel / Strategy) · 50 轮节省 ~176K tokens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AsyncGenerator 优化循环 · typed OptimizationEvent · 流式 + 可取消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@rationale 沉淀为 trajectory JSONL · 跨硬件迁移与回放的燃料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05 ·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技术讨论点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Bounded Action Space 的宽窄：太窄（LLM 被困）vs 太宽（幻觉回潮）—— 能否量化调优？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8775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715768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2491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预算设计：按 decision / compile / token 哪个是第一性的？三者如何组合？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9242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20440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29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长会话 Compact 如何不破坏优化连续性？短期记忆 vs 长期知识库如何分层？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9709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325112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25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342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@rationale 能否跨硬件真正迁移？Phase 2 目标 ≥10% cross-arch lift —— 如何设计证伪实验？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0176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129784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29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389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Agent 自主化（kernel-only → 自动 strategy + 自动 3 轮 compile→profile→adjust）可靠性边界？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80644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0120" y="5934456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9344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94360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当 LLM 能力年年提升，Bounded Action Space 是否会变成枷锁？什么情况下放宽？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07 · 业界洞察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AI 编程编译前沿 · 四条主线正在交汇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" cy="2148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Microsoft YaHei"/>
              </a:rPr>
              <a:t>LLM-for-Code 的再定位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GPT-4 / Claude / Gemini 直写 CUDA / Triton 已可用但不稳定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Meta CodeCompose · DeepMind AlphaCode · KernelBench 正基准化能力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共识：LLM 作为「代码生成器」→「决策者 + 验证器」组合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737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109728" cy="2148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2C55C"/>
                </a:solidFill>
                <a:latin typeface="Microsoft YaHei"/>
              </a:rPr>
              <a:t>编译器自动调优的极限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40280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Triton autotune · TVM MetaSchedule · AKG · Ansor 靠搜索空间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搜索空间爆炸 · 启发式难泛化 · 无专家知识表达能力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共识：需要把「人/LLM 的先验」接回调优循环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109728" cy="2148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60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7AB8FF"/>
                </a:solidFill>
                <a:latin typeface="Microsoft YaHei"/>
              </a:rPr>
              <a:t>MLIR 生态的繁荣与门槛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NVIDIA Triton · IREE · torch-mlir · XLA · Modular Mojo 持续扩张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dialect 爆炸 · C++/TableGen 门槛 · LLM 不可读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共识：MLIR 是底座，但需要一层「LLM-facing」中间层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023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4023360"/>
            <a:ext cx="109728" cy="21488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160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F6E6E"/>
                </a:solidFill>
                <a:latin typeface="Microsoft YaHei"/>
              </a:rPr>
              <a:t>Agentic AI Infra 范式成型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526280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Cursor · Claude Code · Devin · OpenClaw 验证 Tool-Use 范式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MCP / OpenAI Tools / Anthropic Tool Use 协议趋同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共识：结构化工具协议 + 预算 + Trajectory 成为 AI 系统标配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17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07 · 业界洞察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业界方案全景 · 各自解决一部分问题，但缺「AI-Native」整体性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方案 / 代表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773936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77393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773936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局限（从 AI-Native 视角）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19456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042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Triton (OpenAI/NVIDIA)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304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GPU Python DSL + autotune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3042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门槛低 · 生态广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0428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抽象天花板 · LLM 不友好 · 人写人调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752344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8620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TVM / Ansor / MetaSchedule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286207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搜索 + cost model + schedule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8620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搜索泛化 · 多后端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8620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搜索空间大 · 专家知识难注入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310128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41985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MLIR + Linalg / Transform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419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多 dialect · 可组合 lowering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419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工业级编译基础设施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41985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C++ / TableGen 门槛 · 非 LLM-Native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867912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977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FlagGems / Liger-Kernel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3977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Triton 算子库（200+）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977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现成高性能实现 · 模型可直用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39776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手写维护 · 无决策/验证协议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25696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354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torch.compile / Inductor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53542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PyTorch 内置图编译 + Triton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53542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易集成 · 自动化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453542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黑盒 · 难定制 · 硬件扩展受限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98348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0932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Mojo / Hidet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3360" y="50932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新语言 / 新图编译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509320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可控性强 · 性能好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50932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生态新 · 缺 LLM-Native 协议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541264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5099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Agent 框架 (Cursor · CC · Devin)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565099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Tool-Use + Context 工程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56509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闭环成熟 · token 工程化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5650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通用 agent · 非编译专用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612648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6172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结论 · 没有任何现有方案同时具备：LLM-Native 入口 + 多层 IR + 决策验证闭环 + 跨硬件泛化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业界深度洞察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LLM-Driven Kernel Generation · 7 大代表方案分述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109728" cy="5120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76272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148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KernelEvolve (Meta, ISCA'26)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Triton / CuTe / MTIA C++ · 生产级 · 异构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60904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660904"/>
            <a:ext cx="109728" cy="5120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779776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7523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KernelFalcon + KernelAgent (Meta PyTorch)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75234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Deep Agents · Multi-Agent · KernelBench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64408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264408"/>
            <a:ext cx="109728" cy="512064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38328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7AB8FF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3558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AscendKernelGen / KernelGen-LM (PCL)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3558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NPU · AscendC · SFT+RL · 领域模型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867912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3867912"/>
            <a:ext cx="109728" cy="5120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986784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959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AutoKernel (RightNow AI)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5935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Triton + CUDA C++ · 6-tier Playbook · H100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471416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471416"/>
            <a:ext cx="109728" cy="5120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45902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5628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K-Search (UC Berkeley)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56285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Co-Evolving World Model · 树搜索 · FlashInfer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07492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5074920"/>
            <a:ext cx="109728" cy="5120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5193792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Consola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3080" y="5166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AVO (NVIDIA)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166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Agentic Variation Operators · Blackwell · FA-4+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678424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5678424"/>
            <a:ext cx="109728" cy="512064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797296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7AB8FF"/>
                </a:solidFill>
                <a:latin typeface="Consolas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57698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CuTeGen (UofT)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76986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CuTe 抽象层 · 单 kernel 渐进精炼 · Generate-Test-Refine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19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业界方案 · 01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KernelEvolve  ·  Meta 生产级异构 Agent Kernel 编写（ISCA 2026）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Meta Platforms  ·  arXiv 2512.23236  ·  ISCA 2026  ·  生产部署 · KernelBench 250/250 PASS · ATen 160 ops × 3 HW · 最高 17× vs PyTorch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94360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09728" cy="3931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技术架构  ·  六组件 Agentic 流水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Hardware Knowledge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97180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RAG 注入硬件手册 / ISA / 优化模板（含 MTIA 专有架构）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7472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LLM Synthesizer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52044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多 DSL 候选生成：Triton · CuTe DSL · FlyDSL · CUDA · HIP · MTIA C++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2336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06908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Tree Search + State Machine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06908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把 kernel 优化视为搜索问题，维护 self-improving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61772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Job Harness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61772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规模化并行 compile + profile + benchmark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12064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6636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Retrieval-Augmented Prompt Synthesis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516636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运行时上下文 → 动态 prompt 合成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6692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Deployment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571500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生产化入链 · Ads/DLRM 推理吞吐 +60%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2423160"/>
            <a:ext cx="493776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20840" y="2423160"/>
            <a:ext cx="109728" cy="3931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2514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2C55C"/>
                </a:solidFill>
                <a:latin typeface="Microsoft YaHei"/>
              </a:rPr>
              <a:t>关键技术特征  ·  与 Arke 的对照点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926080"/>
            <a:ext cx="457200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把 kernel 优化定义为 search problem ·  非 one-shot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覆盖全编程栈  ·  Triton / CuTe / CUDA / HIP / MTIA C++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RAG 硬件知识库   ·  显式注入 ISA / 架构手册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异构 × 大规模  ·  NVIDIA · AMD · MTIA · CPU 生产化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KernelBench 全 250 100% · ATen 160 ops × 3 HW 100% 正确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/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搜索思路一致，但决策空间是自由代码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DSL 是 Triton/CuTe/etc，不是 LLM-Native IR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无 @rationale 作为一等知识载体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20 /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业界方案 · 02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KernelFalcon + KernelAgent  ·  PyTorch Team Deep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Meta PyTorch Team  ·  github.com/meta-pytorch/KernelAgent  ·  Apache-2.0  ·  KernelBench L1/L2/L3 250/250 · 1.56× vs torch.compile · 89% H100 roofline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94360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09728" cy="3931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2C55C"/>
                </a:solidFill>
                <a:latin typeface="Microsoft YaHei"/>
              </a:rPr>
              <a:t>技术架构  ·  Deep Agent 分层编排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Orchestrator (Deterministic)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97180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Python 控制流 · LLM 不做编排决策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7472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FuserAgent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52044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Code-to-code 融合  ·  保持 PyTorch 语义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2336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0690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ExtractorAgent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06908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子图边界 + shape contract 抽取为 JSON 合同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61772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Dispatcher + KernelAgent (×N workers)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61772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并行 Triton kernel 合成 + 严格 runtime 验证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12064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663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Hardware-Guided Opt 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16636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ProfilerAgent (NCU) + JudgeAgent (roofline) + AnalyzeAgent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6692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Composer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71500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用合成 kernel 重建原 forward · 端到端替换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2423160"/>
            <a:ext cx="493776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20840" y="2423160"/>
            <a:ext cx="109728" cy="39319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2514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AB8FF"/>
                </a:solidFill>
                <a:latin typeface="Microsoft YaHei"/>
              </a:rPr>
              <a:t>关键技术特征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926080"/>
            <a:ext cx="457200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Hierarchical delegation  ·  任务分解到精确子问题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Deterministic control plane  ·  编排交 Python，认知交 LLM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Grounded tool use  ·  每步经编译器 + 硬件验证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Parallel exploration + early-win  ·  多 worker 竞速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Verifier-first  ·  compile + 数值 + 性能三级 gate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NCU roofline + LLM bottleneck diagnosis · 硬件信号驱动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/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「编排交确定性代码、认知交 LLM」理念高度一致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子图合同 ≈ SemanticIR，但无策略层单独表达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输出仍是 Triton 代码 ·  无多层 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21 /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业界方案 · 03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AscendKernelGen  ·  KernelGen-LM  ·  面向 NPU 的领域模型（PCL, 2026）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PCL / 鹏城实验室 · 中山大学 · 华为  ·  arXiv 2601.07160  ·  Ascend NPU · AscendC DSL · L2 编译成功率 0% → 95.5% (Pass@10)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94360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09728" cy="39319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AB8FF"/>
                </a:solidFill>
                <a:latin typeface="Microsoft YaHei"/>
              </a:rPr>
              <a:t>技术架构  ·  生成 × 评测 × 训练三位一体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Ascend-CoT 数据集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971800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从真实 AscendC kernel 抽取 CoT · 文档 + 代码 + 一般推理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7472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KernelGen-LM  (1.7B / 8B)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3520440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Qwen3 backbone · SFT 预热 · 含硬件约束的专用权重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2336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06908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RL with Execution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69080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奖励 = compile OK + 数值 OK + 速度增益 · 反事实保留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61772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NPUKernelBench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4617720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编译 × 正确性 × 性能三级打分 · L1 / L2 / L3 难度分层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12064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6636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Generate-Evaluate 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166360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候选 → NPU 硬件执行 → 反馈 → 再生成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6692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Open Artifacts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715000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HuggingFace 开放模型 + 数据集 + Benchmark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2423160"/>
            <a:ext cx="493776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20840" y="2423160"/>
            <a:ext cx="109728" cy="3931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2514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关键技术特征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926080"/>
            <a:ext cx="457200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选择「训一个领域 LLM」而非「调一个通用 LLM」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把 NPU DSL 的缺数据痛点用 CoT + RLEF 补齐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强耦合单一硬件  ·  AscendC / 昇腾  ·  非跨架构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Benchmark 内置：编译 / 正确性 / 延迟三维打分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开源数据 + 权重 + 评测  ·  社区可复现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/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Arke 不依赖专训模型  ·  用结构化协议约束通用 LLM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Arke 把知识沉到 @rationale 而非模型权重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Arke 跨架构；KernelGen 单架构深度最优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22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业界方案 · 04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AutoKernel  ·  Autoresearch for GPU Kernels (RightNow AI, 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Jaber &amp; Jaber  ·  arXiv 2603.21331  ·  github.com/RightNow-AI/autokernel  ·  H100 · RMSNorm 5.29× / softmax 2.82× / cross-entropy 2.21× vs eager · vectorsum_v2 B200 leaderboard 第一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94360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09728" cy="39319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F6E6E"/>
                </a:solidFill>
                <a:latin typeface="Microsoft YaHei"/>
              </a:rPr>
              <a:t>技术架构  ·  三阶段  Amdahl 驱动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F6E6E"/>
                </a:solidFill>
                <a:latin typeface="Microsoft YaHei"/>
              </a:rPr>
              <a:t>Phase A · 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97180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torch.profiler 定位 bottleneck  ·  按 Amdahl law 排序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7472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F6E6E"/>
                </a:solidFill>
                <a:latin typeface="Microsoft YaHei"/>
              </a:rPr>
              <a:t>Phase B · Extract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5204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bottleneck → 独立 Triton / CUDA C++ kernel 文件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2336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06908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F6E6E"/>
                </a:solidFill>
                <a:latin typeface="Microsoft YaHei"/>
              </a:rPr>
              <a:t>Phase C · Optimize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406908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agent 改一个 kernel.py · bench.py 跑 fixed 评测 · keep / revert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61772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F6E6E"/>
                </a:solidFill>
                <a:latin typeface="Microsoft YaHei"/>
              </a:rPr>
              <a:t>Dual 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461772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Triton（迭代速度）+ CUDA C++（tensor core / wmma 深度）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12064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6636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F6E6E"/>
                </a:solidFill>
                <a:latin typeface="Microsoft YaHei"/>
              </a:rPr>
              <a:t>5-Stage Correctness Harness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516636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smoke / shape sweep / numerical / gradient / end-to-end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6692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F6E6E"/>
                </a:solidFill>
                <a:latin typeface="Microsoft YaHei"/>
              </a:rPr>
              <a:t>6-Tier Playbook (program.md 909 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571500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专家优化规则 encode 成 agent instruction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2423160"/>
            <a:ext cx="493776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20840" y="2423160"/>
            <a:ext cx="109728" cy="3931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2514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关键技术特征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926080"/>
            <a:ext cx="457200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受 Karpathy autoresearch 启发  ·  过夜自主搜索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编排极简  ·  agent edits 1 file · fixed bench · keep/revert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Amdahl 优先级  ·  先啃大头 kernel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双后端  ·  Triton 快迭代 / CUDA C++ 触达极限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9 类 kernel × 18 starter implementations · 复现友好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/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6-tier playbook ≈ @rationale knowledge base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Arke 是「枚举动作」而非「自由编辑文件」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Arke 在 IR 层回滚而非 kernel 文件层回滚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23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业界方案 · 05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K-Search  ·  Co-Evolving Intrinsic World Model (UC Berkeley, 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Shiyi Cao et al. · UC Berkeley · arXiv 2602.19128  ·  github.com/caoshiyi/K-Search  ·  FlashInfer GQA/MLA/MoE · 平均 2.10× / MoE 最高 14.3× / GPUMode TriMul H100 SOTA 1030μs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94360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09728" cy="3931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技术架构  ·  World Model-Guided 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Problem → Search Tree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97180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kernel 生成 = 规划问题 · 状态树由 LLM World Model 维护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7472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Intrinsic World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52044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LLM 扮演 P_model(S_{t+1}|S_t, a_t) · 用 domain prior 指导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2336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06908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High-Level Planning ↔ Low-Level Codegen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406908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显式解耦策略与实现 · 策略正确但实现错可恢复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61772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Co-Evolving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61772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World Model 随搜索更新：action 优先级 / 节点价值 / 断点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12064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6636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Stagnation-Aware Action Switch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516636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K 轮无 improvement 自动切换 action 类型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6692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Execution Feedback → WM Update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71500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profile 观测 → 更新 WM 对各优化意图的 priority score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2423160"/>
            <a:ext cx="493776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20840" y="2423160"/>
            <a:ext cx="109728" cy="3931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2514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2C55C"/>
                </a:solidFill>
                <a:latin typeface="Microsoft YaHei"/>
              </a:rPr>
              <a:t>关键技术特征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926080"/>
            <a:ext cx="457200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核心贡献  ·  把 LLM 从「代码生成器」升级为「World Model」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策略 / 实现解耦  ·  非单调搜索路径可行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对临时 bug 有弹性  ·  好策略不会因编译失败被丢弃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树搜索显式记录 hypothesis + design alternatives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复杂 kernel 表现突出  ·  MoE 14.3× / MLA / GQA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/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「策略 / 实现解耦」与 Arke 语义/策略分离异曲同工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WM 在 LLM 内部隐式 vs Arke 的显式 Strategy IR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Arke 的 @rationale 可作为 WM 的跨 session 持久化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24 /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业界方案 · 06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AVO  ·  Agentic Variation Operators (NVIDIA, 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Terry Chen et al. · NVIDIA · arXiv 2603.24517  ·  Blackwell B200  ·  MHA 7 天连续演化 · 超 cuDNN 3.5% / 超 FlashAttention-4 10.5% · GQA 迁移 30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94360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09728" cy="3931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2C55C"/>
                </a:solidFill>
                <a:latin typeface="Microsoft YaHei"/>
              </a:rPr>
              <a:t>技术架构  ·  Agent-as-Variation-Operator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Evolutionary Search Skeleton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97180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维护 population P  ·  x_{t+1} = Vary(P_t)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7472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Replace Vary() with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52044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Vary(P) = Agent(P, Knowledge, Feedback)  ·  不是固定 mutation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2336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06908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Self-Directed Agent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406908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propose → repair → critique → verify  ·  持续编辑实现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61772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Domain Knowledge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61772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Blackwell 架构规约  ·  FA-4 源码 / CUTLASS / warp primitives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12064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6636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Execution Feedback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516636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profile 结果驱动 agent 的下一轮变异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6692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Single-Lineage Ablation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71500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显式隔离「变异操作是代码 agent」这一因子的贡献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2423160"/>
            <a:ext cx="493776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20840" y="2423160"/>
            <a:ext cx="109728" cy="39319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2514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F6E6E"/>
                </a:solidFill>
                <a:latin typeface="Microsoft YaHei"/>
              </a:rPr>
              <a:t>关键技术特征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926080"/>
            <a:ext cx="457200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把「变异算子」从固定启发式升级为「自主编码 agent」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首次在 attention 上做到「超 expert-engineered」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1668 TFLOPS BF16 · 发现 SRAM→寄存器搬运等微架构优化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长周期（7 天）连续自主演化 · 跨 kernel 迁移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方法与 kernel target 解耦  ·  可迁移到其他 performance-critical 系统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/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AVO 的 agent 是「自由文本 variation」，Arke 是「枚举动作变异」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两者都引入 Knowledge Base · Arke 用 @rationale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AVO 结果最优但 token 成本高；Arke 结构化节省 token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25 /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业界方案 · 07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CuTeGen  ·  LLM × CuTe 抽象层（U. Toronto, 2026）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Tara Saba et al. · University of Toronto / Standard Kernel  ·  arXiv 2604.01489  ·  CUTLASS v4.3 · 12 matmul + 14 activation kernels · 渐进 refinement · library-level perf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94360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09728" cy="39319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AB8FF"/>
                </a:solidFill>
                <a:latin typeface="Microsoft YaHei"/>
              </a:rPr>
              <a:t>技术架构  ·  Generate–Test–Refine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Initial Synthesis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97180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PyTorch reference + CuTe 示例 kernel → 初始候选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7472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Progressive Single-Kernel Refinement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52044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不做大规模搜索  ·  只精炼一个进化中的 kernel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2336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06908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Execution-Based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406908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每次改动后 compile + 数值对比 PyTorch 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61772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Structured Debugging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61772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失败走结构化 prompt 模板  ·  非自由报错粘贴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12064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6636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Staged 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516636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分阶段加压：先正确性 → 再 baseline → 再 profile 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669280"/>
            <a:ext cx="5577840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Delayed Profiling 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71500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profile 反馈滞后注入  ·  避免早期噪声误导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2423160"/>
            <a:ext cx="493776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20840" y="2423160"/>
            <a:ext cx="109728" cy="3931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2514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关键技术特征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926080"/>
            <a:ext cx="457200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关键设计选择  ·  目标语言用 CuTe（CUTLASS C++ 模板抽象）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CuTe 暴露 tiling / data movement  ·  比 CUDA 稳定可迭代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单 kernel 渐进进化  ·  非多候选搜索  ·  token 成本低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Workload-aware prompt  ·  按 workload 注入不同优化策略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Delayed profiling  ·  晚期注入 profile 反馈防止过拟合噪声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/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「选择稳定抽象层」的直觉与 Arke IR 分层一致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CuTe 仍是 C++ 模板 · Arke 是 LLM-Native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000">
                <a:solidFill>
                  <a:srgbClr val="EAF2FA"/>
                </a:solidFill>
                <a:latin typeface="Microsoft YaHei"/>
              </a:rPr>
              <a:t>⇌ 对照 Arke  ·  CuTeGen 单 kernel 精炼 ≈ Arke 单次 optimize session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26 /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11 · 汇总对比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7 方案  ×  9 维度特征矩阵  ·  基于 LLM 的算子生态全景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" y="1783080"/>
            <a:ext cx="11859768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方案 / 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496" y="18288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8D1B8"/>
                </a:solidFill>
                <a:latin typeface="Microsoft YaHei"/>
              </a:rPr>
              <a:t>优化范式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928" y="18288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8D1B8"/>
                </a:solidFill>
                <a:latin typeface="Microsoft YaHei"/>
              </a:rPr>
              <a:t>搜索结构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8288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8D1B8"/>
                </a:solidFill>
                <a:latin typeface="Microsoft YaHei"/>
              </a:rPr>
              <a:t>LLM 角色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3792" y="18288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8D1B8"/>
                </a:solidFill>
                <a:latin typeface="Microsoft YaHei"/>
              </a:rPr>
              <a:t>知识注入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8288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8D1B8"/>
                </a:solidFill>
                <a:latin typeface="Microsoft YaHei"/>
              </a:rPr>
              <a:t>验证机制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4656" y="18288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8D1B8"/>
                </a:solidFill>
                <a:latin typeface="Microsoft YaHei"/>
              </a:rPr>
              <a:t>目标语言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18288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8D1B8"/>
                </a:solidFill>
                <a:latin typeface="Microsoft YaHei"/>
              </a:rPr>
              <a:t>硬件覆盖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18288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8D1B8"/>
                </a:solidFill>
                <a:latin typeface="Microsoft YaHei"/>
              </a:rPr>
              <a:t>知识沉淀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18288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8D1B8"/>
                </a:solidFill>
                <a:latin typeface="Microsoft YaHei"/>
              </a:rPr>
              <a:t>典型成果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2295144"/>
            <a:ext cx="11859768" cy="47548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295144"/>
            <a:ext cx="73152" cy="47548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340864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Arke (本方案)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96" y="234086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AF2FA"/>
                </a:solidFill>
                <a:latin typeface="Microsoft YaHei"/>
              </a:rPr>
              <a:t>Decision-based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2928" y="234086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AF2FA"/>
                </a:solidFill>
                <a:latin typeface="Microsoft YaHei"/>
              </a:rPr>
              <a:t>Bounded Action 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234086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AF2FA"/>
                </a:solidFill>
                <a:latin typeface="Microsoft YaHei"/>
              </a:rPr>
              <a:t>决策者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234086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AF2FA"/>
                </a:solidFill>
                <a:latin typeface="Microsoft YaHei"/>
              </a:rPr>
              <a:t>@rationale KB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34086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AF2FA"/>
                </a:solidFill>
                <a:latin typeface="Microsoft YaHei"/>
              </a:rPr>
              <a:t>V0/V1/V2 三级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234086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AF2FA"/>
                </a:solidFill>
                <a:latin typeface="Microsoft YaHei"/>
              </a:rPr>
              <a:t>.ak → 多后端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05088" y="234086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AF2FA"/>
                </a:solidFill>
                <a:latin typeface="Microsoft YaHei"/>
              </a:rPr>
              <a:t>NVIDIA→Ascend→+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34086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AF2FA"/>
                </a:solidFill>
                <a:latin typeface="Microsoft YaHei"/>
              </a:rPr>
              <a:t>trajectory + 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5952" y="234086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AF2FA"/>
                </a:solidFill>
                <a:latin typeface="Microsoft YaHei"/>
              </a:rPr>
              <a:t>规划中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2807208"/>
            <a:ext cx="11859768" cy="47548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852928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KernelEvolve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82496" y="285292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Search-based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2928" y="285292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Tree search + 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285292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代码生成器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3792" y="285292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RAG HW Manual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85292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job-harness 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34656" y="285292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Triton / CuTe / HIP / MTIA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285292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NVIDIA / AMD / MTIA / CPU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85292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RAG 知识库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45952" y="285292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17× vs PyTorch · 生产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0040" y="3319272"/>
            <a:ext cx="11859768" cy="47548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3364992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KernelFalcon +
KernelAgent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82496" y="336499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Decomposition-based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52928" y="336499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Deep Agents 分层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23360" y="336499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多 agent 协作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336499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Profile + roofline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4224" y="336499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编译 + 数值 + 性能 gate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34656" y="336499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Triton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8" y="336499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NVIDIA H100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336499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Prompt template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45952" y="336499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KernelBench 100% · 89% roofline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0040" y="3831336"/>
            <a:ext cx="11859768" cy="47548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3877056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F6E6E"/>
                </a:solidFill>
                <a:latin typeface="Microsoft YaHei"/>
              </a:rPr>
              <a:t>AscendKernelGen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82496" y="3877056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Domain-model-based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52928" y="3877056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Generate-Eval loop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23360" y="3877056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专训领域 LLM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93792" y="3877056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Ascend-CoT 数据集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64224" y="3877056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NPUKernelBench 三级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34656" y="3877056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AscendC DSL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05088" y="3877056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仅 Ascend NPU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75520" y="3877056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LLM 权重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2" y="3877056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Pass@10  0%→95.5%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0040" y="4343400"/>
            <a:ext cx="11859768" cy="47548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389120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AutoKernel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82496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Autoresearch-based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52928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edit-bench-keep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23360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自主 agent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3792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6-tier playbook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64224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5-stage harness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34656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Triton / CUDA C++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05088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NVIDIA H100 / B200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75520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program.md + artifact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5952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5.29× RMSNorm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4855464"/>
            <a:ext cx="11859768" cy="47548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4901184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2C55C"/>
                </a:solidFill>
                <a:latin typeface="Microsoft YaHei"/>
              </a:rPr>
              <a:t>K-Search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82496" y="49011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Planning-based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52928" y="49011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World-Model tree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23360" y="49011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World Model + Planner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49011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LLM 内在 prior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64224" y="49011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execution feedback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34656" y="49011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Triton / CUDA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05088" y="49011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NVIDIA H100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49011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co-evolving WM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45952" y="49011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MoE 14.3× / TriMul SOTA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" y="5367528"/>
            <a:ext cx="11859768" cy="47548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5413248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F6E6E"/>
                </a:solidFill>
                <a:latin typeface="Microsoft YaHei"/>
              </a:rPr>
              <a:t>AVO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82496" y="541324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Evolution-based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52928" y="541324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Single-lineage EA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23360" y="541324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Variation Operator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3792" y="541324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Domain KB + FA4 src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64224" y="541324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propose/critique/verify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34656" y="541324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CUTLASS / CUDA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05088" y="541324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NVIDIA Blackwell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875520" y="541324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knowledge base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5952" y="541324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超 cuDNN 3.5% · 超 FA-4 10.5%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20040" y="5879592"/>
            <a:ext cx="11859768" cy="47548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57200" y="5925312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7AB8FF"/>
                </a:solidFill>
                <a:latin typeface="Microsoft YaHei"/>
              </a:rPr>
              <a:t>CuTeGen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82496" y="592531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Refinement-based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2928" y="592531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Single-kernel iter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23360" y="592531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代码生成+调试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93792" y="592531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CuTe examples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4224" y="592531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PyTorch ref 对比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34656" y="592531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CuTe (CUTLASS C++)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705088" y="592531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NVIDIA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75520" y="592531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— 无持久化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045952" y="592531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9FB5C9"/>
                </a:solidFill>
                <a:latin typeface="Microsoft YaHei"/>
              </a:rPr>
              <a:t>library-level matmul/act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20040" y="6464808"/>
            <a:ext cx="11859768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57200" y="6519672"/>
            <a:ext cx="1167688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2C55C"/>
                </a:solidFill>
                <a:latin typeface="Microsoft YaHei"/>
              </a:rPr>
              <a:t>关键分歧  ·  是否多层 IR · 是否有界动作空间 · 知识沉淀介质 · 跨硬件范式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27 /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11 · 汇总对比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7 方案优劣势速览  ·  以及对本方案的启发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109960" cy="5212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09728" cy="52120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KernelEvolve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85623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Microsoft YaHei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生产级规模 · 跨 NVIDIA/AMD/MTIA/CPU · RAG 硬件知识库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85623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Microsoft YaHei"/>
              </a:rPr>
              <a:t>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187452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输出仍为自由代码 · 无显式策略层 · 无跨硬件可迁移知识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77440"/>
            <a:ext cx="11109960" cy="5212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109728" cy="52120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4688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AB8FF"/>
                </a:solidFill>
                <a:latin typeface="Microsoft YaHei"/>
              </a:rPr>
              <a:t>KernelFalcon + KernelAgent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45059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Microsoft YaHe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688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Deep-Agent 分层编排 · 硬件信号驱动 · 100% KernelBench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5059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Microsoft YaHei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46888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仍是 Triton 自由代码 · 无多层 IR · 无 @rationale 沉淀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971800"/>
            <a:ext cx="11109960" cy="5212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71800"/>
            <a:ext cx="109728" cy="52120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63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F6E6E"/>
                </a:solidFill>
                <a:latin typeface="Microsoft YaHei"/>
              </a:rPr>
              <a:t>AscendKernelGen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304495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Microsoft YaHei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0632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单硬件最深度 · 开源数据+权重 · CoT + RLEF 补数据空洞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04495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Microsoft YaHei"/>
              </a:rPr>
              <a:t>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06324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强耦合 AscendC · 权重即知识 · 跨架构迁移困难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566160"/>
            <a:ext cx="11109960" cy="5212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109728" cy="5212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6576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AutoKernel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363931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Microsoft YaHei"/>
              </a:rPr>
              <a:t>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36576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过夜自主搜索 · 双后端 · 6-tier playbook 极佳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63931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Microsoft YaHei"/>
              </a:rPr>
              <a:t>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365760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agent 直接编辑文件 · 无 IR 回滚粒度 · 单硬件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160520"/>
            <a:ext cx="11109960" cy="5212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160520"/>
            <a:ext cx="109728" cy="52120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251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K-Search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423367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Microsoft YaHei"/>
              </a:rPr>
              <a:t>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2519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World Model 解耦策略与实现 · 复杂 MoE 优势 14.3×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423367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Microsoft YaHei"/>
              </a:rPr>
              <a:t>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25196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WM 隐式在 LLM 里 · 难跨 session 持久化 · 需频繁采样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754880"/>
            <a:ext cx="11109960" cy="5212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4754880"/>
            <a:ext cx="109728" cy="52120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8463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F6E6E"/>
                </a:solidFill>
                <a:latin typeface="Microsoft YaHei"/>
              </a:rPr>
              <a:t>AVO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482803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Microsoft YaHei"/>
              </a:rPr>
              <a:t>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48463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「agent 即变异算子」突破 · 能超 FA-4 10.5%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482803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Microsoft YaHei"/>
              </a:rPr>
              <a:t>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484632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7 天 token 成本高 · 仍需 C++ 手写 · 领域 KB 手工构建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349240"/>
            <a:ext cx="11109960" cy="5212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5349240"/>
            <a:ext cx="109728" cy="52120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440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AB8FF"/>
                </a:solidFill>
                <a:latin typeface="Microsoft YaHei"/>
              </a:rPr>
              <a:t>CuTeGen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542239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Microsoft YaHei"/>
              </a:rPr>
              <a:t>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54406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选择稳定抽象 (CuTe) 作为目标语言 · token 成本低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5422392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Microsoft YaHei"/>
              </a:rPr>
              <a:t>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09560" y="544068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CuTe ≠ LLM-Native · 单 kernel 精炼 · 无跨硬件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603504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610819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共性收敛  ·  所有方案都走向「Agent 闭环 + 硬件反馈 + 结构化知识」 ·  分歧点在「知识沉淀介质」与「是否引入 IR 分层」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28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12 · 演进趋势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目标态下大模型算子生成技术的演进方向  ·  呼应 Arke 技术规划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7315200" cy="1097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09728" cy="10972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T1  从代码生成  →  决策生成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LLM 从「写 Triton」降级为「选 tile / fuse / layout」，编译器验证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→ 映射 Arke 件套四 · Bounded Action Space + Tool-Use 协议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53512"/>
            <a:ext cx="7315200" cy="1097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53512"/>
            <a:ext cx="109728" cy="10972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2C55C"/>
                </a:solidFill>
                <a:latin typeface="Microsoft YaHei"/>
              </a:rPr>
              <a:t>T2  从单层代码  →  多层 LLM-Native 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1071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Semantic / Strategy / Schedule / Instruction 按 LLM 参与度分层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3075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→ 映射 Arke 件套二 · L4/L3/L2/L1 + 下接 MLIR/LLVM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23944"/>
            <a:ext cx="7315200" cy="1097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123944"/>
            <a:ext cx="109728" cy="10972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15384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AB8FF"/>
                </a:solidFill>
                <a:latin typeface="Microsoft YaHei"/>
              </a:rPr>
              <a:t>T3  从权重里的知识  →  @rationale 里的知识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581144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跨 session / 跨硬件可迁移  ·  不必再训一个领域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0118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→ 映射 Arke H4 验证目标 · @rationale ≥10% cross-arch lift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94376"/>
            <a:ext cx="7315200" cy="1097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294376"/>
            <a:ext cx="109728" cy="10972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85816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F6E6E"/>
                </a:solidFill>
                <a:latin typeface="Microsoft YaHei"/>
              </a:rPr>
              <a:t>T4  从单硬件精化  →  一次定义多后端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51576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同一 Semantic 对多后端  ·  策略自适应各硬件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71616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8D1B8"/>
                </a:solidFill>
                <a:latin typeface="Microsoft YaHei"/>
              </a:rPr>
              <a:t>→ 映射 Arke Phase 2/3/4 · Triton → MLIR → LLVM 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78308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1783080"/>
            <a:ext cx="36118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1965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Microsoft YaHei"/>
              </a:rPr>
              <a:t>Arke 规划呼应  ·  Phase 1→4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2514600"/>
            <a:ext cx="3246120" cy="7772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2606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Consolas"/>
              </a:rPr>
              <a:t>P1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58775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SIMT MVP  ·  NVIDIA Triton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28803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Lang / IR v2 · Agent 自主化 · v1.0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20" y="3429000"/>
            <a:ext cx="3246120" cy="7772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5204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2C55C"/>
                </a:solidFill>
                <a:latin typeface="Consolas"/>
              </a:rPr>
              <a:t>P2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350215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SIMD 泛化  ·  Ascend NPU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3794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验证 @rationale 跨架构 ≥10% lift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75320" y="4343400"/>
            <a:ext cx="3246120" cy="7772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8200" y="44348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7AB8FF"/>
                </a:solidFill>
                <a:latin typeface="Consolas"/>
              </a:rPr>
              <a:t>P3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441655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MLIR Dialect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47091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打穿 Triton 天花板 · L2 决策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75320" y="5257800"/>
            <a:ext cx="3246120" cy="7772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53492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F6E6E"/>
                </a:solidFill>
                <a:latin typeface="Consolas"/>
              </a:rPr>
              <a:t>P4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533095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LLVM IR × 多后端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56235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100% 硬件完整度 · L3 决策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29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08 · 应有特征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AI 原生算子编译栈的 6 个必备特征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09728" cy="14630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Consolas"/>
              </a:rPr>
              <a:t>T1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7452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LLM-Native 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人 / LLM 共同可读可写的算子级语言，算法无关、token 最小化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109728" cy="14630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Consolas"/>
              </a:rPr>
              <a:t>T2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87452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语义 / 策略解耦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231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What 与 How 独立演化，正确性与性能分别验证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55848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355848"/>
            <a:ext cx="109728" cy="14630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44728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7AB8FF"/>
                </a:solidFill>
                <a:latin typeface="Consolas"/>
              </a:rPr>
              <a:t>T3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447288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多层 IR · 按参与度分层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95928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从 Semantic 到 Instruction，每层 LLM 参与粒度清晰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355848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355848"/>
            <a:ext cx="109728" cy="14630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4728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Consolas"/>
              </a:rPr>
              <a:t>T4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447288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有界动作空间 + 结构化协议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95928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LLM 做选择不写代码 · 编译器枚举合法动作 · Tool-Use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28616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928616"/>
            <a:ext cx="109728" cy="14630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0200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Consolas"/>
              </a:rPr>
              <a:t>T5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020056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Compiler-as-Verifier 三级闭环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568696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V0 静态 / V1 数值 / V2 性能 · checkpoint / rollback 安全探索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928616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928616"/>
            <a:ext cx="109728" cy="14630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50200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Consolas"/>
              </a:rPr>
              <a:t>T6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5020056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多硬件可泛化 + 知识可迁移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568696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单一 Semantic 对多后端 · @rationale 跨架构可复用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419088"/>
            <a:ext cx="11109960" cy="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09 · 方案对比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在 6 个维度上 · 本方案 vs 业界代表方案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51560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方案 / 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T1 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T2 语义/策略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T3 多层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T4 有界动作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T5 三级验证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T6 跨硬件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240280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240280"/>
            <a:ext cx="91440" cy="39319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29514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本方案 · Arke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679192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2734056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Triton + autotune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3118104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17296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TVM / Ansor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557016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6118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MLIR + Linalg / Transform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2980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3995928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40507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FlagGems / Liger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204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9536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2980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4434840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48970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torch.compile / Inductor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9204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2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9536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2980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4873752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" y="4928616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直写 Triton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6092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9536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2980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31520" y="5312664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53675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Cursor / CC 通用 Agent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204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2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980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1520" y="5989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1560" y="60258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完全满足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94560" y="5989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14600" y="60258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部分满足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0" y="5989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77640" y="60258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不满足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31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09 · 方案对比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六个维度上的优势简述 —— 为什么能在所有维度上「完全满足」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09728" cy="14447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5623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T1 · LLM-Native 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.ak 语言算子级抽象 · 算法无关 · 72–160 tokens · 人 / LLM 共同可写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15768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业界多数方案以 Python 或 C++ 为入口，LLM 需兼顾语义 + 硬件细节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109728" cy="14447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5623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2C55C"/>
                </a:solidFill>
                <a:latin typeface="Microsoft YaHei"/>
              </a:rPr>
              <a:t>T2 · 语义 / 策略解耦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kernel (semantics) ↔ strategy (@rationale decisions) 句法级分离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15768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Triton / CUDA 策略与实现混写；TVM 通过 schedule 部分分离但仍耦合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19272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319272"/>
            <a:ext cx="109728" cy="14447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924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AB8FF"/>
                </a:solidFill>
                <a:latin typeface="Microsoft YaHei"/>
              </a:rPr>
              <a:t>T3 · 多层 IR 按参与度分层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7647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Semantic → Strategy → Schedule → Instruction · 每层 LLM 参与度明确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MLIR 多 dialect 但非按 LLM 参与度切；LLVM / Triton IR 单层密集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319272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319272"/>
            <a:ext cx="109728" cy="14447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3924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F6E6E"/>
                </a:solidFill>
                <a:latin typeface="Microsoft YaHei"/>
              </a:rPr>
              <a:t>T4 · 有界动作空间 + 结构化协议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7647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compiler 枚举 legal_actions · Agent 选择 · tool-use 闭环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25196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业界 agent 方案多为自由文本生成，缺编译器先验约束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55464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855464"/>
            <a:ext cx="109728" cy="14447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92861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T5 · Compiler-as-Verifier 三级闭环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312664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V0 &lt;1ms · V1 对参考 · V2 HW profile · checkpoint / rollback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78815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autotune 只验证性能；直写方案事后对拍；均不具备 V0 即时剪枝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855464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855464"/>
            <a:ext cx="109728" cy="14447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92861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2C55C"/>
                </a:solidFill>
                <a:latin typeface="Microsoft YaHei"/>
              </a:rPr>
              <a:t>T6 · 多硬件可泛化 + 知识可迁移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312664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单 Semantic 对多后端 · @rationale 以自然语言跨架构迁移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78815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FlagGems 每硬件一份实现；TVM 跨架构但知识不显式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32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整体架构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Arke 整体技术架构 · 从用户入口到硬件执行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645920" cy="548640"/>
          </a:xfrm>
          <a:prstGeom prst="rect">
            <a:avLst/>
          </a:prstGeom>
          <a:solidFill>
            <a:srgbClr val="18355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用户入口层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645920" cy="548640"/>
          </a:xfrm>
          <a:prstGeom prst="rect">
            <a:avLst/>
          </a:prstGeom>
          <a:solidFill>
            <a:srgbClr val="18355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Language 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17520"/>
            <a:ext cx="1645920" cy="1234440"/>
          </a:xfrm>
          <a:prstGeom prst="rect">
            <a:avLst/>
          </a:prstGeom>
          <a:solidFill>
            <a:srgbClr val="18355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16459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2C55C"/>
                </a:solidFill>
                <a:latin typeface="Microsoft YaHei"/>
              </a:rPr>
              <a:t>IR 层（四层）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1645920" cy="1188720"/>
          </a:xfrm>
          <a:prstGeom prst="rect">
            <a:avLst/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1645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7AB8FF"/>
                </a:solidFill>
                <a:latin typeface="Microsoft YaHei"/>
              </a:rPr>
              <a:t>Agent &amp; Compiler Toolchain 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623560"/>
            <a:ext cx="1645920" cy="502920"/>
          </a:xfrm>
          <a:prstGeom prst="rect">
            <a:avLst/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F6E6E"/>
                </a:solidFill>
                <a:latin typeface="Microsoft YaHei"/>
              </a:rPr>
              <a:t>Backend 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199632"/>
            <a:ext cx="1645920" cy="411480"/>
          </a:xfrm>
          <a:prstGeom prst="rect">
            <a:avLst/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19963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F6E6E"/>
                </a:solidFill>
                <a:latin typeface="Microsoft YaHei"/>
              </a:rPr>
              <a:t>硬件执行层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80" y="1783080"/>
            <a:ext cx="221742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.ak 文件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77740" y="1783080"/>
            <a:ext cx="221742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自然语言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783080"/>
            <a:ext cx="221742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CLI 参数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95460" y="1783080"/>
            <a:ext cx="221742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Python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68880" y="2423160"/>
            <a:ext cx="914400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Arke Language v2  ·  kernel { semantics }  +  strategy { @rationale decisions }  ·  where 符号维度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68880" y="3108960"/>
            <a:ext cx="2217420" cy="50292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L4  SemanticIR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639312"/>
            <a:ext cx="22174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what to compute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77740" y="3108960"/>
            <a:ext cx="2217420" cy="50292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L3  StrategyIR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7740" y="3639312"/>
            <a:ext cx="22174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how to optimize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3108960"/>
            <a:ext cx="2217420" cy="50292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L2  ScheduleIR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639312"/>
            <a:ext cx="22174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schedule mapping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95460" y="3108960"/>
            <a:ext cx="2217420" cy="50292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L1  InstructionIR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95460" y="3639312"/>
            <a:ext cx="22174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near-LLVM 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39136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← LLM 参与度：主作者  /  主决策者  /  review only  /  不参与 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434840"/>
            <a:ext cx="4114800" cy="100584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Agent  ·  Bounded Action Space
Tool-Use API · Budget · Trajectory · @rationale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4434840"/>
            <a:ext cx="4846320" cy="100584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Compiler Toolchain  ·  OpRegistry · Pass Pipeline · BackendRegistry
V0 静态 · V1 数值 · V2 性能  三级验证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8880" y="5669280"/>
            <a:ext cx="298704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Triton  (Phase 1–2)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47360" y="5669280"/>
            <a:ext cx="298704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MLIR Dialect  (Phase 3)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25840" y="5669280"/>
            <a:ext cx="298704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LLVM IR  (Phase 4)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468880" y="6217920"/>
            <a:ext cx="2217420" cy="36576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EAF2FA"/>
                </a:solidFill>
                <a:latin typeface="Microsoft YaHei"/>
              </a:rPr>
              <a:t>NVIDIA GPU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77740" y="6217920"/>
            <a:ext cx="2217420" cy="36576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EAF2FA"/>
                </a:solidFill>
                <a:latin typeface="Microsoft YaHei"/>
              </a:rPr>
              <a:t>Huawei Ascend NPU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6217920"/>
            <a:ext cx="2217420" cy="36576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EAF2FA"/>
                </a:solidFill>
                <a:latin typeface="Microsoft YaHei"/>
              </a:rPr>
              <a:t>AMD GPU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5460" y="6217920"/>
            <a:ext cx="2217420" cy="36576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EAF2FA"/>
                </a:solidFill>
                <a:latin typeface="Microsoft YaHei"/>
              </a:rPr>
              <a:t>未来 NPU / DSA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33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11 · 件套架构 ·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.ak 源文件  →  Parser  →  AST  →  SemanticIR / StrategyIR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447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1828800"/>
            <a:ext cx="1737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887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.ak 源文件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887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kernel { ... }
strategy { @rationale ...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6535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56535" y="1828800"/>
            <a:ext cx="1737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7975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Lexer + Parser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7975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EBNF 文法  ·  正则词法
歧义 0 · token 最小化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46807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03623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3623" y="1828800"/>
            <a:ext cx="1737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5063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5063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kernel_def · strategy_def
where_clause · @rationale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93895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50711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828800"/>
            <a:ext cx="1737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2151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Resolver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2151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Op Registry 查表
符号维度求解 · 类型推断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40983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97799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7799" y="1828800"/>
            <a:ext cx="173736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9239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2C55C"/>
                </a:solidFill>
                <a:latin typeface="Microsoft YaHei"/>
              </a:rPr>
              <a:t>Layer 4
SemanticIR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9239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纯数学 DAG
SSA by construction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88071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844887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44887" y="1828800"/>
            <a:ext cx="173736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6327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2C55C"/>
                </a:solidFill>
                <a:latin typeface="Microsoft YaHei"/>
              </a:rPr>
              <a:t>Layer 3
StrategyIR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36327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决策列表 + @rationale
可枚举 · 可回滚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735159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" y="3749039"/>
            <a:ext cx="10881360" cy="2560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86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核心设计要素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434340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8680" y="434340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441655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算子级抽象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72744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不暴露 loop / thread / memory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34840" y="434340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34840" y="434340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17720" y="441655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语义 / 策略双段式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72744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kernel vs strategy 句法级切开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1000" y="434340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01000" y="434340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83880" y="441655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Universal Op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80" y="472744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语言不枚举算子 · Op Registry 注入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" y="534924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8680" y="534924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42239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符号维度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" y="573328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where B: dynamic(max=64) 一等公民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434840" y="534924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434840" y="534924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17720" y="542239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@rationale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17720" y="573328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每决策强制带自然语言理由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01000" y="534924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01000" y="534924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83880" y="542239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Token 最小化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83880" y="573328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`.ak` 72 tokens · Triton 1102 tokens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34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12 · 件套架构 · 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多层 IR · 职责 × LLM 参与度 × 验证点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2708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IR 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83080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职责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83080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承载内容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83080"/>
            <a:ext cx="1600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LLM 参与度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783080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主验证级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10927080" cy="640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194560"/>
            <a:ext cx="109728" cy="640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359152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Layer 4 · SemanticIR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1" y="2359152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0912" y="235915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纯数学 DAG · SSA 不可变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2359152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主作者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82912" y="2359152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V1 数值参考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907792"/>
            <a:ext cx="10927080" cy="640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2907792"/>
            <a:ext cx="109728" cy="6400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2384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Layer 3 · StrategyIR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3072384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怎么优化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0912" y="3072384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决策列表 · @rationale · 可回滚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3072384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主决策者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3072384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V0 静态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621024"/>
            <a:ext cx="10927080" cy="640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621024"/>
            <a:ext cx="109728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785616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AB8FF"/>
                </a:solidFill>
                <a:latin typeface="Microsoft YaHei"/>
              </a:rPr>
              <a:t>Layer 2 · ScheduleIR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22191" y="3785616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怎么映射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785616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thread / block / warp / vector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36992" y="3785616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2912" y="3785616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V0+V2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334256"/>
            <a:ext cx="10927080" cy="640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334256"/>
            <a:ext cx="109728" cy="640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498848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F6E6E"/>
                </a:solidFill>
                <a:latin typeface="Microsoft YaHei"/>
              </a:rPr>
              <a:t>Layer 1 · InstructionIR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2191" y="4498848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怎么成指令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10912" y="4498848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近 LLVM IR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36992" y="4498848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不参与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82912" y="4498848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V2 性能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212080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9FB5C9"/>
                </a:solidFill>
                <a:latin typeface="Microsoft YaHei"/>
              </a:rPr>
              <a:t>↓  lowering 方向  ↓     LLM 参与度递减      V0→V1→V2 验证递进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623560"/>
            <a:ext cx="5303520" cy="50292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下接  ·  MLIR Standard Dialects (linalg / transform / scf / gpu)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623560"/>
            <a:ext cx="5303520" cy="50292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下接  ·  LLVM IR  →  PTX / ISA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35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13 · 件套架构 · Compiler Toolchain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OpRegistry（SSOT）× Pass Pipeline × BackendRegistry × 三级验证器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090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Parse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6966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ShapeInference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7822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7842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SemanticVerify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8698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718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StrategyLower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9574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9594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Schedule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0450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40470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Codegen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1326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1346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Profile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2202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0907" y="2651760"/>
            <a:ext cx="10469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38D1B8"/>
                </a:solidFill>
                <a:latin typeface="Microsoft YaHei"/>
              </a:rPr>
              <a:t>Pass Pipeline  ·  Analysis  /  Transform  /  Verification 三族 · 可组合 · 可替换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173736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1737360"/>
            <a:ext cx="10881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185623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OpRegistry  ·  Single Source of Truth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17627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signature · shape_rule · template_hint · reference_impl · input_gen · attrs · strategy_space · hw_variants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6956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07832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8708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60460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1336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40080" y="402336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023360"/>
            <a:ext cx="109728" cy="7315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1148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AB8FF"/>
                </a:solidFill>
                <a:latin typeface="Microsoft YaHei"/>
              </a:rPr>
              <a:t>BackendRegistry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4206240"/>
            <a:ext cx="2286000" cy="384048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Triton Backend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4206240"/>
            <a:ext cx="2286000" cy="384048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MLIR Backend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4206240"/>
            <a:ext cx="2286000" cy="384048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LLVM IR Backend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493776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4937760"/>
            <a:ext cx="91440" cy="9144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02920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V0  静态 · &lt;1ms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3492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类型 / Shape / SSA / HW constraint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93776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97680" y="4937760"/>
            <a:ext cx="91440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80" y="502920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V1  数值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53492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SemanticInterpreter + 参考对拍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80" y="493776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5280" y="4937760"/>
            <a:ext cx="91440" cy="91440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3880" y="502920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F6E6E"/>
                </a:solidFill>
                <a:latin typeface="Microsoft YaHei"/>
              </a:rPr>
              <a:t>V2  性能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53492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compile + profile + P0~P5 baseline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5989320"/>
            <a:ext cx="1092708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601675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F2FA"/>
                </a:solidFill>
                <a:latin typeface="Microsoft YaHei"/>
              </a:rPr>
              <a:t>门禁顺序  ·  Function ▸ Accuracy ▸ Performance    /    Checkpoint · Rollback · 让 LLM 「大胆试、安全退」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36 /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14 · 件套架构 · Agent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LLM ↔ ArkeEnv 结构化闭环  ·  Tool-Use × Budget × Trajectory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926080" cy="41148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" cy="411480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F6E6E"/>
                </a:solidFill>
                <a:latin typeface="Microsoft YaHei"/>
              </a:rPr>
              <a:t>LLM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Decides (not generates 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3464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0779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analyze kernel  ·  read HW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8328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5643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list_legal_actions()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93192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0507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0507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apply_decision(... @rationale)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48056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55371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5537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verify → compile → profile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02920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10235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10235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iterate  /  rollback  /  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1828800"/>
            <a:ext cx="3108960" cy="41148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3920" y="1828800"/>
            <a:ext cx="109728" cy="41148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1965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7AB8FF"/>
                </a:solidFill>
                <a:latin typeface="Microsoft YaHei"/>
              </a:rPr>
              <a:t>ArkeEnv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3317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Verifies + Executes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28346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28803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analyze_compute / get_hw_profile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32918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23960" y="33375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list_legal_actions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32520" y="37490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23960" y="37947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apply_decision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32520" y="42062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3960" y="42519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verify_correctness  (V1)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32520" y="46634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47091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compile_and_profile (V2)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51206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51663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checkpoint / rollback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566160" y="2926080"/>
            <a:ext cx="4937760" cy="0"/>
          </a:xfrm>
          <a:prstGeom prst="line">
            <a:avLst/>
          </a:prstGeom>
          <a:ln w="19050">
            <a:solidFill>
              <a:srgbClr val="EF6E6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566160" y="4206240"/>
            <a:ext cx="4937760" cy="0"/>
          </a:xfrm>
          <a:prstGeom prst="line">
            <a:avLst/>
          </a:prstGeom>
          <a:ln w="19050">
            <a:solidFill>
              <a:srgbClr val="7AB8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566160" y="26334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EF6E6E"/>
                </a:solidFill>
                <a:latin typeface="Microsoft YaHei"/>
              </a:rPr>
              <a:t>tool_use  (structured API)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2245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B8FF"/>
                </a:solidFill>
                <a:latin typeface="Microsoft YaHei"/>
              </a:rPr>
              <a:t>tool_result (legal actions · verification · profile)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49040" y="4846320"/>
            <a:ext cx="4572000" cy="10058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31920" y="4919472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38D1B8"/>
                </a:solidFill>
                <a:latin typeface="Microsoft YaHei"/>
              </a:rPr>
              <a:t>Optimization State  ·  Ground Truth 不被压缩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86200" y="5303520"/>
            <a:ext cx="102870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EAF2FA"/>
                </a:solidFill>
                <a:latin typeface="Microsoft YaHei"/>
              </a:rPr>
              <a:t>Strategy IR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06340" y="5303520"/>
            <a:ext cx="102870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EAF2FA"/>
                </a:solidFill>
                <a:latin typeface="Microsoft YaHei"/>
              </a:rPr>
              <a:t>Compile Results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26480" y="5303520"/>
            <a:ext cx="102870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EAF2FA"/>
                </a:solidFill>
                <a:latin typeface="Microsoft YaHei"/>
              </a:rPr>
              <a:t>Decision Log + @rationale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46620" y="5303520"/>
            <a:ext cx="102870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EAF2FA"/>
                </a:solidFill>
                <a:latin typeface="Microsoft YaHei"/>
              </a:rPr>
              <a:t>Budget  (decisions / compiles)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5989320"/>
            <a:ext cx="1092708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601675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F2FA"/>
                </a:solidFill>
                <a:latin typeface="Microsoft YaHei"/>
              </a:rPr>
              <a:t>双模集成  ·  Mode A 内置 (CLI / Python API)    /    Mode B 外部 (Cursor · Claude Code · OpenClaw)    ·    Trajectory JSONL 全量落盘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15 · 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四件套如何协同 —— 一张职责矩阵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件套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10512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承载物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81051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对 AI 原生的贡献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1051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与其它件套的接口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40280"/>
            <a:ext cx="10515600" cy="88696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240280"/>
            <a:ext cx="109728" cy="88696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Microsoft YaHei"/>
              </a:rPr>
              <a:t>Language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4688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.ak v2 · where · tuple · @rationale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4688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句法层 token 最小化与语义显式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parse → SemanticIR L4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10515600" cy="88696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200400"/>
            <a:ext cx="109728" cy="88696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2900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2C55C"/>
                </a:solidFill>
                <a:latin typeface="Microsoft YaHei"/>
              </a:rPr>
              <a:t>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42900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L4 / L3 / L2 / L1 · 符号维度贯穿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429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按 LLM 参与度解耦责任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4290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Strategy 决策空间喂给 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60520"/>
            <a:ext cx="10515600" cy="88696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160520"/>
            <a:ext cx="109728" cy="88696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89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7AB8FF"/>
                </a:solidFill>
                <a:latin typeface="Microsoft YaHei"/>
              </a:rPr>
              <a:t>Compiler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389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OpRegistry · Pass · Backend · Verifier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43891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从硬编码到数据驱动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3891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Verifier 回注给 Agent / Pass 操作 IR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120640"/>
            <a:ext cx="10515600" cy="88696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" y="5120640"/>
            <a:ext cx="109728" cy="88696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F6E6E"/>
                </a:solidFill>
                <a:latin typeface="Microsoft YaHei"/>
              </a:rPr>
              <a:t>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5349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Tools · Budget · Trajectory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53492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有界决策 · 可审计 · 可回放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349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仅通过工具协议访问 IR / Compiler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15 · 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三级验证 V0 / V1 / V2 在四件套中的归属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3727" y="182880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828800"/>
            <a:ext cx="3566160" cy="914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0574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8D1B8"/>
                </a:solidFill>
                <a:latin typeface="Microsoft YaHei"/>
              </a:rPr>
              <a:t>V0  静态验证  &lt;1ms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类型 · Shape · SSA · HW Constraint 即时剪枝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047" y="4937760"/>
            <a:ext cx="3017520" cy="45720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047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归属 · IR + 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2767" y="182880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1828800"/>
            <a:ext cx="3566160" cy="91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0574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C55C"/>
                </a:solidFill>
                <a:latin typeface="Microsoft YaHei"/>
              </a:rPr>
              <a:t>V1  数值验证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SemanticInterpreter + Op Registry 逐 op 对参考实现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87087" y="4937760"/>
            <a:ext cx="3017520" cy="45720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087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2C55C"/>
                </a:solidFill>
                <a:latin typeface="Microsoft YaHei"/>
              </a:rPr>
              <a:t>归属 · Compiler Toolchain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807" y="182880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1828800"/>
            <a:ext cx="3566160" cy="914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0574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7AB8FF"/>
                </a:solidFill>
                <a:latin typeface="Microsoft YaHei"/>
              </a:rPr>
              <a:t>V2  硬件性能验证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真实 compile + profile + 对比 P0~P5 多级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36127" y="4937760"/>
            <a:ext cx="3017520" cy="45720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6127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7AB8FF"/>
                </a:solidFill>
                <a:latin typeface="Microsoft YaHei"/>
              </a:rPr>
              <a:t>归属 · Backend + Benchmark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943600"/>
            <a:ext cx="1051560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6016752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门禁顺序 · Function ▸ Accuracy ▸ Performance  —— 让 LLM「大胆试、安全退」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39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15 · 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Benchmark 驱动 · Gate 把架构锁到可度量的坐标上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Microsoft YaHei"/>
              </a:rPr>
              <a:t>OT × ST → BL × L  坐标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1051560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58568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258568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BL × 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25856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关键指标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25856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对应四件套演进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9748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70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7706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BL1 × 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770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matmul ≥ 70% cuBLAS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770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语言 + IR MVP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27355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27355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BL1 × L1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2735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matmul ≥ 100% cuBLAS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73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Agent 闭环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70332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77647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7764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BL3 × L1 + BL6/GPT-2 × L3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7764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GPT-2 top-1 正确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7764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端到端模型跑通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20624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7939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27939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BL4 × L1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2793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45 ops 正确 + ≥ 1.00× P3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2793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编译栈基础设施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70916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78231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3080" y="47823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BL5 × L1+L2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78231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OT0–4 × ST1–4 + 4 融合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4782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Lang / IR v2 + 融合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21208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852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52852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BL5 继承 + BL6 × L3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52852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LLaMA-2 ≥ 0.90× · DS-V2 ≥ 0.85×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52852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Agent 自主化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71500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78815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3080" y="578815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BL6 × L3 (4 模型)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3484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Qwen ≥ 0.90× · Arke ≥ 1.05× 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Phase 1 v1.0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40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15 · 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Token 经济学  ·  为什么「让 LLM 做决策」比「让 LLM 写代码」便宜一个量级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0515600" cy="57607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299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.ak  (kernel only)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2075688"/>
            <a:ext cx="430149" cy="274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2109" y="20574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AF2FA"/>
                </a:solidFill>
                <a:latin typeface="Consolas"/>
              </a:rPr>
              <a:t>72  ·  1×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06040"/>
            <a:ext cx="10515600" cy="57607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15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.ak  (kernel + strategy)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2761488"/>
            <a:ext cx="955888" cy="274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07848" y="2743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AF2FA"/>
                </a:solidFill>
                <a:latin typeface="Consolas"/>
              </a:rPr>
              <a:t>160  ·  2×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91840"/>
            <a:ext cx="10515600" cy="57607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015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LLM direct-write Triton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447288"/>
            <a:ext cx="3363531" cy="274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5491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AF2FA"/>
                </a:solidFill>
                <a:latin typeface="Consolas"/>
              </a:rPr>
              <a:t>563  ·  8×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40"/>
            <a:ext cx="10515600" cy="57607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873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Hand-tuned Triton (autotuned)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4133088"/>
            <a:ext cx="6583680" cy="274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5640" y="4114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AF2FA"/>
                </a:solidFill>
                <a:latin typeface="Consolas"/>
              </a:rPr>
              <a:t>1102  ·  15×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292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66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864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每次优化决策 ~10 tokens（结构化 action），不是 ~500 tokens（代码重写）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编译器确定性验证替代多轮「修 bug」对话 → 每迭代从 ~3500 tokens 压到 ~500 tokens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50 轮会话 · 分段 prompt cache 实测节省 ~176K tokens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41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D1B8"/>
                </a:solidFill>
                <a:latin typeface="Microsoft YaHe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Questions &amp; Discussion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5212080" cy="1051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291840"/>
            <a:ext cx="109728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从零开始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4904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你会先建四件套里的哪一件？为什么？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91840"/>
            <a:ext cx="5212080" cy="1051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3291840"/>
            <a:ext cx="109728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4290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动作粒度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74904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Bounded Action Space 在 Triton→MLIR→LLVM 各阶段如何动态扩张？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80560"/>
            <a:ext cx="5212080" cy="1051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480560"/>
            <a:ext cx="109728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验证投入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3776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V0 / V1 / V2 哪一级最值得重仓？哪一级最容易被过度工程？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480560"/>
            <a:ext cx="5212080" cy="1051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480560"/>
            <a:ext cx="109728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知识沉淀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93776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@rationale 应该是检索式 / RAG / 微调？如何真正形成跨硬件知识库？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AI-Native Compile Stack  ·  Language × IR × Compiler × Agent  ·  案例参照 Arke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