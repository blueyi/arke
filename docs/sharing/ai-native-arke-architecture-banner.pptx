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429250" cy="114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29250" cy="1143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29250" cy="14287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28713"/>
            <a:ext cx="5429250" cy="14287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" y="38100"/>
            <a:ext cx="3619500" cy="123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7AB8FF"/>
                </a:solidFill>
                <a:latin typeface="Consolas"/>
              </a:rPr>
              <a:t>ARKE · AI-NATIVE OPERATOR COMPILER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38100"/>
            <a:ext cx="1924050" cy="123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9FB5C9"/>
                </a:solidFill>
                <a:latin typeface="Consolas"/>
              </a:rPr>
              <a:t>LLM 做决策 · 编译器把关数学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19075"/>
            <a:ext cx="3143250" cy="1905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eft Arrow 7"/>
          <p:cNvSpPr/>
          <p:nvPr/>
        </p:nvSpPr>
        <p:spPr>
          <a:xfrm>
            <a:off x="1066800" y="190500"/>
            <a:ext cx="95250" cy="76200"/>
          </a:xfrm>
          <a:prstGeom prst="leftArrow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3500" y="171450"/>
            <a:ext cx="2762250" cy="104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1">
                <a:solidFill>
                  <a:srgbClr val="F2C55C"/>
                </a:solidFill>
                <a:latin typeface="Consolas"/>
              </a:rPr>
              <a:t>feedback loop  ·  legal actions  ·  hw signal (profile / roofline)  ·  gate verdict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" y="304800"/>
            <a:ext cx="1257300" cy="571500"/>
          </a:xfrm>
          <a:prstGeom prst="roundRect">
            <a:avLst>
              <a:gd name="adj" fmla="val 16000"/>
            </a:avLst>
          </a:prstGeom>
          <a:solidFill>
            <a:srgbClr val="183553"/>
          </a:solidFill>
          <a:ln w="11430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150" y="304800"/>
            <a:ext cx="28575" cy="5715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" y="333375"/>
            <a:ext cx="152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" y="342900"/>
            <a:ext cx="11430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7AB8FF"/>
                </a:solidFill>
                <a:latin typeface="Microsoft YaHei"/>
              </a:rPr>
              <a:t>LLM as Decider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" y="514350"/>
            <a:ext cx="112395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EAF2FA"/>
                </a:solidFill>
                <a:latin typeface="Consolas"/>
              </a:rPr>
              <a:t>决策 / 推理 / 反思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" y="647700"/>
            <a:ext cx="11239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9FB5C9"/>
                </a:solidFill>
                <a:latin typeface="Consolas"/>
              </a:rPr>
              <a:t>NOT a code generator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314450" y="542925"/>
            <a:ext cx="95250" cy="95250"/>
          </a:xfrm>
          <a:prstGeom prst="right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09700" y="304800"/>
            <a:ext cx="1257300" cy="571500"/>
          </a:xfrm>
          <a:prstGeom prst="roundRect">
            <a:avLst>
              <a:gd name="adj" fmla="val 16000"/>
            </a:avLst>
          </a:prstGeom>
          <a:solidFill>
            <a:srgbClr val="122A43"/>
          </a:solidFill>
          <a:ln w="1143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09700" y="304800"/>
            <a:ext cx="28575" cy="5715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6850" y="333375"/>
            <a:ext cx="152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6850" y="342900"/>
            <a:ext cx="11430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38D1B8"/>
                </a:solidFill>
                <a:latin typeface="Microsoft YaHei"/>
              </a:rPr>
              <a:t>Arke Lang + 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5900" y="514350"/>
            <a:ext cx="112395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EAF2FA"/>
                </a:solidFill>
                <a:latin typeface="Consolas"/>
              </a:rPr>
              <a:t>语义 / 策略分离  ·  rationale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5900" y="647700"/>
            <a:ext cx="11239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9FB5C9"/>
                </a:solidFill>
                <a:latin typeface="Consolas"/>
              </a:rPr>
              <a:t>结构化 · 有界动作空间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667000" y="542925"/>
            <a:ext cx="95250" cy="95250"/>
          </a:xfrm>
          <a:prstGeom prst="right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762250" y="304800"/>
            <a:ext cx="1257300" cy="571500"/>
          </a:xfrm>
          <a:prstGeom prst="roundRect">
            <a:avLst>
              <a:gd name="adj" fmla="val 16000"/>
            </a:avLst>
          </a:prstGeom>
          <a:solidFill>
            <a:srgbClr val="122A43"/>
          </a:solidFill>
          <a:ln w="1143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62250" y="304800"/>
            <a:ext cx="28575" cy="5715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9400" y="333375"/>
            <a:ext cx="152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9400" y="342900"/>
            <a:ext cx="11430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F2C55C"/>
                </a:solidFill>
                <a:latin typeface="Microsoft YaHei"/>
              </a:rPr>
              <a:t>Compiler-Verifier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8450" y="514350"/>
            <a:ext cx="112395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EAF2FA"/>
                </a:solidFill>
                <a:latin typeface="Consolas"/>
              </a:rPr>
              <a:t>静态 / 数值 / 性能 三级门禁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8450" y="647700"/>
            <a:ext cx="11239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9FB5C9"/>
                </a:solidFill>
                <a:latin typeface="Consolas"/>
              </a:rPr>
              <a:t>checkpoint  ·  rollback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019550" y="542925"/>
            <a:ext cx="95250" cy="95250"/>
          </a:xfrm>
          <a:prstGeom prst="right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14800" y="304800"/>
            <a:ext cx="1257300" cy="571500"/>
          </a:xfrm>
          <a:prstGeom prst="roundRect">
            <a:avLst>
              <a:gd name="adj" fmla="val 16000"/>
            </a:avLst>
          </a:prstGeom>
          <a:solidFill>
            <a:srgbClr val="183553"/>
          </a:solidFill>
          <a:ln w="11430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0" y="304800"/>
            <a:ext cx="28575" cy="57150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1950" y="333375"/>
            <a:ext cx="152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F6E6E"/>
                </a:solidFill>
                <a:latin typeface="Consolas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1950" y="342900"/>
            <a:ext cx="114300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EF6E6E"/>
                </a:solidFill>
                <a:latin typeface="Microsoft YaHei"/>
              </a:rPr>
              <a:t>Multi-Hardware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91000" y="514350"/>
            <a:ext cx="112395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EAF2FA"/>
                </a:solidFill>
                <a:latin typeface="Consolas"/>
              </a:rPr>
              <a:t>NVIDIA · Ascend · AMD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91000" y="647700"/>
            <a:ext cx="11239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9FB5C9"/>
                </a:solidFill>
                <a:latin typeface="Consolas"/>
              </a:rPr>
              <a:t>→ 多 NPU / DSA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" y="914400"/>
            <a:ext cx="5334000" cy="104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20" b="1" i="0">
                <a:solidFill>
                  <a:srgbClr val="EAF2FA"/>
                </a:solidFill>
                <a:latin typeface="Microsoft YaHei"/>
              </a:rPr>
              <a:t>解决场景  ·  LLM 驱动 kernel 生成 / 优化  ·  跨硬件统一表达 (SIMT ↔ SIMD ↔ NPU)  ·  最小 token 预算下逼近厂商库性能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" y="1019175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1">
                <a:solidFill>
                  <a:srgbClr val="38D1B8"/>
                </a:solidFill>
                <a:latin typeface="Consolas"/>
              </a:rPr>
              <a:t>LLM-Native  =  bounded action  +  rationale  +  multi-level gates  +  hw-signal closed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