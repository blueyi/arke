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429250" cy="1143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29250" cy="1143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29250" cy="1905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23950"/>
            <a:ext cx="5429250" cy="1905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" y="47625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38D1B8"/>
                </a:solidFill>
                <a:latin typeface="Consolas"/>
              </a:rPr>
              <a:t>ARKE · AI-NATIVE OPERATOR COMPILER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47625"/>
            <a:ext cx="192405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0" i="0">
                <a:solidFill>
                  <a:srgbClr val="9FB5C9"/>
                </a:solidFill>
                <a:latin typeface="Consolas"/>
              </a:rPr>
              <a:t>让 LLM 写 kernel · 让编译器把关数学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" y="247650"/>
            <a:ext cx="666750" cy="571500"/>
          </a:xfrm>
          <a:prstGeom prst="roundRect">
            <a:avLst>
              <a:gd name="adj" fmla="val 18000"/>
            </a:avLst>
          </a:prstGeom>
          <a:solidFill>
            <a:srgbClr val="183553"/>
          </a:solidFill>
          <a:ln w="9525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" y="247650"/>
            <a:ext cx="28575" cy="57150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" y="276225"/>
            <a:ext cx="1333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F6E6E"/>
                </a:solidFill>
                <a:latin typeface="Consolas"/>
              </a:rPr>
              <a:t>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" y="276225"/>
            <a:ext cx="590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EF6E6E"/>
                </a:solidFill>
                <a:latin typeface="Microsoft YaHei"/>
              </a:rPr>
              <a:t>User /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" y="438150"/>
            <a:ext cx="5905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0" i="0">
                <a:solidFill>
                  <a:srgbClr val="9FB5C9"/>
                </a:solidFill>
                <a:latin typeface="Consolas"/>
              </a:rPr>
              <a:t>kernel semantics
+ optimization intent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3900" y="495300"/>
            <a:ext cx="76200" cy="76200"/>
          </a:xfrm>
          <a:prstGeom prst="rightArrow">
            <a:avLst/>
          </a:prstGeom>
          <a:solidFill>
            <a:srgbClr val="9F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0100" y="247650"/>
            <a:ext cx="723900" cy="571500"/>
          </a:xfrm>
          <a:prstGeom prst="roundRect">
            <a:avLst>
              <a:gd name="adj" fmla="val 18000"/>
            </a:avLst>
          </a:prstGeom>
          <a:solidFill>
            <a:srgbClr val="122A43"/>
          </a:solidFill>
          <a:ln w="9525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" y="247650"/>
            <a:ext cx="28575" cy="5715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" y="276225"/>
            <a:ext cx="1333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8D1B8"/>
                </a:solidFill>
                <a:latin typeface="Consolas"/>
              </a:rPr>
              <a:t>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76225"/>
            <a:ext cx="647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38D1B8"/>
                </a:solidFill>
                <a:latin typeface="Microsoft YaHei"/>
              </a:rPr>
              <a:t>Arke 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38150"/>
            <a:ext cx="6477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0" i="0">
                <a:solidFill>
                  <a:srgbClr val="9FB5C9"/>
                </a:solidFill>
                <a:latin typeface="Consolas"/>
              </a:rPr>
              <a:t>.ak  ·  kernel { } + strategy { }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524000" y="495300"/>
            <a:ext cx="76200" cy="76200"/>
          </a:xfrm>
          <a:prstGeom prst="rightArrow">
            <a:avLst/>
          </a:prstGeom>
          <a:solidFill>
            <a:srgbClr val="9F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600200" y="247650"/>
            <a:ext cx="723900" cy="571500"/>
          </a:xfrm>
          <a:prstGeom prst="roundRect">
            <a:avLst>
              <a:gd name="adj" fmla="val 18000"/>
            </a:avLst>
          </a:prstGeom>
          <a:solidFill>
            <a:srgbClr val="122A43"/>
          </a:solidFill>
          <a:ln w="9525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00200" y="247650"/>
            <a:ext cx="28575" cy="57150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38300" y="276225"/>
            <a:ext cx="1333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AB8FF"/>
                </a:solidFill>
                <a:latin typeface="Consolas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38300" y="276225"/>
            <a:ext cx="647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7AB8FF"/>
                </a:solidFill>
                <a:latin typeface="Microsoft YaHei"/>
              </a:rPr>
              <a:t>Multi-Layer 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38300" y="438150"/>
            <a:ext cx="6477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0" i="0">
                <a:solidFill>
                  <a:srgbClr val="9FB5C9"/>
                </a:solidFill>
                <a:latin typeface="Consolas"/>
              </a:rPr>
              <a:t>Semantic · Strategy ·
Schedule · Instruction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324100" y="495300"/>
            <a:ext cx="76200" cy="76200"/>
          </a:xfrm>
          <a:prstGeom prst="rightArrow">
            <a:avLst/>
          </a:prstGeom>
          <a:solidFill>
            <a:srgbClr val="9F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400300" y="247650"/>
            <a:ext cx="723900" cy="571500"/>
          </a:xfrm>
          <a:prstGeom prst="roundRect">
            <a:avLst>
              <a:gd name="adj" fmla="val 18000"/>
            </a:avLst>
          </a:prstGeom>
          <a:solidFill>
            <a:srgbClr val="122A43"/>
          </a:solidFill>
          <a:ln w="9525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00300" y="247650"/>
            <a:ext cx="28575" cy="57150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38400" y="276225"/>
            <a:ext cx="1333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2C55C"/>
                </a:solidFill>
                <a:latin typeface="Consolas"/>
              </a:rPr>
              <a:t>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38400" y="276225"/>
            <a:ext cx="647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F2C55C"/>
                </a:solidFill>
                <a:latin typeface="Microsoft YaHei"/>
              </a:rPr>
              <a:t>Compiler-as-Verifier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38400" y="438150"/>
            <a:ext cx="6477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0" i="0">
                <a:solidFill>
                  <a:srgbClr val="9FB5C9"/>
                </a:solidFill>
                <a:latin typeface="Consolas"/>
              </a:rPr>
              <a:t>OpRegistry · Pass
静态 / 数值 / 性能 三级验证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124200" y="495300"/>
            <a:ext cx="76200" cy="76200"/>
          </a:xfrm>
          <a:prstGeom prst="rightArrow">
            <a:avLst/>
          </a:prstGeom>
          <a:solidFill>
            <a:srgbClr val="9F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00400" y="247650"/>
            <a:ext cx="723900" cy="571500"/>
          </a:xfrm>
          <a:prstGeom prst="roundRect">
            <a:avLst>
              <a:gd name="adj" fmla="val 18000"/>
            </a:avLst>
          </a:prstGeom>
          <a:solidFill>
            <a:srgbClr val="122A43"/>
          </a:solidFill>
          <a:ln w="9525">
            <a:solidFill>
              <a:srgbClr val="B88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0" y="247650"/>
            <a:ext cx="28575" cy="571500"/>
          </a:xfrm>
          <a:prstGeom prst="rect">
            <a:avLst/>
          </a:prstGeom>
          <a:solidFill>
            <a:srgbClr val="B88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8500" y="276225"/>
            <a:ext cx="1333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88AF0"/>
                </a:solidFill>
                <a:latin typeface="Consolas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38500" y="276225"/>
            <a:ext cx="647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B88AF0"/>
                </a:solidFill>
                <a:latin typeface="Microsoft YaHei"/>
              </a:rPr>
              <a:t>Agent Runtime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38500" y="438150"/>
            <a:ext cx="6477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0" i="0">
                <a:solidFill>
                  <a:srgbClr val="9FB5C9"/>
                </a:solidFill>
                <a:latin typeface="Consolas"/>
              </a:rPr>
              <a:t>Bounded action · tool-use
budget · checkpoint/rollback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3924300" y="495300"/>
            <a:ext cx="76200" cy="76200"/>
          </a:xfrm>
          <a:prstGeom prst="rightArrow">
            <a:avLst/>
          </a:prstGeom>
          <a:solidFill>
            <a:srgbClr val="9F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000500" y="247650"/>
            <a:ext cx="723900" cy="571500"/>
          </a:xfrm>
          <a:prstGeom prst="roundRect">
            <a:avLst>
              <a:gd name="adj" fmla="val 18000"/>
            </a:avLst>
          </a:prstGeom>
          <a:solidFill>
            <a:srgbClr val="183553"/>
          </a:solidFill>
          <a:ln w="9525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00500" y="247650"/>
            <a:ext cx="28575" cy="57150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38600" y="276225"/>
            <a:ext cx="1333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2C55C"/>
                </a:solidFill>
                <a:latin typeface="Consolas"/>
              </a:rPr>
              <a:t>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38600" y="276225"/>
            <a:ext cx="647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F2C55C"/>
                </a:solidFill>
                <a:latin typeface="Microsoft YaHei"/>
              </a:rPr>
              <a:t>Benchmark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38600" y="438150"/>
            <a:ext cx="6477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0" i="0">
                <a:solidFill>
                  <a:srgbClr val="9FB5C9"/>
                </a:solidFill>
                <a:latin typeface="Consolas"/>
              </a:rPr>
              <a:t>BL × OT × ST × L · 6 baselines
45 ops · ~350 shapes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4724400" y="495300"/>
            <a:ext cx="76200" cy="76200"/>
          </a:xfrm>
          <a:prstGeom prst="rightArrow">
            <a:avLst/>
          </a:prstGeom>
          <a:solidFill>
            <a:srgbClr val="9F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800600" y="247650"/>
            <a:ext cx="571500" cy="571500"/>
          </a:xfrm>
          <a:prstGeom prst="roundRect">
            <a:avLst>
              <a:gd name="adj" fmla="val 18000"/>
            </a:avLst>
          </a:prstGeom>
          <a:solidFill>
            <a:srgbClr val="183553"/>
          </a:solidFill>
          <a:ln w="9525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800600" y="247650"/>
            <a:ext cx="28575" cy="57150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38700" y="276225"/>
            <a:ext cx="1333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F6E6E"/>
                </a:solidFill>
                <a:latin typeface="Consolas"/>
              </a:rPr>
              <a:t>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38700" y="276225"/>
            <a:ext cx="4953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EF6E6E"/>
                </a:solidFill>
                <a:latin typeface="Microsoft YaHei"/>
              </a:rPr>
              <a:t>Hardware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38700" y="438150"/>
            <a:ext cx="495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0" i="0">
                <a:solidFill>
                  <a:srgbClr val="9FB5C9"/>
                </a:solidFill>
                <a:latin typeface="Consolas"/>
              </a:rPr>
              <a:t>NVIDIA · Ascend · AMD
→ 多 NPU / DSA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200" y="857250"/>
            <a:ext cx="53340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EAF2FA"/>
                </a:solidFill>
                <a:latin typeface="Microsoft YaHei"/>
              </a:rPr>
              <a:t>解决场景： LLM 驱动 kernel 生成 / 优化  ·  跨硬件统一表达 (SIMT ↔ SIMD ↔ NPU)  ·  最小 token 预算下达到厂商库级性能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200" y="962025"/>
            <a:ext cx="5334000" cy="104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1">
                <a:solidFill>
                  <a:srgbClr val="6E869F"/>
                </a:solidFill>
                <a:latin typeface="Microsoft YaHei"/>
              </a:rPr>
              <a:t>技术主张： 语义 / 策略分离  ·  有界动作空间  ·  多层 IR + 多级验证  ·  硬件信号闭环  ·  结构化经验沉淀  ·  可复现评测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