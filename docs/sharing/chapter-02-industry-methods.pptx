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CHAPTER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AF2FA"/>
                </a:solidFill>
                <a:latin typeface="Microsoft YaHei"/>
              </a:rPr>
              <a:t>LLM-Driven Kernel Generation /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2C55C"/>
                </a:solidFill>
                <a:latin typeface="Microsoft YaHei"/>
              </a:rPr>
              <a:t>7 个代表方案的技术架构与关键特征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128016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EAF2FA"/>
                </a:solidFill>
                <a:latin typeface="Microsoft YaHei"/>
              </a:rPr>
              <a:t>KernelEvolve · KernelAgent · AutoKernel · K-Search · AVO · CuTeGen · KernelGen-LM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基于公开论文 / 官方博客 / 开源仓库抽象，不引入未证实细节。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本章内容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385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为什么业界都在做 LLM-driven kernels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1284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从 one-shot 到 search+verify+profile 的收敛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517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6148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7 个代表方案逐一拆解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358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每个方案：架构流水 + 关键技术特征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7472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61188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8444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汇总矩阵 + 优劣势速览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5876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按维度归纳差异点与共性收敛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34840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8D1B8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AF2FA"/>
                </a:solidFill>
                <a:latin typeface="Microsoft YaHei"/>
              </a:rPr>
              <a:t>演进趋势与 Arke 呼应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8172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从自由代码搜索 → 结构化决策 + 多层 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7 个代表方案一览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9728" cy="5120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6595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KernelEvolve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96595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· ISCA'26 · 生产级异构 + RAG + 搜索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7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468879"/>
            <a:ext cx="109728" cy="512064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6031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KernelFalcon + KernelAgent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56031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PyTorch · Deep Agents + HW signal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3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063239"/>
            <a:ext cx="109728" cy="5120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5467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KernelGen-LM (AscendKernelGen)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5467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PCL · 领域模型 + SFT/RLEF + NPU DSL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59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657599"/>
            <a:ext cx="109728" cy="512064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74903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AutoKernel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74903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RightNow AI · autoresearch loop + dual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5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251959"/>
            <a:ext cx="109728" cy="512064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34339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K-Search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34339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UC Berkeley · co-evolving world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84631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846319"/>
            <a:ext cx="109728" cy="512064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93775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AVO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93775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NVIDIA · agentic variation operators + evolution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40679"/>
            <a:ext cx="10515600" cy="512064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5440679"/>
            <a:ext cx="109728" cy="512064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5532119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CuTeGen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532119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UofT · CuTe abstraction + progressive refine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02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KernelEvolve · Meta 生产级异构 Agent Kernel 编写（ISCA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Platforms · arXiv 2512.23236 · ISCA 2026 · 生产部署 · KernelBench 250/250 PASS · ATen 160 ops × 3 HW · 最高 17× vs PyTorch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Hardware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RAG 注入硬件手册/ISA/优化模板（含专有架构）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LLM Synthesizer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多 DSL 候选：Triton/CuTe/FlyDSL/CUDA/HIP/MTIA C++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Tree Search +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把优化视为搜索问题，维护自改进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Job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规模化并行 compile + profile + benchmark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RAG Prompt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运行时上下文 → 动态 prompt 合成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Deployment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生产化入链 · DLRM/Ads 推理吞吐提升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Search-based（非 one-shot）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覆盖多抽象层与多语言（DSL→CUDA/HIP→专有 C++）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RAG 硬件知识库：将“缺训练语料”的专有硬件纳入优化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异构规模化：NVIDIA / AMD / MTIA / CPU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验证依赖 job-harness（compile/正确性/性能）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03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KernelFalcon + KernelAgent · PyTorch Deep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Meta PyTorch Team · github.com/meta-pytorch/KernelAgent · KernelBench L1/L2/L3 250/250 · 1.56× vs torch.compile · 89% H100 roofline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Orchestrator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确定性编排（Python control plane）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FuserAgent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Code-to-code 融合，保持 PyTorch 语义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ExtractorAgent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子图边界 + shape contract → JSON 合同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Dispatcher+Workers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并行 Triton kernel 合成 + early-win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Profiler/Judge/Analyze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NCU + roofline + LLM bottleneck 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Composer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用合成 kernel 重建 forward 端到端替换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Deep-agent 分层：任务分解→并行探索→验证门禁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Deterministic orchestration：把控制逻辑从 LLM 拿出来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Grounded tool use：每步经编译器与硬件信号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Hardware-guided loop：NCU/roofline 指导优化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输出为 Triton（仍是自由代码空间）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04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KernelGen-LM / AscendKernelGen · NPU 领域模型（PCL,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PCL / 中山大学 / 华为 · arXiv 2601.07160 · Ascend NPU · AscendC DSL · L2 编译成功率 0%→95.5% (Pass@10)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Ascend-CoT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真实 kernel + 文档推理 + 代码推理链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KernelGen-LM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Qwen3 backbone · NPU-aware SFT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RLEF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执行反馈强化：compile/正确性/性能信号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NPUKernelBench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编译/正确性/性能三维评测，难度分层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Generate-Eval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候选→硬件执行→反馈→再生成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Open Artifacts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开源数据/权重/评测工件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走“训一个领域模型”路线：知识进入权重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强耦合单硬件（AscendC/昇腾）换取深度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将 DSL 数据稀缺用 CoT + RLEF 填补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评测一等公民：编译/正确性/性能全量指标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跨硬件迁移能力有限（需要再训/再适配）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05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AutoKernel · Autoresearch for GPU kernels（RightNow AI,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2603.21331 · github.com/RightNow-AI/autokernel · H100：RMSNorm 5.29× / softmax 2.82× / cross-entropy 2.21× vs eager · dual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D1B8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torch.profiler 定位瓶颈，Amdahl 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瓶颈算子抽取为独立 kernel 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Optimize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agent edit → fixed bench → keep/revert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Dual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Triton（快迭代）+ CUDA C++（深硬件）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Correctness Harness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5-stage correctness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38D1B8"/>
                </a:solidFill>
                <a:latin typeface="Microsoft YaHei"/>
              </a:rPr>
              <a:t>Playbook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6-tier playbook（长 instructions）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autoresearch 闭环：可长时间无人值守探索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Amdahl 优先级：先优化“影响最大”的 kernel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双后端：迭代速度与极限性能兼顾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知识注入以 playbook 为主（提示工程资产）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优化粒度是“编辑文件”，缺少 IR 级可逆决策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06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K-Search · Co-Evolving Intrinsic World Model（UC Berkeley,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2602.19128 · github.com/caoshiyi/K-Search · FlashInfer GQA/MLA/MoE：平均 2.10× / MoE 最高 14.3× · GPUMode TriMul H100 SOTA 1030μs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Problem→Search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 kernel 生成视作规划问题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World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LLM 估计状态转移与价值，指导搜索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Plan↔Codegen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显式解耦高层策略与低层实现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Co-Evolving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世界模型随搜索共同演化（优先级/假设）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Stagnation-Aware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无提升自动切换 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2C55C"/>
                </a:solidFill>
                <a:latin typeface="Microsoft YaHei"/>
              </a:rPr>
              <a:t>Exec 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执行反馈更新 world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把 LLM 从“生成器”升级为“世界模型/规划器”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策略/实现解耦：对临时编译失败更鲁棒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复杂 kernel 优势显著（MoE/MLA/GQA）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世界模型大多隐式在 LLM 内部（难跨 session 持久化）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输出仍是自由代码空间（Triton/CUDA）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AVO · Agentic Variation Operators（NVIDIA,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2603.24517 · Blackwell B200 · MHA 7 天连续演化 · 超 cuDNN 3.5% / 超 FlashAttention-4 10.5% · GQA 迁移 30min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F6E6E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EA Skeleton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population/lineage 演化搜索骨架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Vary()=Agent()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把变异算子替换为自主 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Self-directed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propose→repair→critique→verify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Domain KB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硬件规约 + 现有实现（FA4/CUTLASS）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Exec 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性能/正确性反馈驱动下一轮变异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F6E6E"/>
                </a:solidFill>
                <a:latin typeface="Microsoft YaHei"/>
              </a:rPr>
              <a:t>Long-horizon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长周期演化发现微架构级优化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把“变异算子”本身升级为 agent（从 pipeline → agent）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在 attention 上逼近/超过专家实现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长周期/高预算：探索深但 token/算力成本高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知识多依赖外部 KB（手工维护成本）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输出多为 CUDA/C++ 级实现（门槛高）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 · 08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CuTeGen · LLM × CuTe 抽象层（U. Toronto, 2026）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FB5C9"/>
                </a:solidFill>
                <a:latin typeface="Microsoft YaHei"/>
              </a:rPr>
              <a:t>arXiv 2604.01489 · CUTLASS v4.3 (CuTe) · 12 matmul + 14 activation kernels · generate–test–refine · 渐进精炼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594360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109728" cy="3931920"/>
          </a:xfrm>
          <a:prstGeom prst="rect">
            <a:avLst/>
          </a:prstGeom>
          <a:solidFill>
            <a:srgbClr val="7A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B8FF"/>
                </a:solidFill>
                <a:latin typeface="Microsoft YaHei"/>
              </a:rPr>
              <a:t>技术架构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Initial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9260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PyTorch reference + CuTe 示例作为锚点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42900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7472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Single-kernel Refinement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47472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精炼一个进化 kernel（非大规模搜索）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4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0233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Exec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02336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每次改动 compile + ref 对拍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2628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720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Structured Debugging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5720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失败走结构化模板而非纯报错粘贴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7492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Staged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1206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先正确性再性能，逐步加压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623560"/>
            <a:ext cx="5486400" cy="475488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66928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7AB8FF"/>
                </a:solidFill>
                <a:latin typeface="Microsoft YaHei"/>
              </a:rPr>
              <a:t>Delayed Profiling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66928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profile 反馈后置注入减少早期噪声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423160"/>
            <a:ext cx="4937760" cy="393192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20840" y="2423160"/>
            <a:ext cx="109728" cy="3931920"/>
          </a:xfrm>
          <a:prstGeom prst="rect">
            <a:avLst/>
          </a:prstGeom>
          <a:solidFill>
            <a:srgbClr val="F2C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55C"/>
                </a:solidFill>
                <a:latin typeface="Microsoft YaHei"/>
              </a:rPr>
              <a:t>关键技术特征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88036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关键选择：用 CuTe 作为稳定抽象层（比 CUDA 易迭代）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单 kernel 渐进精炼：token 成本更可控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对性能关键结构（tiling/data-movement）更显式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仍是 C++ 模板体系（非 LLM-native 表示）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000">
                <a:solidFill>
                  <a:srgbClr val="EAF2FA"/>
                </a:solidFill>
                <a:latin typeface="Microsoft YaHei"/>
              </a:rPr>
              <a:t>跨硬件与知识沉淀机制较弱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7 方案 × 9 维度特征矩阵（概览）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219679" cy="50292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38D1B8"/>
                </a:solidFill>
                <a:latin typeface="Microsoft YaHei"/>
              </a:rPr>
              <a:t>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1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2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LLM角色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68693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知识注入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4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5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目标语言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8506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硬件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1777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沉淀介质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35048" y="1901952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38D1B8"/>
                </a:solidFill>
                <a:latin typeface="Microsoft YaHei"/>
              </a:rPr>
              <a:t>成果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3172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865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KernelEvolve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1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Tree+State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2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生成器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3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4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35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Multi-DSL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8506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Hetero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77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35048" y="23865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Prod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83464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28895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1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Deep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5422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多Agent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8693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NCU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4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35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06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01777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Templates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35048" y="28895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KB100%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33756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39242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KernelGen-LM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0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151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Loop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5422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领域LM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68693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4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Bench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35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AscendC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06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Ascend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01777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Weights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35048" y="339242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95.5%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384048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389534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AutoKernel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68880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Autoresearch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02151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Edit/Keep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35422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Agent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68693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Playbook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4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Harness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35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Triton+CUDA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06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01777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Artifacts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35048" y="389534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5.29×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34340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39826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K-Search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8880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Planning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2151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WM Tree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5422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WorldModel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68693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Prior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01964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Exec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35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Triton/CUDA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68506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01777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WM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35048" y="439826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14.3×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484632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490118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AVO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80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Evolution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02151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Lineage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35422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VarOp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68693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01964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Verify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35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CUDA/C++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68506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B200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01777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KB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735048" y="490118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FA4+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349240"/>
            <a:ext cx="11219679" cy="45720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54041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AF2FA"/>
                </a:solidFill>
                <a:latin typeface="Microsoft YaHei"/>
              </a:rPr>
              <a:t>CuTeGen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468880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Refine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02151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Single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35422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生成+调试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68693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CuTe 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01964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Ref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35235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CuTe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668506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NVIDIA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01777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35048" y="5404104"/>
            <a:ext cx="103327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>
                <a:solidFill>
                  <a:srgbClr val="9FB5C9"/>
                </a:solidFill>
                <a:latin typeface="Microsoft YaHei"/>
              </a:rPr>
              <a:t>GEMM/Act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共性进展 vs 关键难题（为 Arke 对齐做铺垫）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669280" cy="4663440"/>
          </a:xfrm>
          <a:prstGeom prst="roundRect">
            <a:avLst>
              <a:gd name="adj" fmla="val 6000"/>
            </a:avLst>
          </a:prstGeom>
          <a:solidFill>
            <a:srgbClr val="122A4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09728" cy="466344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8D1B8"/>
                </a:solidFill>
                <a:latin typeface="Microsoft YaHei"/>
              </a:rPr>
              <a:t>好的进展（已被验证有效）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303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从 one-shot 走向 search / evolve / autoresearch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验证门禁：compile→correctness→perf 的 gating 收敛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硬件信号进入 loop：NCU/roofline/metrics 驱动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并行探索 + early-win：多 worker 稳定提升成功率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38D1B8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选择稳定抽象层（Triton/CuTe）降低迭代成本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37360"/>
            <a:ext cx="5212080" cy="466344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109728" cy="4663440"/>
          </a:xfrm>
          <a:prstGeom prst="rect">
            <a:avLst/>
          </a:prstGeom>
          <a:solidFill>
            <a:srgbClr val="EF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6E6E"/>
                </a:solidFill>
                <a:latin typeface="Microsoft YaHei"/>
              </a:rPr>
              <a:t>关键难题（仍未体系化解决）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8463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知识沉淀介质：RAG/权重/模板/日志，难跨硬件迁移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策略与实现仍耦合在自由代码里（难审计、难回滚）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动态 shape 与泛化：正确性与性能同时保证困难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从单 kernel 到模型级自治优化：bottleneck→再优化→回归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Triton 抽象天花板：更深层（寄存器/屏障/指令）决策难表达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EF6E6E"/>
                </a:solidFill>
                <a:latin typeface="Microsoft YaHei"/>
              </a:rPr>
              <a:t>▸ </a:t>
            </a:r>
            <a:r>
              <a:rPr sz="1100">
                <a:solidFill>
                  <a:srgbClr val="EAF2FA"/>
                </a:solidFill>
                <a:latin typeface="Microsoft YaHei"/>
              </a:rPr>
              <a:t>token/预算治理：长会话稳定性与成本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02 · Industry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EAF2FA"/>
                </a:solidFill>
                <a:latin typeface="Microsoft YaHei"/>
              </a:rPr>
              <a:t>演进方向：从自由代码搜索 → 结构化决策 + 多层 IR（与 Arke 呼应）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6000"/>
          </a:xfrm>
          <a:prstGeom prst="rect">
            <a:avLst/>
          </a:prstGeom>
          <a:solidFill>
            <a:srgbClr val="38D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1：LLM 从“写代码”→“做决策”（bounded decision search）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2：语义/策略解耦，从单层代码到多层可验证 IR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3：验证器前移：V0 快剪枝 + V1 数值 + V2 性能闭环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4：知识显式化：从权重/模板/日志 → 可迁移的 rationale/trajectory 资产</a:t>
            </a:r>
          </a:p>
          <a:p>
            <a:pPr algn="l">
              <a:spcAft>
                <a:spcPts val="200"/>
              </a:spcAft>
            </a:pPr>
            <a:r>
              <a:rPr sz="1600" b="1">
                <a:solidFill>
                  <a:srgbClr val="F2C55C"/>
                </a:solidFill>
                <a:latin typeface="Microsoft YaHei"/>
              </a:rPr>
              <a:t>▸ </a:t>
            </a:r>
            <a:r>
              <a:rPr sz="1600">
                <a:solidFill>
                  <a:srgbClr val="EAF2FA"/>
                </a:solidFill>
                <a:latin typeface="Microsoft YaHei"/>
              </a:rPr>
              <a:t>趋势 5：多后端与多硬件：同一语义，多策略适配不同目标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594360"/>
          </a:xfrm>
          <a:prstGeom prst="roundRect">
            <a:avLst>
              <a:gd name="adj" fmla="val 6000"/>
            </a:avLst>
          </a:prstGeom>
          <a:solidFill>
            <a:srgbClr val="183553"/>
          </a:solidFill>
          <a:ln w="9525">
            <a:solidFill>
              <a:srgbClr val="2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38D1B8"/>
                </a:solidFill>
                <a:latin typeface="Microsoft YaHei"/>
              </a:rPr>
              <a:t>下一章（Arke 设计）将逐条对齐这些趋势与难题，并把未覆盖点列为 TODO。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FB5C9"/>
                </a:solidFill>
                <a:latin typeface="Microsoft YaHei"/>
              </a:rPr>
              <a:t>Chapter 02 · Industry Methods · LLM-driven kernel generation/optimization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FB5C9"/>
                </a:solidFill>
                <a:latin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