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326880" y="822960"/>
            <a:ext cx="2194560" cy="2194560"/>
          </a:xfrm>
          <a:prstGeom prst="ellipse">
            <a:avLst/>
          </a:prstGeom>
          <a:noFill/>
          <a:ln w="19050">
            <a:solidFill>
              <a:srgbClr val="38D1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784080" y="1280160"/>
            <a:ext cx="1280160" cy="1280160"/>
          </a:xfrm>
          <a:prstGeom prst="ellipse">
            <a:avLst/>
          </a:prstGeom>
          <a:noFill/>
          <a:ln w="12700">
            <a:solidFill>
              <a:srgbClr val="F2C5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005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8D1B8"/>
                </a:solidFill>
                <a:latin typeface="Consolas"/>
              </a:rPr>
              <a:t>TECH INSIGHT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50876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 i="0">
                <a:solidFill>
                  <a:srgbClr val="EAF2FA"/>
                </a:solidFill>
                <a:latin typeface="Microsoft YaHei"/>
              </a:rPr>
              <a:t>AI-Native 时代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317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 i="0">
                <a:solidFill>
                  <a:srgbClr val="EAF2FA"/>
                </a:solidFill>
                <a:latin typeface="Microsoft YaHei"/>
              </a:rPr>
              <a:t>算子工程的范式正在被重写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840480"/>
            <a:ext cx="10515600" cy="9144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840480"/>
            <a:ext cx="128016" cy="91440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950208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i="0">
                <a:solidFill>
                  <a:srgbClr val="9FB5C9"/>
                </a:solidFill>
                <a:latin typeface="Microsoft YaHei"/>
              </a:rPr>
              <a:t>LLM-driven kernel generation/optimization · 业界趋势 · 目标态 · Arke 技术构建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029200"/>
            <a:ext cx="3429000" cy="11887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512064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38D1B8"/>
                </a:solidFill>
                <a:latin typeface="Consola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513892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模型能力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548640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强到能做什么？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34840" y="5029200"/>
            <a:ext cx="3429000" cy="11887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09160" y="512064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38D1B8"/>
                </a:solidFill>
                <a:latin typeface="Consolas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513892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业界现状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548640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已经走到哪、卡在哪？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5029200"/>
            <a:ext cx="3429000" cy="11887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512064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38D1B8"/>
                </a:solidFill>
                <a:latin typeface="Consola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513892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未来构建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548640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目标态长什么样、怎么搭？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4008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E869F"/>
                </a:solidFill>
                <a:latin typeface="Consolas"/>
              </a:rPr>
              <a:t>演讲者 · 内部技术分享     |     AI-Native 算子工程洞察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总目录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10515600" cy="8229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828800"/>
            <a:ext cx="128016" cy="82296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47672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EAF2FA"/>
                </a:solidFill>
                <a:latin typeface="Microsoft YaHei"/>
              </a:rPr>
              <a:t>Part A · 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286000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为什么需要这次洞察（模型能力 + 业界现状 + 失效）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205740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800" b="1" i="0">
                <a:solidFill>
                  <a:srgbClr val="38D1B8"/>
                </a:solidFill>
                <a:latin typeface="Consolas"/>
              </a:rPr>
              <a:t>04–09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788920"/>
            <a:ext cx="10515600" cy="8229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2788920"/>
            <a:ext cx="128016" cy="82296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907792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EAF2FA"/>
                </a:solidFill>
                <a:latin typeface="Microsoft YaHei"/>
              </a:rPr>
              <a:t>Part B · 业界趋势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246120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7 个 LLM-driven kernel 案例 → T1–T6 / G1–G6 / H1–H9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301752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800" b="1" i="0">
                <a:solidFill>
                  <a:srgbClr val="7AB8FF"/>
                </a:solidFill>
                <a:latin typeface="Consolas"/>
              </a:rPr>
              <a:t>11–22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749040"/>
            <a:ext cx="10515600" cy="8229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3749040"/>
            <a:ext cx="128016" cy="82296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3867912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EAF2FA"/>
                </a:solidFill>
                <a:latin typeface="Microsoft YaHei"/>
              </a:rPr>
              <a:t>🌟 目标态总览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206240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北极星 · F1–F7 七大特征 · 对通用编程的启示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397764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800" b="1" i="0">
                <a:solidFill>
                  <a:srgbClr val="F2C55C"/>
                </a:solidFill>
                <a:latin typeface="Consolas"/>
              </a:rPr>
              <a:t>24–27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709160"/>
            <a:ext cx="10515600" cy="8229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709160"/>
            <a:ext cx="128016" cy="82296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828032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EAF2FA"/>
                </a:solidFill>
                <a:latin typeface="Microsoft YaHei"/>
              </a:rPr>
              <a:t>Part C · Arke 技术构建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166360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设计逻辑 · 总架构 · 四件套 + Benchmark · F 对齐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493776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800" b="1" i="0">
                <a:solidFill>
                  <a:srgbClr val="B88AF0"/>
                </a:solidFill>
                <a:latin typeface="Consolas"/>
              </a:rPr>
              <a:t>29–37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TOC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02 / 38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8D1B8"/>
                </a:solidFill>
                <a:latin typeface="Consolas"/>
              </a:rPr>
              <a:t>PART A · BACKGROUND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EAF2FA"/>
                </a:solidFill>
                <a:latin typeface="Microsoft YaHei"/>
              </a:rPr>
              <a:t>为什么需要这次洞察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114800"/>
            <a:ext cx="10515600" cy="12801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4114800"/>
            <a:ext cx="128016" cy="128016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25196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9FB5C9"/>
                </a:solidFill>
                <a:latin typeface="Microsoft YaHei"/>
              </a:rPr>
              <a:t>模型能力跃迁 · 算子工程现状 · 传统路径失效 · 输出形态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03 / 38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A1 · 背景与目标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本次分享要回答的 3 个问题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10515600" cy="91440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38D1B8"/>
                </a:solidFill>
                <a:latin typeface="Microsoft YaHei"/>
              </a:rPr>
              <a:t>AI-Native 时代，算子工程的范式正在被重写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26080"/>
            <a:ext cx="3657600" cy="33832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926080"/>
            <a:ext cx="365760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10896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38D1B8"/>
                </a:solidFill>
                <a:latin typeface="Consola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2724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模型能力跃迁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4564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9FB5C9"/>
                </a:solidFill>
                <a:latin typeface="Microsoft YaHei"/>
              </a:rPr>
              <a:t>强到能做什么？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114800"/>
            <a:ext cx="32004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代码合成 / 结构化推理 / 长上下文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可验证闭环 + Agent 化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后训练让经验可累计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2926080"/>
            <a:ext cx="3657600" cy="33832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2926080"/>
            <a:ext cx="3657600" cy="7315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310896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7AB8FF"/>
                </a:solidFill>
                <a:latin typeface="Consolas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312724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业界相关方向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34564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9FB5C9"/>
                </a:solidFill>
                <a:latin typeface="Microsoft YaHei"/>
              </a:rPr>
              <a:t>走到哪、卡在哪？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4114800"/>
            <a:ext cx="32004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7 个代表性 LLM-driven kernel 案例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趋势 T1–T6 已开始收敛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9 个关键技术难题待解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2926080"/>
            <a:ext cx="3657600" cy="33832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38160" y="2926080"/>
            <a:ext cx="3657600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0" y="310896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F2C55C"/>
                </a:solidFill>
                <a:latin typeface="Consolas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312724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未来如何构建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4564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9FB5C9"/>
                </a:solidFill>
                <a:latin typeface="Microsoft YaHei"/>
              </a:rPr>
              <a:t>目标态长什么样？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4114800"/>
            <a:ext cx="32004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7 大技术特征 F1–F7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对通用编程的 6 条启示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Arke 给出一种可落地的回答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04 / 38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A2 · 模型能力侧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LLM 能力跃迁带来的「新可能」——为什么以前做不了，今天可以做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09728" cy="14173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9339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8D1B8"/>
                </a:solidFill>
                <a:latin typeface="Microsoft YaHei"/>
              </a:rPr>
              <a:t>代码生成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42316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片段补全 → 跨文件、跨抽象层程序合成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828800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828800"/>
            <a:ext cx="109728" cy="141732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99339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B8FF"/>
                </a:solidFill>
                <a:latin typeface="Microsoft YaHei"/>
              </a:rPr>
              <a:t>结构化推理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42316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Tool-use / Function-calling / 结构化输出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828800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828800"/>
            <a:ext cx="109728" cy="14173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99339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2C55C"/>
                </a:solidFill>
                <a:latin typeface="Microsoft YaHei"/>
              </a:rPr>
              <a:t>长上下文 + RAG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42316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硬件手册 / ISA / Profile / 历史轨迹入上下文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83280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383280"/>
            <a:ext cx="109728" cy="141732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54787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88AF0"/>
                </a:solidFill>
                <a:latin typeface="Microsoft YaHei"/>
              </a:rPr>
              <a:t>可验证闭环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397764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与编译器/profiler 多轮反馈，而非一次性写出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80" y="3383280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97680" y="3383280"/>
            <a:ext cx="109728" cy="141732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354787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F6E6E"/>
                </a:solidFill>
                <a:latin typeface="Microsoft YaHei"/>
              </a:rPr>
              <a:t>代理化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397764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规划 / 执行 / 反思 / 回滚 的 Agent 编排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109728" cy="14173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354787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8D1B8"/>
                </a:solidFill>
                <a:latin typeface="Microsoft YaHei"/>
              </a:rPr>
              <a:t>后训练范式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397764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SFT / RLHF / RLEF / 轨迹回放 让经验可累计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166360"/>
            <a:ext cx="11109960" cy="105156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" y="5166360"/>
            <a:ext cx="128016" cy="105156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276088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小结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" y="55778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模型从「会写代码」升级为「会做带反馈的工程决策」——这是后续所有趋势的能力底座。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05 / 38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A3 · 问题域侧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算子工程的业界现状——为什么这个领域亟需被 LLM 重塑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3703320" cy="35204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370332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029968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8D1B8"/>
                </a:solidFill>
                <a:latin typeface="Microsoft YaHei"/>
              </a:rPr>
              <a:t>硬件维度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06040"/>
            <a:ext cx="3154680" cy="2606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SIMT (NVIDIA) → SIMD (Ascend)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→ 多类 NPU / DSA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代际叠加 + 异构叠加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同一算子，不同硬件不同策略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1828800"/>
            <a:ext cx="3703320" cy="35204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61688" y="1828800"/>
            <a:ext cx="3703320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8" y="2029968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2C55C"/>
                </a:solidFill>
                <a:latin typeface="Microsoft YaHei"/>
              </a:rPr>
              <a:t>工作负载维度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06040"/>
            <a:ext cx="3154680" cy="2606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Attention / MLA / GQA / MoE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融合组合爆炸 (L2 / L3)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动态 shape 常态化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长上下文 → KV / Paged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74736" y="1828800"/>
            <a:ext cx="3703320" cy="35204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74736" y="1828800"/>
            <a:ext cx="3703320" cy="73152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49056" y="2029968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F6E6E"/>
                </a:solidFill>
                <a:latin typeface="Microsoft YaHei"/>
              </a:rPr>
              <a:t>工程现实维度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49056" y="2606040"/>
            <a:ext cx="3154680" cy="2606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kernel SKU 爆炸（算子×形状×精度×后端）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顶级 kernel 工程师稀缺且不可扩展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验证 / 回归成本随版本上升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厂商库覆盖不全 + 演进不同步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532120"/>
            <a:ext cx="11109960" cy="8686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650992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38D1B8"/>
                </a:solidFill>
                <a:latin typeface="Microsoft YaHei"/>
              </a:rPr>
              <a:t>三股力量同步发散：模型规模 ↑、算子复杂度 ↑、硬件代际 ↑——传统路径无法线性扩展。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06 / 38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A3 · 三条发散曲线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模型规模 / 算子复杂度 / 硬件代际——同时加速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1874519"/>
            <a:ext cx="7589520" cy="3931920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463040" y="5257799"/>
            <a:ext cx="6583680" cy="0"/>
          </a:xfrm>
          <a:prstGeom prst="line">
            <a:avLst/>
          </a:prstGeom>
          <a:ln w="15240">
            <a:solidFill>
              <a:srgbClr val="9FB5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463040" y="2240279"/>
            <a:ext cx="0" cy="3017520"/>
          </a:xfrm>
          <a:prstGeom prst="line">
            <a:avLst/>
          </a:prstGeom>
          <a:ln w="15240">
            <a:solidFill>
              <a:srgbClr val="9FB5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463040" y="4544567"/>
            <a:ext cx="6583680" cy="0"/>
          </a:xfrm>
          <a:prstGeom prst="line">
            <a:avLst/>
          </a:prstGeom>
          <a:ln w="635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463040" y="3831335"/>
            <a:ext cx="6583680" cy="0"/>
          </a:xfrm>
          <a:prstGeom prst="line">
            <a:avLst/>
          </a:prstGeom>
          <a:ln w="635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463040" y="3118103"/>
            <a:ext cx="6583680" cy="0"/>
          </a:xfrm>
          <a:prstGeom prst="line">
            <a:avLst/>
          </a:prstGeom>
          <a:ln w="635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463040" y="2404871"/>
            <a:ext cx="6583680" cy="0"/>
          </a:xfrm>
          <a:prstGeom prst="line">
            <a:avLst/>
          </a:prstGeom>
          <a:ln w="635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05840" y="1947671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FB5C9"/>
                </a:solidFill>
                <a:latin typeface="Consolas"/>
              </a:rPr>
              <a:t>相对增速 (log)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534923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9FB5C9"/>
                </a:solidFill>
                <a:latin typeface="Consolas"/>
              </a:rPr>
              <a:t>时间 (年代际)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1463040" y="5210616"/>
            <a:ext cx="219456" cy="47183"/>
          </a:xfrm>
          <a:prstGeom prst="line">
            <a:avLst/>
          </a:prstGeom>
          <a:ln w="2794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682496" y="5161178"/>
            <a:ext cx="219456" cy="49438"/>
          </a:xfrm>
          <a:prstGeom prst="line">
            <a:avLst/>
          </a:prstGeom>
          <a:ln w="2794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901952" y="5109379"/>
            <a:ext cx="219456" cy="51799"/>
          </a:xfrm>
          <a:prstGeom prst="line">
            <a:avLst/>
          </a:prstGeom>
          <a:ln w="2794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121408" y="5055105"/>
            <a:ext cx="219456" cy="54274"/>
          </a:xfrm>
          <a:prstGeom prst="line">
            <a:avLst/>
          </a:prstGeom>
          <a:ln w="2794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2340864" y="4998238"/>
            <a:ext cx="219456" cy="56867"/>
          </a:xfrm>
          <a:prstGeom prst="line">
            <a:avLst/>
          </a:prstGeom>
          <a:ln w="2794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2560320" y="4938655"/>
            <a:ext cx="219456" cy="59583"/>
          </a:xfrm>
          <a:prstGeom prst="line">
            <a:avLst/>
          </a:prstGeom>
          <a:ln w="2794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2779776" y="4876225"/>
            <a:ext cx="219456" cy="62430"/>
          </a:xfrm>
          <a:prstGeom prst="line">
            <a:avLst/>
          </a:prstGeom>
          <a:ln w="2794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2999232" y="4810813"/>
            <a:ext cx="219456" cy="65412"/>
          </a:xfrm>
          <a:prstGeom prst="line">
            <a:avLst/>
          </a:prstGeom>
          <a:ln w="2794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3218688" y="4742275"/>
            <a:ext cx="219456" cy="68538"/>
          </a:xfrm>
          <a:prstGeom prst="line">
            <a:avLst/>
          </a:prstGeom>
          <a:ln w="2794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3438144" y="4670464"/>
            <a:ext cx="219456" cy="71811"/>
          </a:xfrm>
          <a:prstGeom prst="line">
            <a:avLst/>
          </a:prstGeom>
          <a:ln w="2794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3657600" y="4595222"/>
            <a:ext cx="219456" cy="75242"/>
          </a:xfrm>
          <a:prstGeom prst="line">
            <a:avLst/>
          </a:prstGeom>
          <a:ln w="2794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3877056" y="4516385"/>
            <a:ext cx="219456" cy="78837"/>
          </a:xfrm>
          <a:prstGeom prst="line">
            <a:avLst/>
          </a:prstGeom>
          <a:ln w="2794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4096512" y="4433782"/>
            <a:ext cx="219456" cy="82603"/>
          </a:xfrm>
          <a:prstGeom prst="line">
            <a:avLst/>
          </a:prstGeom>
          <a:ln w="2794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4315968" y="4347233"/>
            <a:ext cx="219456" cy="86549"/>
          </a:xfrm>
          <a:prstGeom prst="line">
            <a:avLst/>
          </a:prstGeom>
          <a:ln w="2794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4535424" y="4256549"/>
            <a:ext cx="219456" cy="90684"/>
          </a:xfrm>
          <a:prstGeom prst="line">
            <a:avLst/>
          </a:prstGeom>
          <a:ln w="2794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4754880" y="4161534"/>
            <a:ext cx="219456" cy="95015"/>
          </a:xfrm>
          <a:prstGeom prst="line">
            <a:avLst/>
          </a:prstGeom>
          <a:ln w="2794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4974336" y="4061978"/>
            <a:ext cx="219456" cy="99556"/>
          </a:xfrm>
          <a:prstGeom prst="line">
            <a:avLst/>
          </a:prstGeom>
          <a:ln w="2794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5193792" y="3957667"/>
            <a:ext cx="219456" cy="104311"/>
          </a:xfrm>
          <a:prstGeom prst="line">
            <a:avLst/>
          </a:prstGeom>
          <a:ln w="2794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5413248" y="3848373"/>
            <a:ext cx="219456" cy="109294"/>
          </a:xfrm>
          <a:prstGeom prst="line">
            <a:avLst/>
          </a:prstGeom>
          <a:ln w="2794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5632704" y="3733857"/>
            <a:ext cx="219456" cy="114516"/>
          </a:xfrm>
          <a:prstGeom prst="line">
            <a:avLst/>
          </a:prstGeom>
          <a:ln w="2794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5852160" y="3613871"/>
            <a:ext cx="219456" cy="119986"/>
          </a:xfrm>
          <a:prstGeom prst="line">
            <a:avLst/>
          </a:prstGeom>
          <a:ln w="2794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6071616" y="3488153"/>
            <a:ext cx="219456" cy="125718"/>
          </a:xfrm>
          <a:prstGeom prst="line">
            <a:avLst/>
          </a:prstGeom>
          <a:ln w="2794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6291072" y="3356428"/>
            <a:ext cx="219456" cy="131725"/>
          </a:xfrm>
          <a:prstGeom prst="line">
            <a:avLst/>
          </a:prstGeom>
          <a:ln w="2794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6510528" y="3218411"/>
            <a:ext cx="219456" cy="138017"/>
          </a:xfrm>
          <a:prstGeom prst="line">
            <a:avLst/>
          </a:prstGeom>
          <a:ln w="2794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6729984" y="3073801"/>
            <a:ext cx="219456" cy="144610"/>
          </a:xfrm>
          <a:prstGeom prst="line">
            <a:avLst/>
          </a:prstGeom>
          <a:ln w="2794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6949440" y="2922282"/>
            <a:ext cx="219456" cy="151519"/>
          </a:xfrm>
          <a:prstGeom prst="line">
            <a:avLst/>
          </a:prstGeom>
          <a:ln w="2794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7168896" y="2763524"/>
            <a:ext cx="219456" cy="158758"/>
          </a:xfrm>
          <a:prstGeom prst="line">
            <a:avLst/>
          </a:prstGeom>
          <a:ln w="2794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7388352" y="2597182"/>
            <a:ext cx="219456" cy="166342"/>
          </a:xfrm>
          <a:prstGeom prst="line">
            <a:avLst/>
          </a:prstGeom>
          <a:ln w="2794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7607808" y="2422894"/>
            <a:ext cx="219456" cy="174288"/>
          </a:xfrm>
          <a:prstGeom prst="line">
            <a:avLst/>
          </a:prstGeom>
          <a:ln w="2794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7827264" y="2240279"/>
            <a:ext cx="219456" cy="182615"/>
          </a:xfrm>
          <a:prstGeom prst="line">
            <a:avLst/>
          </a:prstGeom>
          <a:ln w="2794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1463040" y="5203162"/>
            <a:ext cx="219456" cy="54637"/>
          </a:xfrm>
          <a:prstGeom prst="line">
            <a:avLst/>
          </a:prstGeom>
          <a:ln w="2794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682496" y="5146390"/>
            <a:ext cx="219456" cy="56772"/>
          </a:xfrm>
          <a:prstGeom prst="line">
            <a:avLst/>
          </a:prstGeom>
          <a:ln w="2794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1901952" y="5087400"/>
            <a:ext cx="219456" cy="58990"/>
          </a:xfrm>
          <a:prstGeom prst="line">
            <a:avLst/>
          </a:prstGeom>
          <a:ln w="2794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121408" y="5026104"/>
            <a:ext cx="219456" cy="61296"/>
          </a:xfrm>
          <a:prstGeom prst="line">
            <a:avLst/>
          </a:prstGeom>
          <a:ln w="2794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340864" y="4962413"/>
            <a:ext cx="219456" cy="63691"/>
          </a:xfrm>
          <a:prstGeom prst="line">
            <a:avLst/>
          </a:prstGeom>
          <a:ln w="2794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2560320" y="4896233"/>
            <a:ext cx="219456" cy="66180"/>
          </a:xfrm>
          <a:prstGeom prst="line">
            <a:avLst/>
          </a:prstGeom>
          <a:ln w="2794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2779776" y="4827467"/>
            <a:ext cx="219456" cy="68766"/>
          </a:xfrm>
          <a:prstGeom prst="line">
            <a:avLst/>
          </a:prstGeom>
          <a:ln w="2794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2999232" y="4756013"/>
            <a:ext cx="219456" cy="71454"/>
          </a:xfrm>
          <a:prstGeom prst="line">
            <a:avLst/>
          </a:prstGeom>
          <a:ln w="2794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3218688" y="4681768"/>
            <a:ext cx="219456" cy="74245"/>
          </a:xfrm>
          <a:prstGeom prst="line">
            <a:avLst/>
          </a:prstGeom>
          <a:ln w="2794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3438144" y="4604621"/>
            <a:ext cx="219456" cy="77147"/>
          </a:xfrm>
          <a:prstGeom prst="line">
            <a:avLst/>
          </a:prstGeom>
          <a:ln w="2794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3657600" y="4524459"/>
            <a:ext cx="219456" cy="80162"/>
          </a:xfrm>
          <a:prstGeom prst="line">
            <a:avLst/>
          </a:prstGeom>
          <a:ln w="2794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3877056" y="4441165"/>
            <a:ext cx="219456" cy="83294"/>
          </a:xfrm>
          <a:prstGeom prst="line">
            <a:avLst/>
          </a:prstGeom>
          <a:ln w="2794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4096512" y="4354616"/>
            <a:ext cx="219456" cy="86549"/>
          </a:xfrm>
          <a:prstGeom prst="line">
            <a:avLst/>
          </a:prstGeom>
          <a:ln w="2794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4315968" y="4264685"/>
            <a:ext cx="219456" cy="89931"/>
          </a:xfrm>
          <a:prstGeom prst="line">
            <a:avLst/>
          </a:prstGeom>
          <a:ln w="2794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4535424" y="4171239"/>
            <a:ext cx="219456" cy="93446"/>
          </a:xfrm>
          <a:prstGeom prst="line">
            <a:avLst/>
          </a:prstGeom>
          <a:ln w="2794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4754880" y="4074142"/>
            <a:ext cx="219456" cy="97097"/>
          </a:xfrm>
          <a:prstGeom prst="line">
            <a:avLst/>
          </a:prstGeom>
          <a:ln w="2794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4974336" y="3973251"/>
            <a:ext cx="219456" cy="100891"/>
          </a:xfrm>
          <a:prstGeom prst="line">
            <a:avLst/>
          </a:prstGeom>
          <a:ln w="2794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5193792" y="3868417"/>
            <a:ext cx="219456" cy="104834"/>
          </a:xfrm>
          <a:prstGeom prst="line">
            <a:avLst/>
          </a:prstGeom>
          <a:ln w="2794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5413248" y="3759486"/>
            <a:ext cx="219456" cy="108931"/>
          </a:xfrm>
          <a:prstGeom prst="line">
            <a:avLst/>
          </a:prstGeom>
          <a:ln w="2794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5632704" y="3646298"/>
            <a:ext cx="219456" cy="113188"/>
          </a:xfrm>
          <a:prstGeom prst="line">
            <a:avLst/>
          </a:prstGeom>
          <a:ln w="2794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5852160" y="3528688"/>
            <a:ext cx="219456" cy="117610"/>
          </a:xfrm>
          <a:prstGeom prst="line">
            <a:avLst/>
          </a:prstGeom>
          <a:ln w="2794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6071616" y="3406481"/>
            <a:ext cx="219456" cy="122207"/>
          </a:xfrm>
          <a:prstGeom prst="line">
            <a:avLst/>
          </a:prstGeom>
          <a:ln w="2794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6291072" y="3279499"/>
            <a:ext cx="219456" cy="126982"/>
          </a:xfrm>
          <a:prstGeom prst="line">
            <a:avLst/>
          </a:prstGeom>
          <a:ln w="2794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6510528" y="3147555"/>
            <a:ext cx="219456" cy="131944"/>
          </a:xfrm>
          <a:prstGeom prst="line">
            <a:avLst/>
          </a:prstGeom>
          <a:ln w="2794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6729984" y="3010455"/>
            <a:ext cx="219456" cy="137100"/>
          </a:xfrm>
          <a:prstGeom prst="line">
            <a:avLst/>
          </a:prstGeom>
          <a:ln w="2794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6949440" y="2867997"/>
            <a:ext cx="219456" cy="142458"/>
          </a:xfrm>
          <a:prstGeom prst="line">
            <a:avLst/>
          </a:prstGeom>
          <a:ln w="2794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7168896" y="2719973"/>
            <a:ext cx="219456" cy="148024"/>
          </a:xfrm>
          <a:prstGeom prst="line">
            <a:avLst/>
          </a:prstGeom>
          <a:ln w="2794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7388352" y="2566164"/>
            <a:ext cx="219456" cy="153809"/>
          </a:xfrm>
          <a:prstGeom prst="line">
            <a:avLst/>
          </a:prstGeom>
          <a:ln w="2794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7607808" y="2406344"/>
            <a:ext cx="219456" cy="159820"/>
          </a:xfrm>
          <a:prstGeom prst="line">
            <a:avLst/>
          </a:prstGeom>
          <a:ln w="2794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7827264" y="2240279"/>
            <a:ext cx="219456" cy="166065"/>
          </a:xfrm>
          <a:prstGeom prst="line">
            <a:avLst/>
          </a:prstGeom>
          <a:ln w="2794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1463040" y="5196575"/>
            <a:ext cx="219456" cy="61224"/>
          </a:xfrm>
          <a:prstGeom prst="line">
            <a:avLst/>
          </a:prstGeom>
          <a:ln w="27940">
            <a:solidFill>
              <a:srgbClr val="EF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1682496" y="5133381"/>
            <a:ext cx="219456" cy="63194"/>
          </a:xfrm>
          <a:prstGeom prst="line">
            <a:avLst/>
          </a:prstGeom>
          <a:ln w="27940">
            <a:solidFill>
              <a:srgbClr val="EF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1901952" y="5068154"/>
            <a:ext cx="219456" cy="65227"/>
          </a:xfrm>
          <a:prstGeom prst="line">
            <a:avLst/>
          </a:prstGeom>
          <a:ln w="27940">
            <a:solidFill>
              <a:srgbClr val="EF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2121408" y="5000828"/>
            <a:ext cx="219456" cy="67326"/>
          </a:xfrm>
          <a:prstGeom prst="line">
            <a:avLst/>
          </a:prstGeom>
          <a:ln w="27940">
            <a:solidFill>
              <a:srgbClr val="EF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2340864" y="4931336"/>
            <a:ext cx="219456" cy="69492"/>
          </a:xfrm>
          <a:prstGeom prst="line">
            <a:avLst/>
          </a:prstGeom>
          <a:ln w="27940">
            <a:solidFill>
              <a:srgbClr val="EF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2560320" y="4859609"/>
            <a:ext cx="219456" cy="71727"/>
          </a:xfrm>
          <a:prstGeom prst="line">
            <a:avLst/>
          </a:prstGeom>
          <a:ln w="27940">
            <a:solidFill>
              <a:srgbClr val="EF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2779776" y="4785573"/>
            <a:ext cx="219456" cy="74036"/>
          </a:xfrm>
          <a:prstGeom prst="line">
            <a:avLst/>
          </a:prstGeom>
          <a:ln w="27940">
            <a:solidFill>
              <a:srgbClr val="EF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2999232" y="4709156"/>
            <a:ext cx="219456" cy="76417"/>
          </a:xfrm>
          <a:prstGeom prst="line">
            <a:avLst/>
          </a:prstGeom>
          <a:ln w="27940">
            <a:solidFill>
              <a:srgbClr val="EF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3218688" y="4630280"/>
            <a:ext cx="219456" cy="78876"/>
          </a:xfrm>
          <a:prstGeom prst="line">
            <a:avLst/>
          </a:prstGeom>
          <a:ln w="27940">
            <a:solidFill>
              <a:srgbClr val="EF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3438144" y="4548866"/>
            <a:ext cx="219456" cy="81414"/>
          </a:xfrm>
          <a:prstGeom prst="line">
            <a:avLst/>
          </a:prstGeom>
          <a:ln w="27940">
            <a:solidFill>
              <a:srgbClr val="EF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3657600" y="4464833"/>
            <a:ext cx="219456" cy="84033"/>
          </a:xfrm>
          <a:prstGeom prst="line">
            <a:avLst/>
          </a:prstGeom>
          <a:ln w="27940">
            <a:solidFill>
              <a:srgbClr val="EF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3877056" y="4378097"/>
            <a:ext cx="219456" cy="86736"/>
          </a:xfrm>
          <a:prstGeom prst="line">
            <a:avLst/>
          </a:prstGeom>
          <a:ln w="27940">
            <a:solidFill>
              <a:srgbClr val="EF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4096512" y="4288570"/>
            <a:ext cx="219456" cy="89527"/>
          </a:xfrm>
          <a:prstGeom prst="line">
            <a:avLst/>
          </a:prstGeom>
          <a:ln w="27940">
            <a:solidFill>
              <a:srgbClr val="EF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4315968" y="4196162"/>
            <a:ext cx="219456" cy="92408"/>
          </a:xfrm>
          <a:prstGeom prst="line">
            <a:avLst/>
          </a:prstGeom>
          <a:ln w="27940">
            <a:solidFill>
              <a:srgbClr val="EF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4535424" y="4100781"/>
            <a:ext cx="219456" cy="95381"/>
          </a:xfrm>
          <a:prstGeom prst="line">
            <a:avLst/>
          </a:prstGeom>
          <a:ln w="27940">
            <a:solidFill>
              <a:srgbClr val="EF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4754880" y="4002332"/>
            <a:ext cx="219456" cy="98449"/>
          </a:xfrm>
          <a:prstGeom prst="line">
            <a:avLst/>
          </a:prstGeom>
          <a:ln w="27940">
            <a:solidFill>
              <a:srgbClr val="EF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4974336" y="3900715"/>
            <a:ext cx="219456" cy="101617"/>
          </a:xfrm>
          <a:prstGeom prst="line">
            <a:avLst/>
          </a:prstGeom>
          <a:ln w="27940">
            <a:solidFill>
              <a:srgbClr val="EF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5193792" y="3795829"/>
            <a:ext cx="219456" cy="104886"/>
          </a:xfrm>
          <a:prstGeom prst="line">
            <a:avLst/>
          </a:prstGeom>
          <a:ln w="27940">
            <a:solidFill>
              <a:srgbClr val="EF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5413248" y="3687568"/>
            <a:ext cx="219456" cy="108261"/>
          </a:xfrm>
          <a:prstGeom prst="line">
            <a:avLst/>
          </a:prstGeom>
          <a:ln w="27940">
            <a:solidFill>
              <a:srgbClr val="EF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5632704" y="3575824"/>
            <a:ext cx="219456" cy="111744"/>
          </a:xfrm>
          <a:prstGeom prst="line">
            <a:avLst/>
          </a:prstGeom>
          <a:ln w="27940">
            <a:solidFill>
              <a:srgbClr val="EF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5852160" y="3460485"/>
            <a:ext cx="219456" cy="115339"/>
          </a:xfrm>
          <a:prstGeom prst="line">
            <a:avLst/>
          </a:prstGeom>
          <a:ln w="27940">
            <a:solidFill>
              <a:srgbClr val="EF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6071616" y="3341435"/>
            <a:ext cx="219456" cy="119050"/>
          </a:xfrm>
          <a:prstGeom prst="line">
            <a:avLst/>
          </a:prstGeom>
          <a:ln w="27940">
            <a:solidFill>
              <a:srgbClr val="EF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6291072" y="3218555"/>
            <a:ext cx="219456" cy="122880"/>
          </a:xfrm>
          <a:prstGeom prst="line">
            <a:avLst/>
          </a:prstGeom>
          <a:ln w="27940">
            <a:solidFill>
              <a:srgbClr val="EF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6510528" y="3091721"/>
            <a:ext cx="219456" cy="126834"/>
          </a:xfrm>
          <a:prstGeom prst="line">
            <a:avLst/>
          </a:prstGeom>
          <a:ln w="27940">
            <a:solidFill>
              <a:srgbClr val="EF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6729984" y="2960807"/>
            <a:ext cx="219456" cy="130914"/>
          </a:xfrm>
          <a:prstGeom prst="line">
            <a:avLst/>
          </a:prstGeom>
          <a:ln w="27940">
            <a:solidFill>
              <a:srgbClr val="EF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6949440" y="2825681"/>
            <a:ext cx="219456" cy="135126"/>
          </a:xfrm>
          <a:prstGeom prst="line">
            <a:avLst/>
          </a:prstGeom>
          <a:ln w="27940">
            <a:solidFill>
              <a:srgbClr val="EF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7168896" y="2686207"/>
            <a:ext cx="219456" cy="139474"/>
          </a:xfrm>
          <a:prstGeom prst="line">
            <a:avLst/>
          </a:prstGeom>
          <a:ln w="27940">
            <a:solidFill>
              <a:srgbClr val="EF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7388352" y="2542246"/>
            <a:ext cx="219456" cy="143961"/>
          </a:xfrm>
          <a:prstGeom prst="line">
            <a:avLst/>
          </a:prstGeom>
          <a:ln w="27940">
            <a:solidFill>
              <a:srgbClr val="EF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7607808" y="2393653"/>
            <a:ext cx="219456" cy="148593"/>
          </a:xfrm>
          <a:prstGeom prst="line">
            <a:avLst/>
          </a:prstGeom>
          <a:ln w="27940">
            <a:solidFill>
              <a:srgbClr val="EF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7827264" y="2240279"/>
            <a:ext cx="219456" cy="153374"/>
          </a:xfrm>
          <a:prstGeom prst="line">
            <a:avLst/>
          </a:prstGeom>
          <a:ln w="27940">
            <a:solidFill>
              <a:srgbClr val="EF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Rounded Rectangle 106"/>
          <p:cNvSpPr/>
          <p:nvPr/>
        </p:nvSpPr>
        <p:spPr>
          <a:xfrm>
            <a:off x="8641080" y="1874519"/>
            <a:ext cx="3017520" cy="39319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869680" y="20116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8D1B8"/>
                </a:solidFill>
                <a:latin typeface="Microsoft YaHei"/>
              </a:rPr>
              <a:t>图例与含义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915400" y="2587752"/>
            <a:ext cx="27432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9281160" y="24688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38D1B8"/>
                </a:solidFill>
                <a:latin typeface="Microsoft YaHei"/>
              </a:rPr>
              <a:t>模型规模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281160" y="2761488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FB5C9"/>
                </a:solidFill>
                <a:latin typeface="Microsoft YaHei"/>
              </a:rPr>
              <a:t>参数量 / 上下文 / 推理预算 三轴齐升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915400" y="3639312"/>
            <a:ext cx="274320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281160" y="352044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2C55C"/>
                </a:solidFill>
                <a:latin typeface="Microsoft YaHei"/>
              </a:rPr>
              <a:t>算子复杂度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281160" y="3813048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FB5C9"/>
                </a:solidFill>
                <a:latin typeface="Microsoft YaHei"/>
              </a:rPr>
              <a:t>Attention 变体 + 融合 + 动态 shape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915400" y="4690872"/>
            <a:ext cx="274320" cy="73152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9281160" y="45720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F6E6E"/>
                </a:solidFill>
                <a:latin typeface="Microsoft YaHei"/>
              </a:rPr>
              <a:t>硬件代际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281160" y="4864608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FB5C9"/>
                </a:solidFill>
                <a:latin typeface="Microsoft YaHei"/>
              </a:rPr>
              <a:t>SIMT → SIMD → 多 NPU 路径分化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22960" y="5989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6E869F"/>
                </a:solidFill>
                <a:latin typeface="Microsoft YaHei"/>
              </a:rPr>
              <a:t>示意图：表达三股发散趋势的相对加速关系，不代表精确数值。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A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07 / 38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A4 · 传统路径为什么不够用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Failure modes of the status quo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5440680" cy="15544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155448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38528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8D1B8"/>
                </a:solidFill>
                <a:latin typeface="Microsoft YaHei"/>
              </a:rPr>
              <a:t>人工手写 + autotune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377440"/>
            <a:ext cx="49834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不可扩展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跨硬件不可迁移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知识沉淀依赖个人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828800"/>
            <a:ext cx="5440680" cy="15544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828800"/>
            <a:ext cx="128016" cy="155448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938528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2C55C"/>
                </a:solidFill>
                <a:latin typeface="Microsoft YaHei"/>
              </a:rPr>
              <a:t>图编译器 (XLA / Inductor / TVM)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377440"/>
            <a:ext cx="49834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高层有效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深层决策仍依赖启发式 / 专家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tile / pipeline / 寄存器分配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547872"/>
            <a:ext cx="5440680" cy="15544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547872"/>
            <a:ext cx="128016" cy="155448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65760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F6E6E"/>
                </a:solidFill>
                <a:latin typeface="Microsoft YaHei"/>
              </a:rPr>
              <a:t>LLM 直写 Triton / CUDA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096512"/>
            <a:ext cx="49834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正确性差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token 成本高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可维护性差 + 知识无法跨 kernel 复用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3547872"/>
            <a:ext cx="5440680" cy="15544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80" y="3547872"/>
            <a:ext cx="128016" cy="155448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365760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B8FF"/>
                </a:solidFill>
                <a:latin typeface="Microsoft YaHei"/>
              </a:rPr>
              <a:t>库 / 编译器黑盒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096512"/>
            <a:ext cx="49834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长尾覆盖不全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不可解释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跨硬件 / 定制扩展受限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349240"/>
            <a:ext cx="11109960" cy="105156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5349240"/>
            <a:ext cx="128016" cy="105156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449824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结论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7607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单点工具不再够用——「能力底座 + 问题域复杂度」共同迫使我们重新思考算子工程栈。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08 / 38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A5 · 这份洞察的输出形态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六段式：案例 → 趋势 → 进展 → 难题 → 目标态 → 构建方案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103120"/>
            <a:ext cx="169164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1691640" cy="7315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1691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7AB8FF"/>
                </a:solidFill>
                <a:latin typeface="Microsoft YaHei"/>
              </a:rPr>
              <a:t>案例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34640"/>
            <a:ext cx="1508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9FB5C9"/>
                </a:solidFill>
                <a:latin typeface="Microsoft YaHei"/>
              </a:rPr>
              <a:t>7 个代表系统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249424" y="2697480"/>
            <a:ext cx="146304" cy="274320"/>
          </a:xfrm>
          <a:prstGeom prst="rightArrow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404872" y="2103120"/>
            <a:ext cx="169164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04872" y="2103120"/>
            <a:ext cx="169164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04872" y="2331720"/>
            <a:ext cx="1691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38D1B8"/>
                </a:solidFill>
                <a:latin typeface="Microsoft YaHei"/>
              </a:rPr>
              <a:t>趋势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96312" y="2834640"/>
            <a:ext cx="1508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9FB5C9"/>
                </a:solidFill>
                <a:latin typeface="Microsoft YaHei"/>
              </a:rPr>
              <a:t>T1–T6 收敛方向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105656" y="2697480"/>
            <a:ext cx="146304" cy="274320"/>
          </a:xfrm>
          <a:prstGeom prst="rightArrow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61104" y="2103120"/>
            <a:ext cx="169164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61104" y="2103120"/>
            <a:ext cx="1691640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61104" y="2331720"/>
            <a:ext cx="1691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F2C55C"/>
                </a:solidFill>
                <a:latin typeface="Microsoft YaHei"/>
              </a:rPr>
              <a:t>进展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52544" y="2834640"/>
            <a:ext cx="1508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9FB5C9"/>
                </a:solidFill>
                <a:latin typeface="Microsoft YaHei"/>
              </a:rPr>
              <a:t>G1–G6 已验证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961888" y="2697480"/>
            <a:ext cx="146304" cy="274320"/>
          </a:xfrm>
          <a:prstGeom prst="rightArrow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17336" y="2103120"/>
            <a:ext cx="169164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17336" y="2103120"/>
            <a:ext cx="1691640" cy="73152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17336" y="2331720"/>
            <a:ext cx="1691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EF6E6E"/>
                </a:solidFill>
                <a:latin typeface="Microsoft YaHei"/>
              </a:rPr>
              <a:t>难题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834640"/>
            <a:ext cx="1508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9FB5C9"/>
                </a:solidFill>
                <a:latin typeface="Microsoft YaHei"/>
              </a:rPr>
              <a:t>H1–H9 待解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818120" y="2697480"/>
            <a:ext cx="146304" cy="274320"/>
          </a:xfrm>
          <a:prstGeom prst="rightArrow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973568" y="2103120"/>
            <a:ext cx="169164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73568" y="2103120"/>
            <a:ext cx="1691640" cy="73152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73568" y="2331720"/>
            <a:ext cx="1691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B88AF0"/>
                </a:solidFill>
                <a:latin typeface="Microsoft YaHei"/>
              </a:rPr>
              <a:t>目标态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65008" y="2834640"/>
            <a:ext cx="1508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9FB5C9"/>
                </a:solidFill>
                <a:latin typeface="Microsoft YaHei"/>
              </a:rPr>
              <a:t>F1–F7 北极星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9674352" y="2697480"/>
            <a:ext cx="146304" cy="274320"/>
          </a:xfrm>
          <a:prstGeom prst="rightArrow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29800" y="2103120"/>
            <a:ext cx="169164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829800" y="2103120"/>
            <a:ext cx="169164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29800" y="2331720"/>
            <a:ext cx="1691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38D1B8"/>
                </a:solidFill>
                <a:latin typeface="Microsoft YaHei"/>
              </a:rPr>
              <a:t>构建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21240" y="2834640"/>
            <a:ext cx="1508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9FB5C9"/>
                </a:solidFill>
                <a:latin typeface="Microsoft YaHei"/>
              </a:rPr>
              <a:t>Arke 的回答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4114800"/>
            <a:ext cx="11109960" cy="219456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4114800"/>
            <a:ext cx="128016" cy="219456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" y="425196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2C55C"/>
                </a:solidFill>
                <a:latin typeface="Consolas"/>
              </a:rPr>
              <a:t>判断准则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4663440"/>
            <a:ext cx="106984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400">
                <a:solidFill>
                  <a:srgbClr val="EAF2FA"/>
                </a:solidFill>
                <a:latin typeface="Microsoft YaHei"/>
              </a:rPr>
              <a:t>不止「看热闹」——每条趋势都要回答：工程上该不该跟、怎么跟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400">
                <a:solidFill>
                  <a:srgbClr val="EAF2FA"/>
                </a:solidFill>
                <a:latin typeface="Microsoft YaHei"/>
              </a:rPr>
              <a:t>用六维坐标系评估：正确性 / 性能 / 成本 / 通用性 / 可移植性 / 可运营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400">
                <a:solidFill>
                  <a:srgbClr val="EAF2FA"/>
                </a:solidFill>
                <a:latin typeface="Microsoft YaHei"/>
              </a:rPr>
              <a:t>目标是给出「可落地的范式判断」，而不是论文综述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09 / 38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7AB8FF"/>
                </a:solidFill>
                <a:latin typeface="Consolas"/>
              </a:rPr>
              <a:t>PART B · INDUSTRY TRENDS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EAF2FA"/>
                </a:solidFill>
                <a:latin typeface="Microsoft YaHei"/>
              </a:rPr>
              <a:t>业界趋势：从 LLM-driven kernel 看技术走向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114800"/>
            <a:ext cx="10515600" cy="12801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4114800"/>
            <a:ext cx="128016" cy="128016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25196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9FB5C9"/>
                </a:solidFill>
                <a:latin typeface="Microsoft YaHei"/>
              </a:rPr>
              <a:t>7 个代表案例 · 趋势 T1–T6 · 进展 G1–G6 · 难题 H1–H9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10 / 38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B1 · 全景图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LLM-driven kernel 工作链路：Spec/IR ↔ Agent ↔ Toolchain ↔ HW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828800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128016" cy="96012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93852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88AF0"/>
                </a:solidFill>
                <a:latin typeface="Microsoft YaHei"/>
              </a:rPr>
              <a:t>① Spec / IR 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kernel 表达 · 决策表达 · 知识表达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2139696"/>
            <a:ext cx="5669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1">
                <a:solidFill>
                  <a:srgbClr val="EAF2FA"/>
                </a:solidFill>
                <a:latin typeface="Microsoft YaHei"/>
              </a:rPr>
              <a:t>案例：CuTeGen / Arke .ak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943600" y="2788920"/>
            <a:ext cx="274320" cy="109728"/>
          </a:xfrm>
          <a:prstGeom prst="downArrow">
            <a:avLst/>
          </a:prstGeom>
          <a:solidFill>
            <a:srgbClr val="9F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2898648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898648"/>
            <a:ext cx="128016" cy="9601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00837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8D1B8"/>
                </a:solidFill>
                <a:latin typeface="Microsoft YaHei"/>
              </a:rPr>
              <a:t>② LLM Agent 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401568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规划 · 决策 · 反思 · 回滚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3209544"/>
            <a:ext cx="5669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1">
                <a:solidFill>
                  <a:srgbClr val="EAF2FA"/>
                </a:solidFill>
                <a:latin typeface="Microsoft YaHei"/>
              </a:rPr>
              <a:t>案例：KernelAgent / AVO / KernelFalcon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5943600" y="3858768"/>
            <a:ext cx="274320" cy="109728"/>
          </a:xfrm>
          <a:prstGeom prst="downArrow">
            <a:avLst/>
          </a:prstGeom>
          <a:solidFill>
            <a:srgbClr val="9F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3968496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3968496"/>
            <a:ext cx="128016" cy="9601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07822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2C55C"/>
                </a:solidFill>
                <a:latin typeface="Microsoft YaHei"/>
              </a:rPr>
              <a:t>③ Toolchain 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471416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compile · profile · verify · 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4279392"/>
            <a:ext cx="5669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1">
                <a:solidFill>
                  <a:srgbClr val="EAF2FA"/>
                </a:solidFill>
                <a:latin typeface="Microsoft YaHei"/>
              </a:rPr>
              <a:t>案例：KernelEvolve / AutoKernel / K-Search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5943600" y="4928616"/>
            <a:ext cx="274320" cy="109728"/>
          </a:xfrm>
          <a:prstGeom prst="downArrow">
            <a:avLst/>
          </a:prstGeom>
          <a:solidFill>
            <a:srgbClr val="9F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0080" y="5038344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5038344"/>
            <a:ext cx="128016" cy="96012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514807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F6E6E"/>
                </a:solidFill>
                <a:latin typeface="Microsoft YaHei"/>
              </a:rPr>
              <a:t>④ Hardware 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5541264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NVIDIA · Ascend · AMD · 多 NPU / DSA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0" y="5349240"/>
            <a:ext cx="5669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1">
                <a:solidFill>
                  <a:srgbClr val="EAF2FA"/>
                </a:solidFill>
                <a:latin typeface="Microsoft YaHei"/>
              </a:rPr>
              <a:t>案例：AscendKernelGen 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9FB5C9"/>
                </a:solidFill>
                <a:latin typeface="Microsoft YaHei"/>
              </a:rPr>
              <a:t>案例只是证据，趋势才是主线——下一节用 7 个案例填到这张图的不同位置上。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11 / 38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B2 · 7 个代表案例索引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一页一个，落点是「它代表了什么趋势」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11109960" cy="5029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47672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F2C55C"/>
                </a:solidFill>
                <a:latin typeface="Consolas"/>
              </a:rPr>
              <a:t>#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947672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F2C55C"/>
                </a:solidFill>
                <a:latin typeface="Consolas"/>
              </a:rPr>
              <a:t>案例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1947672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F2C55C"/>
                </a:solidFill>
                <a:latin typeface="Consolas"/>
              </a:rPr>
              <a:t>来源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1947672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F2C55C"/>
                </a:solidFill>
                <a:latin typeface="Consolas"/>
              </a:rPr>
              <a:t>一句话定位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1947672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F2C55C"/>
                </a:solidFill>
                <a:latin typeface="Consolas"/>
              </a:rPr>
              <a:t>代表趋势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377440"/>
            <a:ext cx="11109960" cy="4572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377440"/>
            <a:ext cx="73152" cy="4572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468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46888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EAF2FA"/>
                </a:solidFill>
                <a:latin typeface="Microsoft YaHei"/>
              </a:rPr>
              <a:t>KernelEvolve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24688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Meta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246888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EAF2FA"/>
                </a:solidFill>
                <a:latin typeface="Microsoft YaHei"/>
              </a:rPr>
              <a:t>生产级异构 + RAG + 搜索式优化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24688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38D1B8"/>
                </a:solidFill>
                <a:latin typeface="Consolas"/>
              </a:rPr>
              <a:t>T1 / T3 / T4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2880360"/>
            <a:ext cx="11109960" cy="457200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2880360"/>
            <a:ext cx="73152" cy="45720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971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7AB8FF"/>
                </a:solidFill>
                <a:latin typeface="Consolas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29718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EAF2FA"/>
                </a:solidFill>
                <a:latin typeface="Microsoft YaHei"/>
              </a:rPr>
              <a:t>KernelAgent / KernelFalcon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2971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PyTorch · Meta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297180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EAF2FA"/>
                </a:solidFill>
                <a:latin typeface="Microsoft YaHei"/>
              </a:rPr>
              <a:t>Deep Agents 分层 + 硬件信号 + 严格门禁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2971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7AB8FF"/>
                </a:solidFill>
                <a:latin typeface="Consolas"/>
              </a:rPr>
              <a:t>T2 / T3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3383280"/>
            <a:ext cx="11109960" cy="4572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3383280"/>
            <a:ext cx="73152" cy="45720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34747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F2C55C"/>
                </a:solidFill>
                <a:latin typeface="Consolas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" y="347472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EAF2FA"/>
                </a:solidFill>
                <a:latin typeface="Microsoft YaHei"/>
              </a:rPr>
              <a:t>AutoKernel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06240" y="34747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RightNow AI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5040" y="347472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EAF2FA"/>
                </a:solidFill>
                <a:latin typeface="Microsoft YaHei"/>
              </a:rPr>
              <a:t>autoresearch 循环 + Amdahl + 双后端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34747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2C55C"/>
                </a:solidFill>
                <a:latin typeface="Consolas"/>
              </a:rPr>
              <a:t>T1 / T2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3886200"/>
            <a:ext cx="11109960" cy="457200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3886200"/>
            <a:ext cx="73152" cy="45720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39776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88AF0"/>
                </a:solidFill>
                <a:latin typeface="Consolas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80160" y="39776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EAF2FA"/>
                </a:solidFill>
                <a:latin typeface="Microsoft YaHei"/>
              </a:rPr>
              <a:t>K-Search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06240" y="3977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UC Berkeley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5040" y="397764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EAF2FA"/>
                </a:solidFill>
                <a:latin typeface="Microsoft YaHei"/>
              </a:rPr>
              <a:t>World-Model 规划 + 策略/实现解耦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0" y="3977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B88AF0"/>
                </a:solidFill>
                <a:latin typeface="Consolas"/>
              </a:rPr>
              <a:t>T1 / T5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4389120"/>
            <a:ext cx="11109960" cy="4572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40" y="4389120"/>
            <a:ext cx="73152" cy="4572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7240" y="44805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80160" y="448056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EAF2FA"/>
                </a:solidFill>
                <a:latin typeface="Microsoft YaHei"/>
              </a:rPr>
              <a:t>AVO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06240" y="448056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NVIDIA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35040" y="448056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EAF2FA"/>
                </a:solidFill>
                <a:latin typeface="Microsoft YaHei"/>
              </a:rPr>
              <a:t>Agent-as-Variation-Operator + 长周期演化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0" y="448056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38D1B8"/>
                </a:solidFill>
                <a:latin typeface="Consolas"/>
              </a:rPr>
              <a:t>T1 / T2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48640" y="4892040"/>
            <a:ext cx="11109960" cy="457200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4892040"/>
            <a:ext cx="73152" cy="45720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7240" y="49834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EF6E6E"/>
                </a:solidFill>
                <a:latin typeface="Consolas"/>
              </a:rP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80160" y="498348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EAF2FA"/>
                </a:solidFill>
                <a:latin typeface="Microsoft YaHei"/>
              </a:rPr>
              <a:t>CuTeGen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06240" y="49834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U. Toronto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35040" y="498348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EAF2FA"/>
                </a:solidFill>
                <a:latin typeface="Microsoft YaHei"/>
              </a:rPr>
              <a:t>选稳定抽象层 (CuTe) + 单 kernel 渐进精炼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0" y="49834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EF6E6E"/>
                </a:solidFill>
                <a:latin typeface="Consolas"/>
              </a:rPr>
              <a:t>T4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48640" y="5394960"/>
            <a:ext cx="11109960" cy="4572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48640" y="5394960"/>
            <a:ext cx="73152" cy="45720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77240" y="54864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F2C55C"/>
                </a:solidFill>
                <a:latin typeface="Consolas"/>
              </a:rP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80160" y="54864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EAF2FA"/>
                </a:solidFill>
                <a:latin typeface="Microsoft YaHei"/>
              </a:rPr>
              <a:t>KernelGen-LM / AscendKernelGen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206240" y="54864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PCL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035040" y="548640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EAF2FA"/>
                </a:solidFill>
                <a:latin typeface="Microsoft YaHei"/>
              </a:rPr>
              <a:t>领域数据 + 领域模型 (SFT + RLEF)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058400" y="54864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2C55C"/>
                </a:solidFill>
                <a:latin typeface="Consolas"/>
              </a:rPr>
              <a:t>T6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12 / 38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B2.1 · 案例 1/7 · KernelEvolve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Meta · 2026　|　代表趋势：T1 / T3 / T4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5440680" cy="2148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214884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38528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8D1B8"/>
                </a:solidFill>
                <a:latin typeface="Microsoft YaHei"/>
              </a:rPr>
              <a:t>做了什么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77440"/>
            <a:ext cx="498348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在生产级 ranking infra 上做异构 kernel 生成与优化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搜索式优化：演化算法驱动迭代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RAG 注入硬件知识库（手册 / 经验 / 模板）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828800"/>
            <a:ext cx="5440680" cy="2148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828800"/>
            <a:ext cx="128016" cy="214884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938528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B8FF"/>
                </a:solidFill>
                <a:latin typeface="Microsoft YaHei"/>
              </a:rPr>
              <a:t>关键技术点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377440"/>
            <a:ext cx="498348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演化 + 验证 + 反馈三段式 loop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硬件知识库 RAG 检索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生产级异构 (CPU/GPU) 落地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42232"/>
            <a:ext cx="5440680" cy="2148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4142232"/>
            <a:ext cx="128016" cy="214884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25196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2C55C"/>
                </a:solidFill>
                <a:latin typeface="Microsoft YaHei"/>
              </a:rPr>
              <a:t>代表的趋势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690872"/>
            <a:ext cx="498348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搜索化：one-shot → 演化 / 规划 / MCTS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硬件信号化：profile / roofline / NCU 入循环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抽象层选择：稳定 + 可迭代的目标层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4142232"/>
            <a:ext cx="5440680" cy="2148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80" y="4142232"/>
            <a:ext cx="128016" cy="214884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425196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F6E6E"/>
                </a:solidFill>
                <a:latin typeface="Microsoft YaHei"/>
              </a:rPr>
              <a:t>它没解决什么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690872"/>
            <a:ext cx="498348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策略仍偏自由代码，可迁移性弱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知识库以文档为主，缺结构化决策资产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6355080"/>
            <a:ext cx="11109960" cy="457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 · 案例 1/7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13 / 38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B2.2 · 案例 2/7 · KernelAgent / KernelFalcon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PyTorch · Meta · 2025　|　代表趋势：T2 / T3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5440680" cy="2148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214884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38528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8D1B8"/>
                </a:solidFill>
                <a:latin typeface="Microsoft YaHei"/>
              </a:rPr>
              <a:t>做了什么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77440"/>
            <a:ext cx="498348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Deep Agents 分层编排：planner / coder / verifier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硬件信号驱动（NCU / roofline）进入决策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严格的正确性门禁与自动回滚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828800"/>
            <a:ext cx="5440680" cy="2148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828800"/>
            <a:ext cx="128016" cy="214884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938528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B8FF"/>
                </a:solidFill>
                <a:latin typeface="Microsoft YaHei"/>
              </a:rPr>
              <a:t>关键技术点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377440"/>
            <a:ext cx="498348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Multi-agent orchestration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硬件 profile 反馈循环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门禁式 commit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42232"/>
            <a:ext cx="5440680" cy="2148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4142232"/>
            <a:ext cx="128016" cy="214884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25196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2C55C"/>
                </a:solidFill>
                <a:latin typeface="Microsoft YaHei"/>
              </a:rPr>
              <a:t>代表的趋势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690872"/>
            <a:ext cx="498348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工具化：tool-use + harness + 可复现评测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硬件信号化：profile / roofline / NCU 入循环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4142232"/>
            <a:ext cx="5440680" cy="2148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80" y="4142232"/>
            <a:ext cx="128016" cy="214884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425196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F6E6E"/>
                </a:solidFill>
                <a:latin typeface="Microsoft YaHei"/>
              </a:rPr>
              <a:t>它没解决什么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690872"/>
            <a:ext cx="498348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策略仍是 Triton 代码，缺独立策略 IR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跨硬件迁移尚未系统化验证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6355080"/>
            <a:ext cx="11109960" cy="4572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 · 案例 2/7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14 / 38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B2.3 · 案例 3/7 · AutoKernel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RightNow AI · 2026　|　代表趋势：T1 / T2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5440680" cy="2148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214884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38528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8D1B8"/>
                </a:solidFill>
                <a:latin typeface="Microsoft YaHei"/>
              </a:rPr>
              <a:t>做了什么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77440"/>
            <a:ext cx="498348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autoresearch 风格的优化循环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Amdahl 优先级排序，集中精力到瓶颈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双后端：Triton 与 CUDA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828800"/>
            <a:ext cx="5440680" cy="2148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828800"/>
            <a:ext cx="128016" cy="214884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938528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B8FF"/>
                </a:solidFill>
                <a:latin typeface="Microsoft YaHei"/>
              </a:rPr>
              <a:t>关键技术点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377440"/>
            <a:ext cx="498348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瓶颈定位 + 优先级调度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工具化 (tool-use harness)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多后端代码生成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42232"/>
            <a:ext cx="5440680" cy="2148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4142232"/>
            <a:ext cx="128016" cy="214884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25196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2C55C"/>
                </a:solidFill>
                <a:latin typeface="Microsoft YaHei"/>
              </a:rPr>
              <a:t>代表的趋势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690872"/>
            <a:ext cx="498348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搜索化：one-shot → 演化 / 规划 / MCTS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工具化：tool-use + harness + 可复现评测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4142232"/>
            <a:ext cx="5440680" cy="2148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80" y="4142232"/>
            <a:ext cx="128016" cy="214884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425196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F6E6E"/>
                </a:solidFill>
                <a:latin typeface="Microsoft YaHei"/>
              </a:rPr>
              <a:t>它没解决什么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690872"/>
            <a:ext cx="498348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缺独立的策略层与符号 shape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知识沉淀仍以代码片段为主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6355080"/>
            <a:ext cx="11109960" cy="457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 · 案例 3/7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15 / 38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B2.4 · 案例 4/7 · K-Search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UC Berkeley · 2026　|　代表趋势：T1 / T5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5440680" cy="2148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214884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38528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8D1B8"/>
                </a:solidFill>
                <a:latin typeface="Microsoft YaHei"/>
              </a:rPr>
              <a:t>做了什么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77440"/>
            <a:ext cx="498348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World-Model 风格的规划式搜索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策略与实现解耦，搜索抽象决策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可处理非单调优化路径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828800"/>
            <a:ext cx="5440680" cy="2148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828800"/>
            <a:ext cx="128016" cy="214884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938528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B8FF"/>
                </a:solidFill>
                <a:latin typeface="Microsoft YaHei"/>
              </a:rPr>
              <a:t>关键技术点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377440"/>
            <a:ext cx="498348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World model + planning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策略 / 实现分离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状态空间剪枝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42232"/>
            <a:ext cx="5440680" cy="2148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4142232"/>
            <a:ext cx="128016" cy="214884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25196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2C55C"/>
                </a:solidFill>
                <a:latin typeface="Microsoft YaHei"/>
              </a:rPr>
              <a:t>代表的趋势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690872"/>
            <a:ext cx="498348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搜索化：one-shot → 演化 / 规划 / MCTS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知识资产化：rationale / playbook / 轨迹回放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4142232"/>
            <a:ext cx="5440680" cy="2148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80" y="4142232"/>
            <a:ext cx="128016" cy="214884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425196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F6E6E"/>
                </a:solidFill>
                <a:latin typeface="Microsoft YaHei"/>
              </a:rPr>
              <a:t>它没解决什么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690872"/>
            <a:ext cx="498348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硬件信号集成偏弱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尚未在生产级负载验证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6355080"/>
            <a:ext cx="11109960" cy="4572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 · 案例 4/7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16 / 38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B2.5 · 案例 5/7 · AVO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NVIDIA · 2026　|　代表趋势：T1 / T2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5440680" cy="2148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214884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38528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8D1B8"/>
                </a:solidFill>
                <a:latin typeface="Microsoft YaHei"/>
              </a:rPr>
              <a:t>做了什么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77440"/>
            <a:ext cx="498348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Agent-as-Variation-Operator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把演化算法的「变异算子」升级为自主 agent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支持长周期演化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828800"/>
            <a:ext cx="5440680" cy="2148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828800"/>
            <a:ext cx="128016" cy="214884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938528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B8FF"/>
                </a:solidFill>
                <a:latin typeface="Microsoft YaHei"/>
              </a:rPr>
              <a:t>关键技术点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377440"/>
            <a:ext cx="498348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Agent 化变异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多目标演化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长会话稳定性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42232"/>
            <a:ext cx="5440680" cy="2148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4142232"/>
            <a:ext cx="128016" cy="214884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25196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2C55C"/>
                </a:solidFill>
                <a:latin typeface="Microsoft YaHei"/>
              </a:rPr>
              <a:t>代表的趋势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690872"/>
            <a:ext cx="498348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搜索化：one-shot → 演化 / 规划 / MCTS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工具化：tool-use + harness + 可复现评测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4142232"/>
            <a:ext cx="5440680" cy="2148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80" y="4142232"/>
            <a:ext cx="128016" cy="214884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425196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F6E6E"/>
                </a:solidFill>
                <a:latin typeface="Microsoft YaHei"/>
              </a:rPr>
              <a:t>它没解决什么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690872"/>
            <a:ext cx="498348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缺统一策略 IR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结果可解释性 / @rationale 不足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6355080"/>
            <a:ext cx="11109960" cy="457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 · 案例 5/7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17 / 38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B2.6 · 案例 6/7 · CuTeGen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U. Toronto · 2026　|　代表趋势：T4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5440680" cy="2148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214884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38528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8D1B8"/>
                </a:solidFill>
                <a:latin typeface="Microsoft YaHei"/>
              </a:rPr>
              <a:t>做了什么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77440"/>
            <a:ext cx="498348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选 CuTe 作为「稳定抽象层」目标语言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单 kernel 渐进精炼（incremental refinement）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极低 token 成本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828800"/>
            <a:ext cx="5440680" cy="2148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828800"/>
            <a:ext cx="128016" cy="214884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938528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B8FF"/>
                </a:solidFill>
                <a:latin typeface="Microsoft YaHei"/>
              </a:rPr>
              <a:t>关键技术点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377440"/>
            <a:ext cx="498348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稳定抽象层 + 渐进精炼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Token 高效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面向 NVIDIA Hopper / Blackwell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42232"/>
            <a:ext cx="5440680" cy="2148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4142232"/>
            <a:ext cx="128016" cy="214884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25196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2C55C"/>
                </a:solidFill>
                <a:latin typeface="Microsoft YaHei"/>
              </a:rPr>
              <a:t>代表的趋势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690872"/>
            <a:ext cx="498348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抽象层选择：稳定 + 可迭代的目标层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4142232"/>
            <a:ext cx="5440680" cy="2148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80" y="4142232"/>
            <a:ext cx="128016" cy="214884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425196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F6E6E"/>
                </a:solidFill>
                <a:latin typeface="Microsoft YaHei"/>
              </a:rPr>
              <a:t>它没解决什么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690872"/>
            <a:ext cx="498348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强绑定 NVIDIA / CuTe 生态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跨硬件能力受限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6355080"/>
            <a:ext cx="11109960" cy="4572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 · 案例 6/7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18 / 38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B2.7 · 案例 7/7 · KernelGen-LM / AscendKernelGen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PCL · 2026　|　代表趋势：T6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5440680" cy="2148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214884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38528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8D1B8"/>
                </a:solidFill>
                <a:latin typeface="Microsoft YaHei"/>
              </a:rPr>
              <a:t>做了什么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77440"/>
            <a:ext cx="498348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面向专用 DSL 的领域数据 + 领域模型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SFT + RLEF 后训练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针对 Ascend 等专用硬件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828800"/>
            <a:ext cx="5440680" cy="2148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828800"/>
            <a:ext cx="128016" cy="214884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938528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B8FF"/>
                </a:solidFill>
                <a:latin typeface="Microsoft YaHei"/>
              </a:rPr>
              <a:t>关键技术点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377440"/>
            <a:ext cx="498348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领域数据集构建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RLEF (RL with execution feedback)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专用硬件适配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42232"/>
            <a:ext cx="5440680" cy="2148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4142232"/>
            <a:ext cx="128016" cy="214884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25196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2C55C"/>
                </a:solidFill>
                <a:latin typeface="Microsoft YaHei"/>
              </a:rPr>
              <a:t>代表的趋势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690872"/>
            <a:ext cx="498348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领域模型化：SFT + RLEF + 后训练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4142232"/>
            <a:ext cx="5440680" cy="2148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80" y="4142232"/>
            <a:ext cx="128016" cy="214884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425196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F6E6E"/>
                </a:solidFill>
                <a:latin typeface="Microsoft YaHei"/>
              </a:rPr>
              <a:t>它没解决什么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690872"/>
            <a:ext cx="498348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通用性受限于专用 DSL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工具链与决策协议尚未通用化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6355080"/>
            <a:ext cx="11109960" cy="457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 · 案例 7/7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19 / 38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B3 · 趋势归纳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业界正在收敛的 6 个方向（核心页）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3657600" cy="20574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20574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47672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8D1B8"/>
                </a:solidFill>
                <a:latin typeface="Consolas"/>
              </a:rPr>
              <a:t>T1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99339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搜索化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468880"/>
            <a:ext cx="3291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从 one-shot → 演化 / 规划 / MCTS 等结构化搜索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828800"/>
            <a:ext cx="3657600" cy="20574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1828800"/>
            <a:ext cx="128016" cy="205740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1947672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7AB8FF"/>
                </a:solidFill>
                <a:latin typeface="Consolas"/>
              </a:rPr>
              <a:t>T2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199339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工具化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68880"/>
            <a:ext cx="3291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tool-use + harness + 可复现评测=把 LLM 关进编译器/profiler 控制室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828800"/>
            <a:ext cx="3657600" cy="20574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6720" y="1828800"/>
            <a:ext cx="128016" cy="205740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1947672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2C55C"/>
                </a:solidFill>
                <a:latin typeface="Consolas"/>
              </a:rPr>
              <a:t>T3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199339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硬件信号化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2468880"/>
            <a:ext cx="3291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profile / roofline / NCU 反馈直接进入决策循环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50792"/>
            <a:ext cx="3657600" cy="20574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050792"/>
            <a:ext cx="128016" cy="205740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169664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B88AF0"/>
                </a:solidFill>
                <a:latin typeface="Consolas"/>
              </a:rPr>
              <a:t>T4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215384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抽象层选择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690872"/>
            <a:ext cx="3291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放弃直写 PTX，押注稳定可迭代的抽象层 (Triton/CuTe/DSL/IR)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97680" y="4050792"/>
            <a:ext cx="3657600" cy="20574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97680" y="4050792"/>
            <a:ext cx="128016" cy="205740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0" y="4169664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F6E6E"/>
                </a:solidFill>
                <a:latin typeface="Consolas"/>
              </a:rPr>
              <a:t>T5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4215384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知识资产化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4690872"/>
            <a:ext cx="3291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RAG + playbook + @rationale + 轨迹 → 经验从手感到资产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6720" y="4050792"/>
            <a:ext cx="3657600" cy="20574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046720" y="4050792"/>
            <a:ext cx="128016" cy="20574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1040" y="4169664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8D1B8"/>
                </a:solidFill>
                <a:latin typeface="Consolas"/>
              </a:rPr>
              <a:t>T6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52560" y="4215384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领域模型化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4690872"/>
            <a:ext cx="3291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SFT + RLEF + 后训练，让小/中模型在 kernel 域具备专家级判断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20 / 38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B4 · 已有的「好进展」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What's working — 客观陈述案例已经验证可行的部分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1110996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71323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8D1B8"/>
                </a:solidFill>
                <a:latin typeface="Consolas"/>
              </a:rPr>
              <a:t>G1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20" y="194767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正确性门禁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1947672"/>
            <a:ext cx="6400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数值等价 (numerical equivalence) 已成为业界标准做法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587752"/>
            <a:ext cx="11109960" cy="713232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587752"/>
            <a:ext cx="128016" cy="71323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752344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8D1B8"/>
                </a:solidFill>
                <a:latin typeface="Consolas"/>
              </a:rPr>
              <a:t>G2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20" y="2706624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并行探索 + 早停 + 预算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2706624"/>
            <a:ext cx="6400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多个工作验证有效；显著降低 token 与 wall-clock 成本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46704"/>
            <a:ext cx="1110996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46704"/>
            <a:ext cx="128016" cy="71323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511296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8D1B8"/>
                </a:solidFill>
                <a:latin typeface="Consolas"/>
              </a:rPr>
              <a:t>G3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20" y="3465576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硬件 profile 反馈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3465576"/>
            <a:ext cx="6400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进入决策循环后能稳定带来双位数性能提升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105656"/>
            <a:ext cx="11109960" cy="713232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105656"/>
            <a:ext cx="128016" cy="71323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270248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8D1B8"/>
                </a:solidFill>
                <a:latin typeface="Consolas"/>
              </a:rPr>
              <a:t>G4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20" y="4224528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稳定抽象层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4224528"/>
            <a:ext cx="6400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Triton / CuTe 等上的 LLM 生成已能落地生产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864608"/>
            <a:ext cx="1110996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4864608"/>
            <a:ext cx="128016" cy="71323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029200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8D1B8"/>
                </a:solidFill>
                <a:latin typeface="Consolas"/>
              </a:rPr>
              <a:t>G5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74520" y="498348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RAG + 知识库 + 后训练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74920" y="4983480"/>
            <a:ext cx="6400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让「专家直觉」开始可累计、可迁移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623560"/>
            <a:ext cx="11109960" cy="713232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623560"/>
            <a:ext cx="128016" cy="71323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5788152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8D1B8"/>
                </a:solidFill>
                <a:latin typeface="Consolas"/>
              </a:rPr>
              <a:t>G6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74520" y="574243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Agent 编排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74920" y="5742432"/>
            <a:ext cx="6400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分层 + 规划 + 回滚 让长会话稳定性显著改善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21 / 38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B5 · 仍待解决的「关键技术难题」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What's hard — H1–H9 (用统一编号便于后文对齐)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3657600" cy="13258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132588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38528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8D1B8"/>
                </a:solidFill>
                <a:latin typeface="Consolas"/>
              </a:rPr>
              <a:t>H1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194767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AF2FA"/>
                </a:solidFill>
                <a:latin typeface="Microsoft YaHei"/>
              </a:rPr>
              <a:t>策略可迁移性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95728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从自由代码抽出策略，变成可迁移、可检索资产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828800"/>
            <a:ext cx="3657600" cy="13258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1828800"/>
            <a:ext cx="128016" cy="132588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1938528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B8FF"/>
                </a:solidFill>
                <a:latin typeface="Consolas"/>
              </a:rPr>
              <a:t>H2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800" y="194767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AF2FA"/>
                </a:solidFill>
                <a:latin typeface="Microsoft YaHei"/>
              </a:rPr>
              <a:t>多级验证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395728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事后对拍 → 可剪枝多级门禁 V0/V1/V2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828800"/>
            <a:ext cx="3657600" cy="13258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6720" y="1828800"/>
            <a:ext cx="128016" cy="132588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1938528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2C55C"/>
                </a:solidFill>
                <a:latin typeface="Consolas"/>
              </a:rPr>
              <a:t>H3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194767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AF2FA"/>
                </a:solidFill>
                <a:latin typeface="Microsoft YaHei"/>
              </a:rPr>
              <a:t>动态 / 符号 shape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2395728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动态 shape 下泛化与不退化的同时保证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273552"/>
            <a:ext cx="3657600" cy="13258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3273552"/>
            <a:ext cx="128016" cy="132588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3832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88AF0"/>
                </a:solidFill>
                <a:latin typeface="Consolas"/>
              </a:rPr>
              <a:t>H4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8760" y="3392424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AF2FA"/>
                </a:solidFill>
                <a:latin typeface="Microsoft YaHei"/>
              </a:rPr>
              <a:t>跨硬件迁移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384048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NVIDIA → Ascend / AMD / NPU 的策略与知识复用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97680" y="3273552"/>
            <a:ext cx="3657600" cy="13258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97680" y="3273552"/>
            <a:ext cx="128016" cy="132588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0" y="33832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F6E6E"/>
                </a:solidFill>
                <a:latin typeface="Consolas"/>
              </a:rPr>
              <a:t>H5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57800" y="3392424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AF2FA"/>
                </a:solidFill>
                <a:latin typeface="Microsoft YaHei"/>
              </a:rPr>
              <a:t>模型级自治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384048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从单 kernel 到模型级 (bottleneck → 优化 → 回归)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6720" y="3273552"/>
            <a:ext cx="3657600" cy="13258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046720" y="3273552"/>
            <a:ext cx="128016" cy="132588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1040" y="33832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8D1B8"/>
                </a:solidFill>
                <a:latin typeface="Consolas"/>
              </a:rPr>
              <a:t>H6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06840" y="3392424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AF2FA"/>
                </a:solidFill>
                <a:latin typeface="Microsoft YaHei"/>
              </a:rPr>
              <a:t>Token / 预算治理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384048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长会话中预算 / 上下文 / 稳定性的可治理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4718304"/>
            <a:ext cx="3657600" cy="13258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48640" y="4718304"/>
            <a:ext cx="128016" cy="132588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4828032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B8FF"/>
                </a:solidFill>
                <a:latin typeface="Consolas"/>
              </a:rPr>
              <a:t>H7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08760" y="4837176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AF2FA"/>
                </a:solidFill>
                <a:latin typeface="Microsoft YaHei"/>
              </a:rPr>
              <a:t>后端天花板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" y="5285232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Triton 封顶 → 何时下沉 MLIR / LLVM 解锁深决策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97680" y="4718304"/>
            <a:ext cx="3657600" cy="13258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97680" y="4718304"/>
            <a:ext cx="128016" cy="132588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0" y="4828032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2C55C"/>
                </a:solidFill>
                <a:latin typeface="Consolas"/>
              </a:rPr>
              <a:t>H8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57800" y="4837176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AF2FA"/>
                </a:solidFill>
                <a:latin typeface="Microsoft YaHei"/>
              </a:rPr>
              <a:t>数据稀缺 / 领域模型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0" y="5285232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kernel × HW × profile 三元组数据稀缺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046720" y="4718304"/>
            <a:ext cx="3657600" cy="13258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046720" y="4718304"/>
            <a:ext cx="128016" cy="132588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21040" y="4828032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F6E6E"/>
                </a:solidFill>
                <a:latin typeface="Consolas"/>
              </a:rPr>
              <a:t>H9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06840" y="4837176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AF2FA"/>
                </a:solidFill>
                <a:latin typeface="Microsoft YaHei"/>
              </a:rPr>
              <a:t>评测可复现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40" y="5285232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缺乏统一 benchmark / 形状层级 / 基线协议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22 / 38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2C55C"/>
                </a:solidFill>
                <a:latin typeface="Consolas"/>
              </a:rPr>
              <a:t>TARGET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EAF2FA"/>
                </a:solidFill>
                <a:latin typeface="Microsoft YaHei"/>
              </a:rPr>
              <a:t>目标态总览：未来算子生成 / 调优技术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114800"/>
            <a:ext cx="10515600" cy="12801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4114800"/>
            <a:ext cx="128016" cy="128016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25196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9FB5C9"/>
                </a:solidFill>
                <a:latin typeface="Microsoft YaHei"/>
              </a:rPr>
              <a:t>北极星 · 7 大技术特征 F1–F7 · 对通用编程的启示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TARGET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23 / 38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S1 · 北极星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未来大模型算子生成 / 调优技术的目标态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10515600" cy="23774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828800"/>
            <a:ext cx="146304" cy="237744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9659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2C55C"/>
                </a:solidFill>
                <a:latin typeface="Consolas"/>
              </a:rPr>
              <a:t>目标态 · ONE-LINER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331720"/>
            <a:ext cx="10058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 i="0">
                <a:solidFill>
                  <a:srgbClr val="9FB5C9"/>
                </a:solidFill>
                <a:latin typeface="Microsoft YaHei"/>
              </a:rPr>
              <a:t>让 </a:t>
            </a:r>
            <a:r>
              <a:rPr sz="2200" b="1" i="0">
                <a:solidFill>
                  <a:srgbClr val="38D1B8"/>
                </a:solidFill>
                <a:latin typeface="Microsoft YaHei"/>
              </a:rPr>
              <a:t>任意 LLM </a:t>
            </a:r>
            <a:r>
              <a:rPr sz="2200" b="0" i="0">
                <a:solidFill>
                  <a:srgbClr val="9FB5C9"/>
                </a:solidFill>
                <a:latin typeface="Microsoft YaHei"/>
              </a:rPr>
              <a:t>在</a:t>
            </a:r>
            <a:r>
              <a:rPr sz="2200" b="1" i="0">
                <a:solidFill>
                  <a:srgbClr val="F2C55C"/>
                </a:solidFill>
                <a:latin typeface="Microsoft YaHei"/>
              </a:rPr>
              <a:t>最小 token 预算</a:t>
            </a:r>
            <a:r>
              <a:rPr sz="2200" b="0" i="0">
                <a:solidFill>
                  <a:srgbClr val="9FB5C9"/>
                </a:solidFill>
                <a:latin typeface="Microsoft YaHei"/>
              </a:rPr>
              <a:t>下产出 </a:t>
            </a:r>
            <a:r>
              <a:rPr sz="2200" b="1" i="0">
                <a:solidFill>
                  <a:srgbClr val="EAF2FA"/>
                </a:solidFill>
                <a:latin typeface="Microsoft YaHei"/>
              </a:rPr>
              <a:t>正确、最优、可迁移、可演进 </a:t>
            </a:r>
            <a:r>
              <a:rPr sz="2200" b="0" i="0">
                <a:solidFill>
                  <a:srgbClr val="9FB5C9"/>
                </a:solidFill>
                <a:latin typeface="Microsoft YaHei"/>
              </a:rPr>
              <a:t>的算子。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572000"/>
            <a:ext cx="2148840" cy="146304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4572000"/>
            <a:ext cx="214884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983480"/>
            <a:ext cx="1874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38D1B8"/>
                </a:solidFill>
                <a:latin typeface="Consolas"/>
              </a:rPr>
              <a:t>#01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349240"/>
            <a:ext cx="1874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EAF2FA"/>
                </a:solidFill>
                <a:latin typeface="Microsoft YaHei"/>
              </a:rPr>
              <a:t>语义/策略分层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07208" y="4572000"/>
            <a:ext cx="2148840" cy="146304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07208" y="4572000"/>
            <a:ext cx="2148840" cy="7315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44368" y="4983480"/>
            <a:ext cx="1874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7AB8FF"/>
                </a:solidFill>
                <a:latin typeface="Consolas"/>
              </a:rPr>
              <a:t>#02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44368" y="5349240"/>
            <a:ext cx="1874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EAF2FA"/>
                </a:solidFill>
                <a:latin typeface="Microsoft YaHei"/>
              </a:rPr>
              <a:t>有界动作空间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0056" y="4572000"/>
            <a:ext cx="2148840" cy="146304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0056" y="4572000"/>
            <a:ext cx="2148840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57216" y="4983480"/>
            <a:ext cx="1874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F2C55C"/>
                </a:solidFill>
                <a:latin typeface="Consolas"/>
              </a:rPr>
              <a:t>#03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7216" y="5349240"/>
            <a:ext cx="1874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EAF2FA"/>
                </a:solidFill>
                <a:latin typeface="Microsoft YaHei"/>
              </a:rPr>
              <a:t>多级编译器验证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32904" y="4572000"/>
            <a:ext cx="2148840" cy="146304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32904" y="4572000"/>
            <a:ext cx="2148840" cy="73152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70064" y="4983480"/>
            <a:ext cx="1874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B88AF0"/>
                </a:solidFill>
                <a:latin typeface="Consolas"/>
              </a:rPr>
              <a:t>#04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70064" y="5349240"/>
            <a:ext cx="1874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EAF2FA"/>
                </a:solidFill>
                <a:latin typeface="Microsoft YaHei"/>
              </a:rPr>
              <a:t>结构化经验沉淀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445752" y="4572000"/>
            <a:ext cx="2148840" cy="146304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445752" y="4572000"/>
            <a:ext cx="2148840" cy="73152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82912" y="4983480"/>
            <a:ext cx="1874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EF6E6E"/>
                </a:solidFill>
                <a:latin typeface="Consolas"/>
              </a:rPr>
              <a:t>#05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82912" y="5349240"/>
            <a:ext cx="1874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EAF2FA"/>
                </a:solidFill>
                <a:latin typeface="Microsoft YaHei"/>
              </a:rPr>
              <a:t>跨硬件零迁移成本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Target State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24 / 38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S2 · 7 大技术特征 F1–F7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由趋势 T1–T6 + 难题 H1–H9 收敛而来——目标态的 spec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3657600" cy="21031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21031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38528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8D1B8"/>
                </a:solidFill>
                <a:latin typeface="Consolas"/>
              </a:rPr>
              <a:t>F1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94767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语义与策略分离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774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2C55C"/>
                </a:solidFill>
                <a:latin typeface="Consolas"/>
              </a:rPr>
              <a:t>T4 · T5 / H1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743200"/>
            <a:ext cx="32918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「做什么」是不可变数学；「怎么做」是可搜索决策。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828800"/>
            <a:ext cx="3657600" cy="21031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828800"/>
            <a:ext cx="128016" cy="210312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938528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7AB8FF"/>
                </a:solidFill>
                <a:latin typeface="Consolas"/>
              </a:rPr>
              <a:t>F2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194767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有界动作空间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3774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2C55C"/>
                </a:solidFill>
                <a:latin typeface="Consolas"/>
              </a:rPr>
              <a:t>T2 / H2 · H6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743200"/>
            <a:ext cx="32918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LLM 不写自由代码，只在编译器枚举的合法动作上选择。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1828800"/>
            <a:ext cx="3657600" cy="21031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1828800"/>
            <a:ext cx="128016" cy="21031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1938528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2C55C"/>
                </a:solidFill>
                <a:latin typeface="Consolas"/>
              </a:rPr>
              <a:t>F3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194767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多层 IR + 多级验证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3774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2C55C"/>
                </a:solidFill>
                <a:latin typeface="Consolas"/>
              </a:rPr>
              <a:t>T2 · T4 / H2 · H7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743200"/>
            <a:ext cx="32918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高层语义 → 策略 → 调度 → 指令；每层静态/数值/性能门禁。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078224"/>
            <a:ext cx="3657600" cy="21031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4078224"/>
            <a:ext cx="128016" cy="210312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4187952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B88AF0"/>
                </a:solidFill>
                <a:latin typeface="Consolas"/>
              </a:rPr>
              <a:t>F4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197096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硬件信号闭环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62686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2C55C"/>
                </a:solidFill>
                <a:latin typeface="Consolas"/>
              </a:rPr>
              <a:t>T3 / H3 · H4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992624"/>
            <a:ext cx="32918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profile / roofline / 占用率 / 寄存器压力进入决策循环。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4078224"/>
            <a:ext cx="3657600" cy="21031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97680" y="4078224"/>
            <a:ext cx="128016" cy="210312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4187952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EF6E6E"/>
                </a:solidFill>
                <a:latin typeface="Consolas"/>
              </a:rPr>
              <a:t>F5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0" y="4197096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结构化经验资产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462686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2C55C"/>
                </a:solidFill>
                <a:latin typeface="Consolas"/>
              </a:rPr>
              <a:t>T5 / H1 · H8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992624"/>
            <a:ext cx="32918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rationale / playbook / 轨迹 / 决策树成为一等公民。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46720" y="4078224"/>
            <a:ext cx="3657600" cy="21031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46720" y="4078224"/>
            <a:ext cx="128016" cy="21031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21040" y="4187952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8D1B8"/>
                </a:solidFill>
                <a:latin typeface="Consolas"/>
              </a:rPr>
              <a:t>F6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52560" y="4197096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跨硬件统一表达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462686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2C55C"/>
                </a:solidFill>
                <a:latin typeface="Consolas"/>
              </a:rPr>
              <a:t>T4 / H4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4992624"/>
            <a:ext cx="32918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同一份语义、同一套决策原语，target-aware 适配多硬件。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297680" y="6327648"/>
            <a:ext cx="3657600" cy="21031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297680" y="6327648"/>
            <a:ext cx="128016" cy="21031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0" y="6437376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2C55C"/>
                </a:solidFill>
                <a:latin typeface="Consolas"/>
              </a:rPr>
              <a:t>F7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03520" y="64465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可复现评测协议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0" y="687628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2C55C"/>
                </a:solidFill>
                <a:latin typeface="Consolas"/>
              </a:rPr>
              <a:t>T1 · T2 / H9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0" y="7242048"/>
            <a:ext cx="32918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统一形状层级 / baseline / 报表 schema，跨工作可比。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Target State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25 / 38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S3 · 对通用编程的启示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把 kernel 域的洞察推广到更广的软件工程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1110996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71323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8D1B8"/>
                </a:solidFill>
                <a:latin typeface="Consola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47672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EAF2FA"/>
                </a:solidFill>
                <a:latin typeface="Microsoft YaHei"/>
              </a:rPr>
              <a:t>编程语言会双层化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1947672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What / How 显式分离——适用于性能敏感 + 正确性敏感的所有领域：数据库执行计划 / 分布式调度 / 系统调优 / 形式化证明。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578608"/>
            <a:ext cx="11109960" cy="713232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578608"/>
            <a:ext cx="128016" cy="71323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743200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7AB8FF"/>
                </a:solidFill>
                <a:latin typeface="Consola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26974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EAF2FA"/>
                </a:solidFill>
                <a:latin typeface="Microsoft YaHei"/>
              </a:rPr>
              <a:t>模型不是代码生成器，而是决策代理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2697480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通用编程的下一步：在结构化决策空间里做选择；编译器 / 运行时 / 类型系统是它的「环境」。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28416"/>
            <a:ext cx="1110996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28416"/>
            <a:ext cx="128016" cy="71323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493008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2C55C"/>
                </a:solidFill>
                <a:latin typeface="Consola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344728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EAF2FA"/>
                </a:solidFill>
                <a:latin typeface="Microsoft YaHei"/>
              </a:rPr>
              <a:t>编译器 / 工具链承担「可验证 RL 环境」的角色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3447288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V0/V1/V2 三级验证不仅是 kernel 域的工程实践，更是让 LLM 在通用程序合成中「安全地试错」的范式。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78224"/>
            <a:ext cx="11109960" cy="713232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078224"/>
            <a:ext cx="128016" cy="713232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242816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B88AF0"/>
                </a:solidFill>
                <a:latin typeface="Consolas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4197096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EAF2FA"/>
                </a:solidFill>
                <a:latin typeface="Microsoft YaHei"/>
              </a:rPr>
              <a:t>经验资产化是 LLM 工程的真正护城河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4197096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@rationale / 轨迹 / 决策树可被检索、训练、跨团队复用——比生成的代码本身更有长期价值。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828032"/>
            <a:ext cx="1110996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4828032"/>
            <a:ext cx="128016" cy="713232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992624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EF6E6E"/>
                </a:solidFill>
                <a:latin typeface="Consolas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91640" y="4946904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EAF2FA"/>
                </a:solidFill>
                <a:latin typeface="Microsoft YaHei"/>
              </a:rPr>
              <a:t>跨平台 / 跨架构「零迁移成本」正在变得可能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4946904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抽象层稳定 + 策略可迁移 → 写一次跑多硬件，从图编译器口号变 LLM 时代现实。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577840"/>
            <a:ext cx="11109960" cy="713232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577840"/>
            <a:ext cx="128016" cy="71323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5742432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8D1B8"/>
                </a:solidFill>
                <a:latin typeface="Consolas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91640" y="5696712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EAF2FA"/>
                </a:solidFill>
                <a:latin typeface="Microsoft YaHei"/>
              </a:rPr>
              <a:t>评测协议是行业的公共物品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5696712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与其每家堆 demo，不如共同推动可复现的评测协议——这是行业从「PR 驱动」走向「工程化」的前提。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Target State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26 / 38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S4 · 从目标态走向构建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Agent 是手段，IR + 验证 + 编译栈才是底盘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10515600" cy="18288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828800"/>
            <a:ext cx="146304" cy="182880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011680"/>
            <a:ext cx="1005840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 i="0">
                <a:solidFill>
                  <a:srgbClr val="9FB5C9"/>
                </a:solidFill>
                <a:latin typeface="Microsoft YaHei"/>
              </a:rPr>
              <a:t>下一章给出一个 </a:t>
            </a:r>
            <a:r>
              <a:rPr sz="2200" b="1" i="0">
                <a:solidFill>
                  <a:srgbClr val="38D1B8"/>
                </a:solidFill>
                <a:latin typeface="Microsoft YaHei"/>
              </a:rPr>
              <a:t>可落地的总体设计</a:t>
            </a:r>
            <a:r>
              <a:rPr sz="2200" b="0" i="0">
                <a:solidFill>
                  <a:srgbClr val="9FB5C9"/>
                </a:solidFill>
                <a:latin typeface="Microsoft YaHei"/>
              </a:rPr>
              <a:t>，</a:t>
            </a:r>
            <a:r>
              <a:rPr sz="2200" b="1" i="0">
                <a:solidFill>
                  <a:srgbClr val="F2C55C"/>
                </a:solidFill>
                <a:latin typeface="Microsoft YaHei"/>
              </a:rPr>
              <a:t>而不是「再堆一个 agent」</a:t>
            </a:r>
            <a:r>
              <a:rPr sz="2200" b="0" i="0">
                <a:solidFill>
                  <a:srgbClr val="9FB5C9"/>
                </a:solidFill>
                <a:latin typeface="Microsoft YaHei"/>
              </a:rPr>
              <a:t>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14800"/>
            <a:ext cx="2697480" cy="20116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4114800"/>
            <a:ext cx="269748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343400"/>
            <a:ext cx="2423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38D1B8"/>
                </a:solidFill>
                <a:latin typeface="Microsoft YaHei"/>
              </a:rPr>
              <a:t>设计逻辑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892040"/>
            <a:ext cx="2423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9FB5C9"/>
                </a:solidFill>
                <a:latin typeface="Microsoft YaHei"/>
              </a:rPr>
              <a:t>5 条公理，每条对应 F1–F7 的一个或多个特征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4114800"/>
            <a:ext cx="2697480" cy="20116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37560" y="4114800"/>
            <a:ext cx="2697480" cy="7315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0440" y="4343400"/>
            <a:ext cx="2423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7AB8FF"/>
                </a:solidFill>
                <a:latin typeface="Microsoft YaHei"/>
              </a:rPr>
              <a:t>整体架构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4892040"/>
            <a:ext cx="2423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9FB5C9"/>
                </a:solidFill>
                <a:latin typeface="Microsoft YaHei"/>
              </a:rPr>
              <a:t>一张系统总图——四件套 + Benchmark 的协作关系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4114800"/>
            <a:ext cx="2697480" cy="20116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6480" y="4114800"/>
            <a:ext cx="2697480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0" y="4343400"/>
            <a:ext cx="2423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2C55C"/>
                </a:solidFill>
                <a:latin typeface="Microsoft YaHei"/>
              </a:rPr>
              <a:t>四件套 + Benchmark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892040"/>
            <a:ext cx="2423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9FB5C9"/>
                </a:solidFill>
                <a:latin typeface="Microsoft YaHei"/>
              </a:rPr>
              <a:t>Language · IR · Compiler · Agent · Benchmark 各一页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4114800"/>
            <a:ext cx="2697480" cy="20116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15400" y="4114800"/>
            <a:ext cx="2697480" cy="73152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98280" y="4343400"/>
            <a:ext cx="2423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B88AF0"/>
                </a:solidFill>
                <a:latin typeface="Microsoft YaHei"/>
              </a:rPr>
              <a:t>最终对齐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8280" y="4892040"/>
            <a:ext cx="2423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9FB5C9"/>
                </a:solidFill>
                <a:latin typeface="Microsoft YaHei"/>
              </a:rPr>
              <a:t>F1–F7 ↔ Arke 组件一一对应，闭环全 PPT 叙事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Target 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27 / 38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B88AF0"/>
                </a:solidFill>
                <a:latin typeface="Consolas"/>
              </a:rPr>
              <a:t>PART C · ARKE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EAF2FA"/>
                </a:solidFill>
                <a:latin typeface="Microsoft YaHei"/>
              </a:rPr>
              <a:t>Arke 的技术构建：设计逻辑 + 整体架构 + 四件套 + Benchmark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114800"/>
            <a:ext cx="10515600" cy="12801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4114800"/>
            <a:ext cx="128016" cy="128016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25196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9FB5C9"/>
                </a:solidFill>
                <a:latin typeface="Microsoft YaHei"/>
              </a:rPr>
              <a:t>5 条公理 · 一张总图 · Language / IR / Compiler / Agent / Benchmark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28 / 38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C1 · 设计逻辑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Arke 凭什么相信能逼近目标态——5 条设计公理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11109960" cy="7772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77724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8D1B8"/>
                </a:solidFill>
                <a:latin typeface="Consolas"/>
              </a:rPr>
              <a:t>公理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1947672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算子是「可数学验证」的对象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947672"/>
            <a:ext cx="4023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→ 必然要 语义/策略分离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469880" y="2029968"/>
            <a:ext cx="1051560" cy="384048"/>
          </a:xfrm>
          <a:prstGeom prst="roundRect">
            <a:avLst>
              <a:gd name="adj" fmla="val 40000"/>
            </a:avLst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69880" y="2029968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B1B2E"/>
                </a:solidFill>
                <a:latin typeface="Consolas"/>
              </a:rPr>
              <a:t>F1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660904"/>
            <a:ext cx="11109960" cy="777240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660904"/>
            <a:ext cx="128016" cy="77724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282549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7AB8FF"/>
                </a:solidFill>
                <a:latin typeface="Consolas"/>
              </a:rPr>
              <a:t>公理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2779776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LLM 是决策者，不是代码生成器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779776"/>
            <a:ext cx="4023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→ 必然要 Bounded Action Space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469880" y="2862072"/>
            <a:ext cx="1051560" cy="38404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69880" y="2862072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B1B2E"/>
                </a:solidFill>
                <a:latin typeface="Consolas"/>
              </a:rPr>
              <a:t>F2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493008"/>
            <a:ext cx="11109960" cy="7772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3493008"/>
            <a:ext cx="128016" cy="77724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365760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2C55C"/>
                </a:solidFill>
                <a:latin typeface="Consolas"/>
              </a:rPr>
              <a:t>公理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361188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编译器是「可验证 RL 环境」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611880"/>
            <a:ext cx="4023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→ 必然要 多层 IR + 多级验证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69880" y="3694176"/>
            <a:ext cx="1051560" cy="384048"/>
          </a:xfrm>
          <a:prstGeom prst="roundRect">
            <a:avLst>
              <a:gd name="adj" fmla="val 40000"/>
            </a:avLst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69880" y="3694176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B1B2E"/>
                </a:solidFill>
                <a:latin typeface="Consolas"/>
              </a:rPr>
              <a:t>F3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325112"/>
            <a:ext cx="11109960" cy="777240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4325112"/>
            <a:ext cx="128016" cy="77724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448970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B88AF0"/>
                </a:solidFill>
                <a:latin typeface="Consolas"/>
              </a:rPr>
              <a:t>公理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3120" y="4443984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经验必须能沉淀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4443984"/>
            <a:ext cx="4023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→ 必然要 @rationale 作为一等公民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469880" y="4526280"/>
            <a:ext cx="1051560" cy="38404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469880" y="4526280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B1B2E"/>
                </a:solidFill>
                <a:latin typeface="Consolas"/>
              </a:rPr>
              <a:t>F5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157216"/>
            <a:ext cx="11109960" cy="7772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48640" y="5157216"/>
            <a:ext cx="128016" cy="77724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5321808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F6E6E"/>
                </a:solidFill>
                <a:latin typeface="Consolas"/>
              </a:rPr>
              <a:t>公理 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03120" y="5276088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性能上限来自硬件，不是抽象层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5276088"/>
            <a:ext cx="4023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→ 必然要 渐进下沉到更深的 IR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469880" y="5358384"/>
            <a:ext cx="1051560" cy="384048"/>
          </a:xfrm>
          <a:prstGeom prst="roundRect">
            <a:avLst>
              <a:gd name="adj" fmla="val 40000"/>
            </a:avLst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469880" y="5358384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B1B2E"/>
                </a:solidFill>
                <a:latin typeface="Consolas"/>
              </a:rPr>
              <a:t>F3 + F6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63550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1">
                <a:solidFill>
                  <a:srgbClr val="9FB5C9"/>
                </a:solidFill>
                <a:latin typeface="Microsoft YaHei"/>
              </a:rPr>
              <a:t>设计公理 → 体系结构 → 四件套实现，逻辑自上而下闭合。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29 / 38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C2 · 整体架构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唯一的系统总图——一眼看懂 Arke 怎么承载目标态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128016" cy="9144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92024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38D1B8"/>
                </a:solidFill>
                <a:latin typeface="Consolas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901952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EAF2FA"/>
                </a:solidFill>
                <a:latin typeface="Microsoft YaHei"/>
              </a:rPr>
              <a:t>Arke Language (.ak)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286000"/>
            <a:ext cx="7772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kernel { 语义 }   strategy { 决策 + rationale 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195560" y="2057400"/>
            <a:ext cx="1188720" cy="384048"/>
          </a:xfrm>
          <a:prstGeom prst="roundRect">
            <a:avLst>
              <a:gd name="adj" fmla="val 40000"/>
            </a:avLst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95560" y="2057400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F1 · F5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943600" y="2697480"/>
            <a:ext cx="274320" cy="109728"/>
          </a:xfrm>
          <a:prstGeom prst="downArrow">
            <a:avLst/>
          </a:prstGeom>
          <a:solidFill>
            <a:srgbClr val="9F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80720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2807208"/>
            <a:ext cx="128016" cy="91440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2944368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7AB8FF"/>
                </a:solidFill>
                <a:latin typeface="Consolas"/>
              </a:rPr>
              <a:t>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292608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EAF2FA"/>
                </a:solidFill>
                <a:latin typeface="Microsoft YaHei"/>
              </a:rPr>
              <a:t>Arke IR — 4 层架构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3310128"/>
            <a:ext cx="7772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L4 SemanticIR · L3 StrategyIR · L2 ScheduleIR · L1 InstructionIR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95560" y="3081528"/>
            <a:ext cx="1188720" cy="38404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95560" y="3081528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F2 · F3 · F6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5943600" y="3721608"/>
            <a:ext cx="274320" cy="109728"/>
          </a:xfrm>
          <a:prstGeom prst="downArrow">
            <a:avLst/>
          </a:prstGeom>
          <a:solidFill>
            <a:srgbClr val="9F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383133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3831336"/>
            <a:ext cx="128016" cy="91440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3968496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2C55C"/>
                </a:solidFill>
                <a:latin typeface="Consolas"/>
              </a:rPr>
              <a:t>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7360" y="3950208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EAF2FA"/>
                </a:solidFill>
                <a:latin typeface="Microsoft YaHei"/>
              </a:rPr>
              <a:t>Compiler Toolchain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37360" y="4334256"/>
            <a:ext cx="7772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OpRegistry · PassPipeline · V0/V1/V2 · Backend (Triton/MLIR/LLVM)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95560" y="4105656"/>
            <a:ext cx="1188720" cy="384048"/>
          </a:xfrm>
          <a:prstGeom prst="roundRect">
            <a:avLst>
              <a:gd name="adj" fmla="val 40000"/>
            </a:avLst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95560" y="4105656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F3 · F4 · F6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5943600" y="4745736"/>
            <a:ext cx="274320" cy="109728"/>
          </a:xfrm>
          <a:prstGeom prst="downArrow">
            <a:avLst/>
          </a:prstGeom>
          <a:solidFill>
            <a:srgbClr val="9F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0080" y="485546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4855464"/>
            <a:ext cx="128016" cy="91440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4992624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B88AF0"/>
                </a:solidFill>
                <a:latin typeface="Consolas"/>
              </a:rPr>
              <a:t>④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37360" y="4974336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EAF2FA"/>
                </a:solidFill>
                <a:latin typeface="Microsoft YaHei"/>
              </a:rPr>
              <a:t>Agent Engineering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37360" y="5358384"/>
            <a:ext cx="7772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Tool-use 协议 · Bounded Action · Budget · Checkpoint/Rollback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95560" y="5129784"/>
            <a:ext cx="1188720" cy="38404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95560" y="5129784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F2 · F4 · F5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5879592"/>
            <a:ext cx="10881360" cy="6400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879592"/>
            <a:ext cx="128016" cy="64008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6044184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GPU / NPU 执行:　 NVIDIA · Ascend · AMD · 未来 NPU / DSA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" y="6656832"/>
            <a:ext cx="10881360" cy="36576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6656832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F2C55C"/>
                </a:solidFill>
                <a:latin typeface="Consolas"/>
              </a:rPr>
              <a:t>⑤ Benchmark 体系（横切的「度量层」）：BL × OT × ST × L  ·  多 baseline  ·  统一 reporting schema  ·  ⇒ F7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30 / 38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C3 · 组件 1 · Arke Language (.ak)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LLM 与人共同书写的「算子规约语言」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6766560" cy="4434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443484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6596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8D1B8"/>
                </a:solidFill>
                <a:latin typeface="Consolas"/>
              </a:rPr>
              <a:t>设计要点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468880"/>
            <a:ext cx="64008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kernel { ... } 写纯数学语义（无 tile / 无 thread / 无 memory）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strategy { ... } 写离散决策 + @rationale，每条决策可枚举/回滚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where 子句承载符号维度 / 动态 shape 约束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token 效率：相对手写 Triton 节省一个数量级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可读性：人和 LLM 同时可读、可写、可审计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通用算子抽象：算子通过 OpRegistry 注册，而非内建关键字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single source of truth：.ak 是规范，JSON IR 仅作序列化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1828800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79" y="1828800"/>
            <a:ext cx="4160520" cy="54864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26679" y="1956816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呼应趋势 / 进展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79" y="2331720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8D1B8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T4 · 稳定抽象层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8D1B8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T5 · 知识资产化（@rationale）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3355848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79" y="3355848"/>
            <a:ext cx="4160520" cy="54864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26679" y="3483864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F6E6E"/>
                </a:solidFill>
                <a:latin typeface="Consolas"/>
              </a:rPr>
              <a:t>回应难题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79" y="3858768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H1 · 策略可迁移：策略从代码中抽出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H3 · 动态 shape：where + symbolic dim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79" y="4882896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79" y="4882896"/>
            <a:ext cx="4160520" cy="54864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26679" y="5010912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2C55C"/>
                </a:solidFill>
                <a:latin typeface="Consolas"/>
              </a:rPr>
              <a:t>承载目标态特征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5385816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F1 · 语义 / 策略分离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F5 · 结构化经验资产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C · 组件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31 / 38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C4 · 组件 2 · Arke IR (多层架构)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LLM-Native 中间表示——4 层各有「LLM 参与度」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6766560" cy="4434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443484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6596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7AB8FF"/>
                </a:solidFill>
                <a:latin typeface="Consolas"/>
              </a:rPr>
              <a:t>设计要点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468880"/>
            <a:ext cx="64008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Layer 4 · SemanticIR：纯数学，硬件无关，作为正确性参考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Layer 3 · StrategyIR：决策 + @rationale，LLM 主战场，可 checkpoint / rollback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Layer 2 · ScheduleIR：thread / block / warp 映射，编译器主导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Layer 1 · InstructionIR：近 LLVM IR，全自动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决策空间是有界的，可枚举、可剪枝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每层之间下沉，配合 V0/V1/V2 三级验证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与 MLIR / LLVM 互操作而非依赖：可下沉、可绕过、可演进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符号维度（symbolic dim）贯穿 4 层，动态 shape 一等公民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1828800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79" y="1828800"/>
            <a:ext cx="4160520" cy="54864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26679" y="1956816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呼应趋势 / 进展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79" y="2331720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8D1B8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T2 · 工具化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8D1B8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T4 · 抽象层选择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3355848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79" y="3355848"/>
            <a:ext cx="4160520" cy="54864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26679" y="3483864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F6E6E"/>
                </a:solidFill>
                <a:latin typeface="Consolas"/>
              </a:rPr>
              <a:t>回应难题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79" y="3858768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H2 · 多级验证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H7 · 后端天花板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H3 · 动态 / 符号 shape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79" y="4882896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79" y="4882896"/>
            <a:ext cx="4160520" cy="54864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26679" y="5010912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2C55C"/>
                </a:solidFill>
                <a:latin typeface="Consolas"/>
              </a:rPr>
              <a:t>承载目标态特征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5385816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F2 · 有界动作空间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F3 · 多层 IR + 多级验证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F6 · 跨硬件统一表达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C · 组件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32 / 38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C5 · 组件 3 · Arke Compiler Toolchain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"Compiler-as-Verifier"——不优化，只把关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6766560" cy="4434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443484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6596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2C55C"/>
                </a:solidFill>
                <a:latin typeface="Consolas"/>
              </a:rPr>
              <a:t>设计要点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468880"/>
            <a:ext cx="64008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OpRegistry：算子单一事实源，新增算子的成本最小化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Pass Pipeline：可组合的 IR 变换基础设施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多级验证流水：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V0 静态 (&lt;1ms)：结构 / 类型 / 约束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V1 数值：与 NumPy / 参考实现对拍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V2 性能：编译 + profile，进入 LLM 反馈循环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Backend 抽象：Triton / MLIR / LLVM 可插拔，渐进下沉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硬件信号：roofline / occupancy / 寄存器压力可被 Agent 引用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1828800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79" y="1828800"/>
            <a:ext cx="4160520" cy="54864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26679" y="1956816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呼应趋势 / 进展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79" y="2331720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8D1B8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G1 · 正确性门禁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8D1B8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G3 · 硬件信号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8D1B8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G4 · 稳定抽象层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3355848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79" y="3355848"/>
            <a:ext cx="4160520" cy="54864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26679" y="3483864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F6E6E"/>
                </a:solidFill>
                <a:latin typeface="Consolas"/>
              </a:rPr>
              <a:t>回应难题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79" y="3858768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H2 · 多级验证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H4 · 跨硬件迁移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H7 · 后端天花板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79" y="4882896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79" y="4882896"/>
            <a:ext cx="4160520" cy="54864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26679" y="5010912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2C55C"/>
                </a:solidFill>
                <a:latin typeface="Consolas"/>
              </a:rPr>
              <a:t>承载目标态特征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5385816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F3 · 多级验证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F4 · 硬件信号闭环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F6 · 跨硬件统一表达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C · 组件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33 / 38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C6 · 组件 4 · Arke Agent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让任意 LLM 都能稳定开 kernel 的「工程化运行时」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6766560" cy="4434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443484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6596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B88AF0"/>
                </a:solidFill>
                <a:latin typeface="Consolas"/>
              </a:rPr>
              <a:t>设计要点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468880"/>
            <a:ext cx="64008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B88AF0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统一工具协议：analyze_compute / list_legal_actions / apply_decision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verify_correctness / compile_and_profile / observe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checkpoint / rollback / nudge / compact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B88AF0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Bounded Action Space：动作来自编译器枚举，杜绝幻觉式自由代码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B88AF0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预算 / 节流：budget · prompt cache · segmented compact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B88AF0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双模集成：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Mode A 内置 agent（CLI / Python API）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Mode B 外部 agent（Cursor / Claude Code 等可直接驱动）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B88AF0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轨迹 + rationale 沉淀：每次会话产出可检索 / 可训练资产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1828800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79" y="1828800"/>
            <a:ext cx="4160520" cy="54864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26679" y="1956816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呼应趋势 / 进展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79" y="2331720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8D1B8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T1 · 搜索化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8D1B8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T2 · 工具化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8D1B8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G6 · Agent 编排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3355848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79" y="3355848"/>
            <a:ext cx="4160520" cy="54864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26679" y="3483864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F6E6E"/>
                </a:solidFill>
                <a:latin typeface="Consolas"/>
              </a:rPr>
              <a:t>回应难题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79" y="3858768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H5 · 模型级闭环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H6 · token / 预算治理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H8 · 数据 / 领域模型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79" y="4882896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79" y="4882896"/>
            <a:ext cx="4160520" cy="54864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26679" y="5010912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2C55C"/>
                </a:solidFill>
                <a:latin typeface="Consolas"/>
              </a:rPr>
              <a:t>承载目标态特征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5385816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F2 · 有界动作空间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F4 · 硬件信号闭环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F5 · 经验资产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C · 组件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34 / 38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C7 · 组件 ⑤ · Benchmark 体系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「没有度量就没有优化」——Arke 的可复现评测协议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26974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269748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0574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38D1B8"/>
                </a:solidFill>
                <a:latin typeface="Consolas"/>
              </a:rPr>
              <a:t>BL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0604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EAF2FA"/>
                </a:solidFill>
                <a:latin typeface="Microsoft YaHei"/>
              </a:rPr>
              <a:t>Benchmark Level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24231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9FB5C9"/>
                </a:solidFill>
                <a:latin typeface="Microsoft YaHei"/>
              </a:rPr>
              <a:t>BL1 单算子正确性 → BL5 多算子融合 → BL6 模型 E2E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7560" y="1828800"/>
            <a:ext cx="26974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1828800"/>
            <a:ext cx="2697480" cy="7315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0440" y="20574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7AB8FF"/>
                </a:solidFill>
                <a:latin typeface="Consolas"/>
              </a:rPr>
              <a:t>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260604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EAF2FA"/>
                </a:solidFill>
                <a:latin typeface="Microsoft YaHei"/>
              </a:rPr>
              <a:t>Op Tier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971800"/>
            <a:ext cx="24231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9FB5C9"/>
                </a:solidFill>
                <a:latin typeface="Microsoft YaHei"/>
              </a:rPr>
              <a:t>OT0 elementwise → OT1 reduction → OT2 dense → OT3 fused → OT4 attention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1828800"/>
            <a:ext cx="26974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1828800"/>
            <a:ext cx="2697480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0574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F2C55C"/>
                </a:solidFill>
                <a:latin typeface="Consolas"/>
              </a:rPr>
              <a:t>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60604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EAF2FA"/>
                </a:solidFill>
                <a:latin typeface="Microsoft YaHei"/>
              </a:rPr>
              <a:t>Shape Tier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971800"/>
            <a:ext cx="24231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9FB5C9"/>
                </a:solidFill>
                <a:latin typeface="Microsoft YaHei"/>
              </a:rPr>
              <a:t>ST1 小 → ST2 中 → ST3 大 → ST4 极端（覆盖动态 shape）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1828800"/>
            <a:ext cx="26974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15400" y="1828800"/>
            <a:ext cx="2697480" cy="73152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98280" y="20574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B88AF0"/>
                </a:solidFill>
                <a:latin typeface="Consolas"/>
              </a:rPr>
              <a:t>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8280" y="260604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EAF2FA"/>
                </a:solidFill>
                <a:latin typeface="Microsoft YaHei"/>
              </a:rPr>
              <a:t>Layer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98280" y="2971800"/>
            <a:ext cx="24231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9FB5C9"/>
                </a:solidFill>
                <a:latin typeface="Microsoft YaHei"/>
              </a:rPr>
              <a:t>L1 单算子 · L2 融合 · L3 模型级 E2E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3931920"/>
            <a:ext cx="7040880" cy="23317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3931920"/>
            <a:ext cx="128016" cy="23317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4041648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2C55C"/>
                </a:solidFill>
                <a:latin typeface="Consolas"/>
              </a:rPr>
              <a:t>多 baseline 矩阵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4434840"/>
            <a:ext cx="65836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P0 cuBLAS / cuDNN —— 厂商极致基线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P1 FlagGems / Liger —— 开源 Triton 算子库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P3 PyTorch eager —— 通用基线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P4 torch.compile (Inductor) —— 图编译器基线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P5 Arke 自身（KernelCache）—— 自我回归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26679" y="3931920"/>
            <a:ext cx="3931920" cy="23317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26679" y="3931920"/>
            <a:ext cx="128016" cy="233172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28431" y="404164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F6E6E"/>
                </a:solidFill>
                <a:latin typeface="Consolas"/>
              </a:rPr>
              <a:t>回应 H9 · 承载 F7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28431" y="4434840"/>
            <a:ext cx="35204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50">
                <a:solidFill>
                  <a:srgbClr val="EAF2FA"/>
                </a:solidFill>
                <a:latin typeface="Microsoft YaHei"/>
              </a:rPr>
              <a:t>统一 reporting schema (JSON + Markdown)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50">
                <a:solidFill>
                  <a:srgbClr val="EAF2FA"/>
                </a:solidFill>
                <a:latin typeface="Microsoft YaHei"/>
              </a:rPr>
              <a:t>跨 baseline 横向可比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50">
                <a:solidFill>
                  <a:srgbClr val="EAF2FA"/>
                </a:solidFill>
                <a:latin typeface="Microsoft YaHei"/>
              </a:rPr>
              <a:t>跨硬件 / 跨版本可复现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50">
                <a:solidFill>
                  <a:srgbClr val="EAF2FA"/>
                </a:solidFill>
                <a:latin typeface="Microsoft YaHei"/>
              </a:rPr>
              <a:t>Arke 给行业的「公共物品提案」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C · 组件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35 / 38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C8 · 与目标态 F1–F7 最终对齐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Arke 不是「再做一个 agent」，而是把目标态变成可工程实现的栈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11109960" cy="45720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F2C55C"/>
                </a:solidFill>
                <a:latin typeface="Consolas"/>
              </a:rPr>
              <a:t>F#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92024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F2C55C"/>
                </a:solidFill>
                <a:latin typeface="Consolas"/>
              </a:rPr>
              <a:t>目标态特征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192024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F2C55C"/>
                </a:solidFill>
                <a:latin typeface="Consolas"/>
              </a:rPr>
              <a:t>Arke 承载组件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192024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F2C55C"/>
                </a:solidFill>
                <a:latin typeface="Consolas"/>
              </a:rPr>
              <a:t>一句话说明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331720"/>
            <a:ext cx="11109960" cy="5029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331720"/>
            <a:ext cx="91440" cy="5029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4505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F1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45059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EAF2FA"/>
                </a:solidFill>
                <a:latin typeface="Microsoft YaHei"/>
              </a:rPr>
              <a:t>语义 / 策略分离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45059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Consolas"/>
              </a:rPr>
              <a:t>Language + IR L4/L3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45059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EAF2FA"/>
                </a:solidFill>
                <a:latin typeface="Microsoft YaHei"/>
              </a:rPr>
              <a:t>.ak 双块 + IR 双层强约束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898648"/>
            <a:ext cx="11109960" cy="502920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2898648"/>
            <a:ext cx="91440" cy="50292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017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7AB8FF"/>
                </a:solidFill>
                <a:latin typeface="Consolas"/>
              </a:rPr>
              <a:t>F2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301752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EAF2FA"/>
                </a:solidFill>
                <a:latin typeface="Microsoft YaHei"/>
              </a:rPr>
              <a:t>有界动作空间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6240" y="301752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Consolas"/>
              </a:rPr>
              <a:t>IR L3 + Agent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301752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EAF2FA"/>
                </a:solidFill>
                <a:latin typeface="Microsoft YaHei"/>
              </a:rPr>
              <a:t>StrategyIR 决策可枚举；Agent 工具协议禁止自由代码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465576"/>
            <a:ext cx="11109960" cy="5029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3465576"/>
            <a:ext cx="91440" cy="5029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5844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F2C55C"/>
                </a:solidFill>
                <a:latin typeface="Consolas"/>
              </a:rPr>
              <a:t>F3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358444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EAF2FA"/>
                </a:solidFill>
                <a:latin typeface="Microsoft YaHei"/>
              </a:rPr>
              <a:t>多层 IR + 多级验证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3584448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Consolas"/>
              </a:rPr>
              <a:t>IR L4–L1 + Compiler V0/V1/V2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0" y="358444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EAF2FA"/>
                </a:solidFill>
                <a:latin typeface="Microsoft YaHei"/>
              </a:rPr>
              <a:t>四层下沉 × 三级验证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032504"/>
            <a:ext cx="11109960" cy="502920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8640" y="4032504"/>
            <a:ext cx="91440" cy="50292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415137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88AF0"/>
                </a:solidFill>
                <a:latin typeface="Consolas"/>
              </a:rPr>
              <a:t>F4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80160" y="415137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EAF2FA"/>
                </a:solidFill>
                <a:latin typeface="Microsoft YaHei"/>
              </a:rPr>
              <a:t>硬件信号闭环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06240" y="4151376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Consolas"/>
              </a:rPr>
              <a:t>Compiler + Agent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41513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EAF2FA"/>
                </a:solidFill>
                <a:latin typeface="Microsoft YaHei"/>
              </a:rPr>
              <a:t>compile_and_profile 反馈进入决策循环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4599432"/>
            <a:ext cx="11109960" cy="5029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4599432"/>
            <a:ext cx="91440" cy="50292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471830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EF6E6E"/>
                </a:solidFill>
                <a:latin typeface="Consolas"/>
              </a:rPr>
              <a:t>F5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80160" y="471830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EAF2FA"/>
                </a:solidFill>
                <a:latin typeface="Microsoft YaHei"/>
              </a:rPr>
              <a:t>结构化经验资产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06240" y="4718304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Consolas"/>
              </a:rPr>
              <a:t>Language @rationale + Agent 轨迹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0" y="4718304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EAF2FA"/>
                </a:solidFill>
                <a:latin typeface="Microsoft YaHei"/>
              </a:rPr>
              <a:t>一等公民 + 跨会话沉淀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5166360"/>
            <a:ext cx="11109960" cy="502920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48640" y="5166360"/>
            <a:ext cx="91440" cy="5029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5285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F6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80160" y="528523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EAF2FA"/>
                </a:solidFill>
                <a:latin typeface="Microsoft YaHei"/>
              </a:rPr>
              <a:t>跨硬件统一表达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06240" y="528523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Consolas"/>
              </a:rPr>
              <a:t>Language + IR + Backend 抽象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528523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EAF2FA"/>
                </a:solidFill>
                <a:latin typeface="Microsoft YaHei"/>
              </a:rPr>
              <a:t>单语义多 target；Triton / MLIR / LLVM 渐进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48640" y="5733288"/>
            <a:ext cx="11109960" cy="5029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5733288"/>
            <a:ext cx="91440" cy="5029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7240" y="58521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F2C55C"/>
                </a:solidFill>
                <a:latin typeface="Consolas"/>
              </a:rPr>
              <a:t>F7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80160" y="585216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EAF2FA"/>
                </a:solidFill>
                <a:latin typeface="Microsoft YaHei"/>
              </a:rPr>
              <a:t>可复现评测协议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06240" y="58521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Consolas"/>
              </a:rPr>
              <a:t>Benchmark (BL/OT/ST/L)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0" y="5852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EAF2FA"/>
                </a:solidFill>
                <a:latin typeface="Microsoft YaHei"/>
              </a:rPr>
              <a:t>多 baseline + 统一 schema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36 / 38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C9 · 讨论与 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5 个研讨引导问题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11109960" cy="84124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841248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8D1B8"/>
                </a:solidFill>
                <a:latin typeface="Consola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975104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有界动作空间的「边界」由谁定义？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33172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9FB5C9"/>
                </a:solidFill>
                <a:latin typeface="Microsoft YaHei"/>
              </a:rPr>
              <a:t>编译器枚举 vs 模型外推——谁说了算？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706624"/>
            <a:ext cx="11109960" cy="84124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706624"/>
            <a:ext cx="128016" cy="841248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907792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7AB8FF"/>
                </a:solidFill>
                <a:latin typeface="Consola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2852928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@rationale 是终极的知识沉淀介质吗？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209544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9FB5C9"/>
                </a:solidFill>
                <a:latin typeface="Microsoft YaHei"/>
              </a:rPr>
              <a:t>还是只是过渡形态？下一形态会是什么？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84448"/>
            <a:ext cx="11109960" cy="84124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584448"/>
            <a:ext cx="128016" cy="841248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785616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2C55C"/>
                </a:solidFill>
                <a:latin typeface="Consola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3730752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自研领域模型 vs 复用通用前沿模型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408736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9FB5C9"/>
                </a:solidFill>
                <a:latin typeface="Microsoft YaHei"/>
              </a:rPr>
              <a:t>分界点在哪里？什么时候必须自研？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462272"/>
            <a:ext cx="11109960" cy="84124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462272"/>
            <a:ext cx="128016" cy="841248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663440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B88AF0"/>
                </a:solidFill>
                <a:latin typeface="Consolas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4608576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跨硬件策略迁移：是 IR 层的事，还是模型层的事？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7360" y="4965192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9FB5C9"/>
                </a:solidFill>
                <a:latin typeface="Microsoft YaHei"/>
              </a:rPr>
              <a:t>IR-as-portability vs Model-as-portability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340096"/>
            <a:ext cx="11109960" cy="84124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5340096"/>
            <a:ext cx="128016" cy="841248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541264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F6E6E"/>
                </a:solidFill>
                <a:latin typeface="Consolas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37360" y="5486400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评测的「业界横向可比」由谁主导？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37360" y="5843016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9FB5C9"/>
                </a:solidFill>
                <a:latin typeface="Microsoft YaHei"/>
              </a:rPr>
              <a:t>是否应当推动一个开放协议作为公共物品？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37 / 38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参考资料（论文 · Repo · Blog）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65376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KernelEvolve (arXiv)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865376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https://arxiv.org/abs/2512.23236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157984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194560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KernelEvolve · Meta blog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194560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https://engineering.fb.com/2026/04/02/developer-tools/kernelevolve-...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487168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523744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KernelAgent · repo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523744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https://github.com/meta-pytorch/KernelAgent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2816352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852928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KernelFalcon · PyTorch blog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2852928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https://pytorch.org/blog/kernelfalcon-autonomous-gpu-kernel-...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45536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182112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KernelAgent · PyTorch blog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3182112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https://pytorch.org/blog/kernelagent-hardware-guided-...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3474720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3511296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AutoKernel (arXiv)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3511296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https://arxiv.org/abs/2603.21331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3803904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840480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AutoKernel · repo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3840480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https://github.com/RightNow-AI/autokernel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4133088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4169664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K-Search (arXiv)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4169664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https://arxiv.org/abs/2602.19128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4462272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4498848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K-Search · repo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4498848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https://github.com/caoshiyi/K-Search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2960" y="4791456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4828032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AVO (arXiv)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0" y="4828032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https://arxiv.org/abs/2603.24517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5120640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157216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CuTeGen (arXiv)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5157216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https://arxiv.org/abs/2604.01489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449824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5486400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AscendKernelGen (arXiv)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97680" y="5486400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https://arxiv.org/abs/2601.07160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2960" y="5779008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5840" y="5815584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Awesome list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0" y="5815584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https://github.com/flagos-ai/awesome-LLM-driven-kernel-generation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2960" y="6108192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5840" y="6144768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Arke project (this work)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6144768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docs/spec/arke-lang-spec-v2.md, docs/spec/arke-ir-spec-v2.md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References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38 / 38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