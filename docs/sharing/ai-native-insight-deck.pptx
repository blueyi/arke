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326880" y="822960"/>
            <a:ext cx="2194560" cy="2194560"/>
          </a:xfrm>
          <a:prstGeom prst="ellipse">
            <a:avLst/>
          </a:prstGeom>
          <a:noFill/>
          <a:ln w="19050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784080" y="1280160"/>
            <a:ext cx="1280160" cy="1280160"/>
          </a:xfrm>
          <a:prstGeom prst="ellipse">
            <a:avLst/>
          </a:prstGeom>
          <a:noFill/>
          <a:ln w="12700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00584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TECH INSIGHT · 2026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50876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EAF2FA"/>
                </a:solidFill>
                <a:latin typeface="Microsoft YaHei"/>
              </a:rPr>
              <a:t>AI-Native 时代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2331720"/>
            <a:ext cx="109728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200" b="1" i="0">
                <a:solidFill>
                  <a:srgbClr val="EAF2FA"/>
                </a:solidFill>
                <a:latin typeface="Microsoft YaHei"/>
              </a:rPr>
              <a:t>算子工程的范式正在被重写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84048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3840480"/>
            <a:ext cx="128016" cy="9144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97280" y="3950208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800" b="0" i="0">
                <a:solidFill>
                  <a:srgbClr val="9FB5C9"/>
                </a:solidFill>
                <a:latin typeface="Microsoft YaHei"/>
              </a:rPr>
              <a:t>LLM-driven kernel generation/optimization · 业界趋势 · 目标态 · Arke 技术构建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73736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模型能力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强到能做什么？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3484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0916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业界现状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已经走到哪、卡在哪？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46720" y="5029200"/>
            <a:ext cx="3429000" cy="1188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5120640"/>
            <a:ext cx="640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961120" y="5138928"/>
            <a:ext cx="23774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未来构建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961120" y="5486400"/>
            <a:ext cx="23774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目标态长什么样、怎么搭？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6400800"/>
            <a:ext cx="10058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0" i="0">
                <a:solidFill>
                  <a:srgbClr val="6E869F"/>
                </a:solidFill>
                <a:latin typeface="Consolas"/>
              </a:rPr>
              <a:t>演讲者 · 内部技术分享     |     AI-Native 算子工程洞察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总目录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822960" y="1828800"/>
            <a:ext cx="128016" cy="71323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1920240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Glossary · 术语速读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97280" y="2221992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LLM 工程 · GPU/NPU 硬件 · 业界评测系统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0" y="2011680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EF6E6E"/>
                </a:solidFill>
                <a:latin typeface="Consolas"/>
              </a:rPr>
              <a:t>03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2633472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2633472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97280" y="2724912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Part A · 背景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97280" y="3026664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模型能力 · 范式判断 (A2.5) · 业界现状 · 失效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144000" y="2816352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38D1B8"/>
                </a:solidFill>
                <a:latin typeface="Consolas"/>
              </a:rPr>
              <a:t>05–11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438144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2960" y="3438144"/>
            <a:ext cx="128016" cy="71323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97280" y="3529584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Part B · 业界趋势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97280" y="3831336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7 个 LLM-driven kernel 案例 → T1–T6 / G1–G6 / H1–H9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144000" y="3621024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7AB8FF"/>
                </a:solidFill>
                <a:latin typeface="Consolas"/>
              </a:rPr>
              <a:t>13–24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4242816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822960" y="4242816"/>
            <a:ext cx="128016" cy="71323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4334256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🌟 目标态总览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97280" y="4636008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北极星 · F1–F7 七大特征 · 对通用编程的启示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4425696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F2C55C"/>
                </a:solidFill>
                <a:latin typeface="Consolas"/>
              </a:rPr>
              <a:t>26–29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822960" y="5047488"/>
            <a:ext cx="1051560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22960" y="5047488"/>
            <a:ext cx="128016" cy="71323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97280" y="5138928"/>
            <a:ext cx="77724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Part C · Arke 技术构建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97280" y="5440680"/>
            <a:ext cx="77724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设计逻辑 · 总架构 · 四件套 + Benchmark · F 对齐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5230368"/>
            <a:ext cx="210312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r"/>
            <a:r>
              <a:rPr sz="1700" b="1" i="0">
                <a:solidFill>
                  <a:srgbClr val="B88AF0"/>
                </a:solidFill>
                <a:latin typeface="Consolas"/>
              </a:rPr>
              <a:t>31–39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TOC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02 / 40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GLOSSARY · 术语速读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面向高层 + 专家的术语速读表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48640" y="1572768"/>
            <a:ext cx="111556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本 deck 后续页若引入下列概念，统一指代下表定义；详细说明请扫题对号入座。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965960"/>
            <a:ext cx="365760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48640" y="1965960"/>
            <a:ext cx="365760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2148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LLM 工程层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77240" y="25603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Agent / Tool-use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27432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LLM 通过结构化工具调用与外部工具（编译器/profiler）交互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30358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RAG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3218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Retrieval-Augmented Generation；将外部知识检索后注入上下文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351129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Tool harness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把编译/对拍/性能测试封装为可被 Agent 调用的工具集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3986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RLEF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1696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RL with Execution Feedback；用执行结果做强化学习反馈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SFT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7240" y="464515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Supervised Fine-Tuning；用标注样本做监督微调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493776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World model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77240" y="512064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Agent 内部对环境状态的可预测表征，用于规划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7240" y="5413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Decision rationale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559612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对每条优化决策的自然语言解释，用于审计与迁移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" y="588873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Bounded action space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77240" y="607161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决策从编译器枚举的合法动作集中选择，禁止自由代码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297680" y="1965960"/>
            <a:ext cx="365760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297680" y="1965960"/>
            <a:ext cx="365760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26280" y="2148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GPU / NPU 硬件层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26280" y="25603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SIMT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26280" y="27432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Single-Instruction Multiple-Thread（NVIDIA / AMD GPU）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26280" y="30358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SIMD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26280" y="3218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Single-Instruction Multiple-Data（Ascend NPU 等）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26280" y="351129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Tensor Core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52628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NVIDIA GPU 上的矩阵乘加加速单元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26280" y="3986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Roofline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26280" y="41696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性能上限模型：计算强度 vs 带宽/算力交点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2628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NCU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526280" y="464515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NVIDIA Nsight Compute；kernel 级 profiler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26280" y="493776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Occupancy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26280" y="512064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SM 同时驻留的 warp 数与硬件上限之比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526280" y="5413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Triton / CuTe / MLIR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526280" y="559612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GPU 编程抽象层：Triton (块级) / CuTe (布局代数) / MLIR (多方言)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26280" y="588873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FlashAttention (FA-2/3/4)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26280" y="607161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Tri Dao 等提出的 IO-aware attention 系列实现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046720" y="1965960"/>
            <a:ext cx="365760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8046720" y="1965960"/>
            <a:ext cx="365760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8275320" y="214884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业界评测 / 系统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75320" y="256032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KernelBench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75320" y="274320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Stanford 推的 GPU kernel 生成基准；分 L1/L2/L3 三级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75320" y="303580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ATen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275320" y="321868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PyTorch 后端算子集，主流神经网络的「指令集」 (≈2000+)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275320" y="351129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FlagGems / Liger-Kernel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8275320" y="369417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开源 Triton 算子库；常作为 LLM 生成 kernel 的对照基线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275320" y="3986784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torch.compile / Inductor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8275320" y="4169664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PyTorch 2.x 图编译器，AOT 路径的事实标准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8275320" y="4462272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cuBLAS / cuDNN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8275320" y="464515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NVIDIA 官方矩阵 / 卷积库；性能上限基线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275320" y="4937760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MLA / GQA / MoE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5320" y="512064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Multi-Head Latent Attention / Grouped-Query Attention / Mixture-of-Experts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5320" y="5413248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Pass@k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275320" y="5596128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Top-k 候选中至少 1 个通过的概率；代码生成评测常用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275320" y="5888736"/>
            <a:ext cx="32918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1" i="0">
                <a:solidFill>
                  <a:srgbClr val="EAF2FA"/>
                </a:solidFill>
                <a:latin typeface="Microsoft YaHei"/>
              </a:rPr>
              <a:t>Amdahl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8275320" y="6071616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Microsoft YaHei"/>
              </a:rPr>
              <a:t>并行加速上限 = 1 / ((1-p) + p/N)；用作瓶颈优先级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548640" y="6446520"/>
            <a:ext cx="10972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提示：Arke 项目专有概念（@rationale / 多层 IR / 多级验证 / KernelCache 等）将在 Part C 引入；本表只列业界通用术语。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Glossary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03 / 40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PART A · BACKGROUND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为什么需要这次洞察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模型能力 · 范式判断 · 算子工程现状 · 失效 · 输出形态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04 / 40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A1 · 背景与目标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本次分享要回答的 3 个问题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9144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1920240"/>
            <a:ext cx="10058400" cy="7315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2000" b="1" i="0">
                <a:solidFill>
                  <a:srgbClr val="38D1B8"/>
                </a:solidFill>
                <a:latin typeface="Microsoft YaHei"/>
              </a:rPr>
              <a:t>AI-Native 时代，算子工程的范式正在被重写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48640" y="2926080"/>
            <a:ext cx="365760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模型能力跃迁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强到能做什么？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代码合成 / 结构化推理 / 长上下文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可验证闭环 + Agent 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后训练让经验可累计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4340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343400" y="2926080"/>
            <a:ext cx="365760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1772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4924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业界相关方向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4924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走到哪、卡在哪？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61772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7 个代表性 LLM-driven kernel 案例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趋势 T1–T6 已开始收敛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9 个关键技术难题待解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138160" y="2926080"/>
            <a:ext cx="3657600" cy="33832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138160" y="2926080"/>
            <a:ext cx="365760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412480" y="310896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0" y="3127248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未来如何构建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345643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目标态长什么样？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4114800"/>
            <a:ext cx="3200400" cy="2103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7 大技术特征 F1–F7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对通用编程的 6 条启示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Arke 给出一种可落地的回答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05 / 40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A2 · 模型能力侧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 能力跃迁带来的「新可能」——为什么以前做不了，今天可以做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09728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代码生成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片段补全 → 跨文件、跨抽象层程序合成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29768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97680" y="1828800"/>
            <a:ext cx="109728" cy="14173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57200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结构化推理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Tool-use / Function-calling / 结构化输出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4672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20" y="1828800"/>
            <a:ext cx="109728" cy="1417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321040" y="199339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长上下文 + RAG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321040" y="242316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硬件手册 / ISA / Profile / 历史轨迹入上下文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383280"/>
            <a:ext cx="109728" cy="14173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Microsoft YaHei"/>
              </a:rPr>
              <a:t>可验证闭环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与编译器/profiler 多轮反馈，而非一次性写出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29768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297680" y="3383280"/>
            <a:ext cx="109728" cy="1417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57200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代理化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规划 / 执行 / 反思 / 回滚 的 Agent 编排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046720" y="338328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20" y="3383280"/>
            <a:ext cx="109728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321040" y="3547872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后训练范式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397764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SFT / RLHF / RLEF / 轨迹回放 让经验可累计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16636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166360"/>
            <a:ext cx="128016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68680" y="5276088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小结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68680" y="557784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模型从「会写代码」升级为「会做带反馈的工程决策」——这是后续所有趋势的能力底座。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06 / 40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A2.5 · 范式判断（本洞察的技术前提）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从「代码编写」到「意图治理」的范式迁移——后续所有判断的根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46304" cy="7772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28800"/>
            <a:ext cx="10515600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25000"/>
              </a:lnSpc>
            </a:pPr>
            <a:r>
              <a:rPr sz="1600" b="0" i="0">
                <a:solidFill>
                  <a:srgbClr val="9FB5C9"/>
                </a:solidFill>
                <a:latin typeface="Microsoft YaHei"/>
              </a:rPr>
              <a:t>未来开发生态的胜负手不再是 </a:t>
            </a:r>
            <a:r>
              <a:rPr sz="1600" b="1" i="1">
                <a:solidFill>
                  <a:srgbClr val="6E869F"/>
                </a:solidFill>
                <a:latin typeface="Microsoft YaHei"/>
              </a:rPr>
              <a:t>「如何写代码」</a:t>
            </a:r>
            <a:r>
              <a:rPr sz="1600" b="0" i="0">
                <a:solidFill>
                  <a:srgbClr val="9FB5C9"/>
                </a:solidFill>
                <a:latin typeface="Microsoft YaHei"/>
              </a:rPr>
              <a:t>，而是 </a:t>
            </a:r>
            <a:r>
              <a:rPr sz="1600" b="1" i="0">
                <a:solidFill>
                  <a:srgbClr val="38D1B8"/>
                </a:solidFill>
                <a:latin typeface="Microsoft YaHei"/>
              </a:rPr>
              <a:t>「如何定义意图 + 如何闭环验证」</a:t>
            </a:r>
            <a:r>
              <a:rPr sz="1600" b="0" i="0">
                <a:solidFill>
                  <a:srgbClr val="9FB5C9"/>
                </a:solidFill>
                <a:latin typeface="Microsoft YaHei"/>
              </a:rPr>
              <a:t>——本 deck 后续每一条主张，都是这个判断的延伸。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269748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2697480"/>
            <a:ext cx="128016" cy="17830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27889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Microsoft YaHei"/>
              </a:rPr>
              <a:t>❶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2588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能力平庸化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2004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顶级模型代差缩小，竞争从「博学」转向
「特定链路稳定性 / 成功率」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93192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Commodity · FeatureBench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418795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8D1B8"/>
                </a:solidFill>
                <a:latin typeface="Consolas"/>
              </a:rPr>
              <a:t>→ T2 / T6 / F2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69748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97680" y="2697480"/>
            <a:ext cx="128016" cy="1783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572000" y="27889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Microsoft YaHei"/>
              </a:rPr>
              <a:t>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07492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Harness 治理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32004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「上下文焦虑」→「智能脚手架」
图谱索引 + 静态/动态依赖 + 语义路由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393192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Harness · 语义路由器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418795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7AB8FF"/>
                </a:solidFill>
                <a:latin typeface="Consolas"/>
              </a:rPr>
              <a:t>→ T2 / T3 / F4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046720" y="269748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046720" y="2697480"/>
            <a:ext cx="128016" cy="17830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321040" y="27889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Microsoft YaHei"/>
              </a:rPr>
              <a:t>❸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823960" y="2816352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颗粒度跃迁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321040" y="3200400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片段式编程被吞噬，开发坍缩为
「高层架构」+「底层性能」两端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321040" y="393192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片段消失 · 两端坍缩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21040" y="418795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2C55C"/>
                </a:solidFill>
                <a:latin typeface="Consolas"/>
              </a:rPr>
              <a:t>→ T1 / T4 / F1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459943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4599432"/>
            <a:ext cx="128016" cy="178308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2960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Microsoft YaHei"/>
              </a:rPr>
              <a:t>❹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325880" y="47183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Agent 自主流转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822960" y="5102352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从「辅助生成」到「自愈工作流」
自主拉仓库 / 跑测试 / 修 bug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22960" y="583387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Self-healing · 端到端自治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08990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B88AF0"/>
                </a:solidFill>
                <a:latin typeface="Consolas"/>
              </a:rPr>
              <a:t>→ T1 / G6 / F2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297680" y="459943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297680" y="4599432"/>
            <a:ext cx="128016" cy="17830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4572000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Microsoft YaHei"/>
              </a:rPr>
              <a:t>❺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7183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意图 + 形式化验证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4572000" y="5102352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代码边际成本 → 0；「确保 AI 做对」成为
最贵环节，验证驱动开发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572000" y="583387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形式化验证 · 抗幻觉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0" y="608990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F6E6E"/>
                </a:solidFill>
                <a:latin typeface="Consolas"/>
              </a:rPr>
              <a:t>→ G1 / F3 / F5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8046720" y="459943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8046720" y="4599432"/>
            <a:ext cx="128016" cy="17830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8321040" y="4690872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Microsoft YaHei"/>
              </a:rPr>
              <a:t>❻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823960" y="4718304"/>
            <a:ext cx="2743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AI 原生基座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321040" y="5102352"/>
            <a:ext cx="329184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软件主动适配 AI：原生编译器 +
AI-friendly IR + 强契约模块化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321040" y="583387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F2C55C"/>
                </a:solidFill>
                <a:latin typeface="Consolas"/>
              </a:rPr>
              <a:t>AI-native compiler · 解耦契约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21040" y="608990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8D1B8"/>
                </a:solidFill>
                <a:latin typeface="Consolas"/>
              </a:rPr>
              <a:t>→ T4 / F3 / F6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48640" y="6437376"/>
            <a:ext cx="11109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1">
                <a:solidFill>
                  <a:srgbClr val="6E869F"/>
                </a:solidFill>
                <a:latin typeface="Microsoft YaHei"/>
              </a:rPr>
              <a:t>当代码生成的边际成本趋近于零，「定义意图 + 闭环验证」成为生产力重心；本 deck 的所有趋势 / 目标态 / Arke 设计都建立在此之上。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 · 范式判断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07 / 40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A3 · 问题域侧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算子工程的业界现状——为什么这个领域亟需被 LLM 重塑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370332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Microsoft YaHei"/>
              </a:rPr>
              <a:t>硬件维度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SIMT (NVIDIA) → SIMD (Ascend)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→ 多类 NPU / DSA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代际叠加 + 异构叠加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同一算子，不同硬件不同策略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61688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361688" y="1828800"/>
            <a:ext cx="370332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36008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Microsoft YaHei"/>
              </a:rPr>
              <a:t>工作负载维度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Attention / MLA / GQA / MoE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融合组合爆炸 (L2 / L3)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动态 shape 常态化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长上下文 → KV / Paged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74736" y="1828800"/>
            <a:ext cx="3703320" cy="3520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174736" y="1828800"/>
            <a:ext cx="370332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49056" y="2029968"/>
            <a:ext cx="31546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Microsoft YaHei"/>
              </a:rPr>
              <a:t>工程现实维度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49056" y="2606040"/>
            <a:ext cx="3154680" cy="26060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kernel SKU 爆炸（算子×形状×精度×后端）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顶级 kernel 工程师稀缺且不可扩展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验证 / 回归成本随版本上升</a:t>
            </a:r>
          </a:p>
          <a:p>
            <a:pPr algn="l">
              <a:lnSpc>
                <a:spcPct val="122000"/>
              </a:lnSpc>
              <a:spcAft>
                <a:spcPts val="200"/>
              </a:spcAft>
            </a:pPr>
            <a:r>
              <a:rPr sz="13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厂商库覆盖不全 + 演进不同步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5532120"/>
            <a:ext cx="1110996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5650992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三股力量同步发散：模型规模 ↑、算子复杂度 ↑、硬件代际 ↑——传统路径无法线性扩展。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08 / 40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A3 · 三条发散曲线（公开数据 · 二维曲线图）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同一时间轴上的相对增速 — y 轴 = log10(× baseline) (2017→2026)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7863840" cy="429768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 w="9525">
            <a:solidFill>
              <a:srgbClr val="24446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9" name="Connector 8"/>
          <p:cNvCxnSpPr/>
          <p:nvPr/>
        </p:nvCxnSpPr>
        <p:spPr>
          <a:xfrm>
            <a:off x="1325880" y="5257800"/>
            <a:ext cx="6812280" cy="0"/>
          </a:xfrm>
          <a:prstGeom prst="line">
            <a:avLst/>
          </a:prstGeom>
          <a:ln w="1778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Connector 9"/>
          <p:cNvCxnSpPr/>
          <p:nvPr/>
        </p:nvCxnSpPr>
        <p:spPr>
          <a:xfrm>
            <a:off x="1325880" y="2331720"/>
            <a:ext cx="0" cy="2926080"/>
          </a:xfrm>
          <a:prstGeom prst="line">
            <a:avLst/>
          </a:prstGeom>
          <a:ln w="17780">
            <a:solidFill>
              <a:srgbClr val="9FB5C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132588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109728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2017</a:t>
            </a:r>
          </a:p>
        </p:txBody>
      </p:sp>
      <p:cxnSp>
        <p:nvCxnSpPr>
          <p:cNvPr id="13" name="Connector 12"/>
          <p:cNvCxnSpPr/>
          <p:nvPr/>
        </p:nvCxnSpPr>
        <p:spPr>
          <a:xfrm>
            <a:off x="208280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TextBox 13"/>
          <p:cNvSpPr txBox="1"/>
          <p:nvPr/>
        </p:nvSpPr>
        <p:spPr>
          <a:xfrm>
            <a:off x="185420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2018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283972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TextBox 15"/>
          <p:cNvSpPr txBox="1"/>
          <p:nvPr/>
        </p:nvSpPr>
        <p:spPr>
          <a:xfrm>
            <a:off x="261112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2019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359664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TextBox 17"/>
          <p:cNvSpPr txBox="1"/>
          <p:nvPr/>
        </p:nvSpPr>
        <p:spPr>
          <a:xfrm>
            <a:off x="336804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2020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35356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TextBox 19"/>
          <p:cNvSpPr txBox="1"/>
          <p:nvPr/>
        </p:nvSpPr>
        <p:spPr>
          <a:xfrm>
            <a:off x="412496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2021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511048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488188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2022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586740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TextBox 23"/>
          <p:cNvSpPr txBox="1"/>
          <p:nvPr/>
        </p:nvSpPr>
        <p:spPr>
          <a:xfrm>
            <a:off x="563880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2023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662432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639572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2024</a:t>
            </a:r>
          </a:p>
        </p:txBody>
      </p:sp>
      <p:cxnSp>
        <p:nvCxnSpPr>
          <p:cNvPr id="27" name="Connector 26"/>
          <p:cNvCxnSpPr/>
          <p:nvPr/>
        </p:nvCxnSpPr>
        <p:spPr>
          <a:xfrm>
            <a:off x="738124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8" name="TextBox 27"/>
          <p:cNvSpPr txBox="1"/>
          <p:nvPr/>
        </p:nvSpPr>
        <p:spPr>
          <a:xfrm>
            <a:off x="715264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2025</a:t>
            </a:r>
          </a:p>
        </p:txBody>
      </p:sp>
      <p:cxnSp>
        <p:nvCxnSpPr>
          <p:cNvPr id="29" name="Connector 28"/>
          <p:cNvCxnSpPr/>
          <p:nvPr/>
        </p:nvCxnSpPr>
        <p:spPr>
          <a:xfrm>
            <a:off x="8138160" y="2331720"/>
            <a:ext cx="0" cy="292608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0" name="TextBox 29"/>
          <p:cNvSpPr txBox="1"/>
          <p:nvPr/>
        </p:nvSpPr>
        <p:spPr>
          <a:xfrm>
            <a:off x="7909560" y="5312664"/>
            <a:ext cx="457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0" i="0">
                <a:solidFill>
                  <a:srgbClr val="9FB5C9"/>
                </a:solidFill>
                <a:latin typeface="Consolas"/>
              </a:rPr>
              <a:t>2026</a:t>
            </a:r>
          </a:p>
        </p:txBody>
      </p:sp>
      <p:cxnSp>
        <p:nvCxnSpPr>
          <p:cNvPr id="31" name="Connector 30"/>
          <p:cNvCxnSpPr/>
          <p:nvPr/>
        </p:nvCxnSpPr>
        <p:spPr>
          <a:xfrm>
            <a:off x="1325880" y="5257800"/>
            <a:ext cx="681228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612648" y="5138928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FB5C9"/>
                </a:solidFill>
                <a:latin typeface="Consolas"/>
              </a:rPr>
              <a:t>1×</a:t>
            </a:r>
          </a:p>
        </p:txBody>
      </p:sp>
      <p:cxnSp>
        <p:nvCxnSpPr>
          <p:cNvPr id="33" name="Connector 32"/>
          <p:cNvCxnSpPr/>
          <p:nvPr/>
        </p:nvCxnSpPr>
        <p:spPr>
          <a:xfrm>
            <a:off x="1325880" y="4672584"/>
            <a:ext cx="681228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4" name="TextBox 33"/>
          <p:cNvSpPr txBox="1"/>
          <p:nvPr/>
        </p:nvSpPr>
        <p:spPr>
          <a:xfrm>
            <a:off x="612648" y="4553712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FB5C9"/>
                </a:solidFill>
                <a:latin typeface="Consolas"/>
              </a:rPr>
              <a:t>10^1×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325880" y="4087368"/>
            <a:ext cx="681228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612648" y="3968496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FB5C9"/>
                </a:solidFill>
                <a:latin typeface="Consolas"/>
              </a:rPr>
              <a:t>10^2×</a:t>
            </a:r>
          </a:p>
        </p:txBody>
      </p:sp>
      <p:cxnSp>
        <p:nvCxnSpPr>
          <p:cNvPr id="37" name="Connector 36"/>
          <p:cNvCxnSpPr/>
          <p:nvPr/>
        </p:nvCxnSpPr>
        <p:spPr>
          <a:xfrm>
            <a:off x="1325880" y="3502152"/>
            <a:ext cx="681228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8" name="TextBox 37"/>
          <p:cNvSpPr txBox="1"/>
          <p:nvPr/>
        </p:nvSpPr>
        <p:spPr>
          <a:xfrm>
            <a:off x="612648" y="3383280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FB5C9"/>
                </a:solidFill>
                <a:latin typeface="Consolas"/>
              </a:rPr>
              <a:t>10^3×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1325880" y="2916936"/>
            <a:ext cx="681228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TextBox 39"/>
          <p:cNvSpPr txBox="1"/>
          <p:nvPr/>
        </p:nvSpPr>
        <p:spPr>
          <a:xfrm>
            <a:off x="612648" y="2798064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FB5C9"/>
                </a:solidFill>
                <a:latin typeface="Consolas"/>
              </a:rPr>
              <a:t>10^4×</a:t>
            </a:r>
          </a:p>
        </p:txBody>
      </p:sp>
      <p:cxnSp>
        <p:nvCxnSpPr>
          <p:cNvPr id="41" name="Connector 40"/>
          <p:cNvCxnSpPr/>
          <p:nvPr/>
        </p:nvCxnSpPr>
        <p:spPr>
          <a:xfrm>
            <a:off x="1325880" y="2331720"/>
            <a:ext cx="6812280" cy="0"/>
          </a:xfrm>
          <a:prstGeom prst="line">
            <a:avLst/>
          </a:prstGeom>
          <a:ln w="5080">
            <a:solidFill>
              <a:srgbClr val="24446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2" name="TextBox 41"/>
          <p:cNvSpPr txBox="1"/>
          <p:nvPr/>
        </p:nvSpPr>
        <p:spPr>
          <a:xfrm>
            <a:off x="612648" y="2212848"/>
            <a:ext cx="6400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850" b="0" i="0">
                <a:solidFill>
                  <a:srgbClr val="9FB5C9"/>
                </a:solidFill>
                <a:latin typeface="Consolas"/>
              </a:rPr>
              <a:t>10^5×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1984248"/>
            <a:ext cx="23774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9FB5C9"/>
                </a:solidFill>
                <a:latin typeface="Consolas"/>
              </a:rPr>
              <a:t>log10(× baseline)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223760" y="5586984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1" i="0">
                <a:solidFill>
                  <a:srgbClr val="9FB5C9"/>
                </a:solidFill>
                <a:latin typeface="Consolas"/>
              </a:rPr>
              <a:t>year</a:t>
            </a:r>
          </a:p>
        </p:txBody>
      </p:sp>
      <p:cxnSp>
        <p:nvCxnSpPr>
          <p:cNvPr id="45" name="Connector 44"/>
          <p:cNvCxnSpPr/>
          <p:nvPr/>
        </p:nvCxnSpPr>
        <p:spPr>
          <a:xfrm flipV="1">
            <a:off x="2082800" y="4608211"/>
            <a:ext cx="756920" cy="649589"/>
          </a:xfrm>
          <a:prstGeom prst="line">
            <a:avLst/>
          </a:prstGeom>
          <a:ln w="3175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6" name="Connector 45"/>
          <p:cNvCxnSpPr/>
          <p:nvPr/>
        </p:nvCxnSpPr>
        <p:spPr>
          <a:xfrm flipV="1">
            <a:off x="2839720" y="3402666"/>
            <a:ext cx="756920" cy="1205545"/>
          </a:xfrm>
          <a:prstGeom prst="line">
            <a:avLst/>
          </a:prstGeom>
          <a:ln w="3175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7" name="Connector 46"/>
          <p:cNvCxnSpPr/>
          <p:nvPr/>
        </p:nvCxnSpPr>
        <p:spPr>
          <a:xfrm flipV="1">
            <a:off x="3596640" y="3115910"/>
            <a:ext cx="1513840" cy="286756"/>
          </a:xfrm>
          <a:prstGeom prst="line">
            <a:avLst/>
          </a:prstGeom>
          <a:ln w="3175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8" name="Connector 47"/>
          <p:cNvCxnSpPr/>
          <p:nvPr/>
        </p:nvCxnSpPr>
        <p:spPr>
          <a:xfrm flipV="1">
            <a:off x="5110480" y="2823302"/>
            <a:ext cx="756920" cy="292608"/>
          </a:xfrm>
          <a:prstGeom prst="line">
            <a:avLst/>
          </a:prstGeom>
          <a:ln w="3175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9" name="Connector 48"/>
          <p:cNvCxnSpPr/>
          <p:nvPr/>
        </p:nvCxnSpPr>
        <p:spPr>
          <a:xfrm>
            <a:off x="5867400" y="2823302"/>
            <a:ext cx="756920" cy="234086"/>
          </a:xfrm>
          <a:prstGeom prst="line">
            <a:avLst/>
          </a:prstGeom>
          <a:ln w="3175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0" name="Connector 49"/>
          <p:cNvCxnSpPr/>
          <p:nvPr/>
        </p:nvCxnSpPr>
        <p:spPr>
          <a:xfrm flipV="1">
            <a:off x="6624320" y="2782337"/>
            <a:ext cx="756920" cy="275051"/>
          </a:xfrm>
          <a:prstGeom prst="line">
            <a:avLst/>
          </a:prstGeom>
          <a:ln w="31750">
            <a:solidFill>
              <a:srgbClr val="38D1B8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1" name="Oval 50"/>
          <p:cNvSpPr/>
          <p:nvPr/>
        </p:nvSpPr>
        <p:spPr>
          <a:xfrm>
            <a:off x="2014220" y="5189220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Oval 51"/>
          <p:cNvSpPr/>
          <p:nvPr/>
        </p:nvSpPr>
        <p:spPr>
          <a:xfrm>
            <a:off x="2771140" y="4539631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Oval 52"/>
          <p:cNvSpPr/>
          <p:nvPr/>
        </p:nvSpPr>
        <p:spPr>
          <a:xfrm>
            <a:off x="3528060" y="3334086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Oval 53"/>
          <p:cNvSpPr/>
          <p:nvPr/>
        </p:nvSpPr>
        <p:spPr>
          <a:xfrm>
            <a:off x="5041900" y="3047330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Oval 54"/>
          <p:cNvSpPr/>
          <p:nvPr/>
        </p:nvSpPr>
        <p:spPr>
          <a:xfrm>
            <a:off x="5798820" y="2754722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Oval 55"/>
          <p:cNvSpPr/>
          <p:nvPr/>
        </p:nvSpPr>
        <p:spPr>
          <a:xfrm>
            <a:off x="6555740" y="2988808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Oval 56"/>
          <p:cNvSpPr/>
          <p:nvPr/>
        </p:nvSpPr>
        <p:spPr>
          <a:xfrm>
            <a:off x="7312660" y="2713757"/>
            <a:ext cx="137160" cy="137160"/>
          </a:xfrm>
          <a:prstGeom prst="ellipse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58" name="Connector 57"/>
          <p:cNvCxnSpPr/>
          <p:nvPr/>
        </p:nvCxnSpPr>
        <p:spPr>
          <a:xfrm flipV="1">
            <a:off x="1325880" y="5023714"/>
            <a:ext cx="2270760" cy="234086"/>
          </a:xfrm>
          <a:prstGeom prst="line">
            <a:avLst/>
          </a:prstGeom>
          <a:ln w="3175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9" name="Connector 58"/>
          <p:cNvCxnSpPr/>
          <p:nvPr/>
        </p:nvCxnSpPr>
        <p:spPr>
          <a:xfrm flipV="1">
            <a:off x="3596640" y="4731106"/>
            <a:ext cx="1513840" cy="292608"/>
          </a:xfrm>
          <a:prstGeom prst="line">
            <a:avLst/>
          </a:prstGeom>
          <a:ln w="3175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0" name="Connector 59"/>
          <p:cNvCxnSpPr/>
          <p:nvPr/>
        </p:nvCxnSpPr>
        <p:spPr>
          <a:xfrm flipV="1">
            <a:off x="5110480" y="4578950"/>
            <a:ext cx="1513840" cy="152156"/>
          </a:xfrm>
          <a:prstGeom prst="line">
            <a:avLst/>
          </a:prstGeom>
          <a:ln w="3175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Connector 60"/>
          <p:cNvCxnSpPr/>
          <p:nvPr/>
        </p:nvCxnSpPr>
        <p:spPr>
          <a:xfrm flipV="1">
            <a:off x="6624320" y="4520428"/>
            <a:ext cx="756920" cy="58522"/>
          </a:xfrm>
          <a:prstGeom prst="line">
            <a:avLst/>
          </a:prstGeom>
          <a:ln w="3175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2" name="Connector 61"/>
          <p:cNvCxnSpPr/>
          <p:nvPr/>
        </p:nvCxnSpPr>
        <p:spPr>
          <a:xfrm flipV="1">
            <a:off x="7381240" y="4497020"/>
            <a:ext cx="756920" cy="23408"/>
          </a:xfrm>
          <a:prstGeom prst="line">
            <a:avLst/>
          </a:prstGeom>
          <a:ln w="31750">
            <a:solidFill>
              <a:srgbClr val="EF6E6E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3" name="Oval 62"/>
          <p:cNvSpPr/>
          <p:nvPr/>
        </p:nvSpPr>
        <p:spPr>
          <a:xfrm>
            <a:off x="1257300" y="5189220"/>
            <a:ext cx="137160" cy="13716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Oval 63"/>
          <p:cNvSpPr/>
          <p:nvPr/>
        </p:nvSpPr>
        <p:spPr>
          <a:xfrm>
            <a:off x="3528060" y="4955134"/>
            <a:ext cx="137160" cy="13716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Oval 64"/>
          <p:cNvSpPr/>
          <p:nvPr/>
        </p:nvSpPr>
        <p:spPr>
          <a:xfrm>
            <a:off x="5041900" y="4662526"/>
            <a:ext cx="137160" cy="13716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Oval 65"/>
          <p:cNvSpPr/>
          <p:nvPr/>
        </p:nvSpPr>
        <p:spPr>
          <a:xfrm>
            <a:off x="6555740" y="4510370"/>
            <a:ext cx="137160" cy="13716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Oval 66"/>
          <p:cNvSpPr/>
          <p:nvPr/>
        </p:nvSpPr>
        <p:spPr>
          <a:xfrm>
            <a:off x="7312660" y="4451848"/>
            <a:ext cx="137160" cy="13716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Oval 67"/>
          <p:cNvSpPr/>
          <p:nvPr/>
        </p:nvSpPr>
        <p:spPr>
          <a:xfrm>
            <a:off x="8069580" y="4428440"/>
            <a:ext cx="137160" cy="137160"/>
          </a:xfrm>
          <a:prstGeom prst="ellipse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cxnSp>
        <p:nvCxnSpPr>
          <p:cNvPr id="69" name="Connector 68"/>
          <p:cNvCxnSpPr/>
          <p:nvPr/>
        </p:nvCxnSpPr>
        <p:spPr>
          <a:xfrm flipV="1">
            <a:off x="2082800" y="5047123"/>
            <a:ext cx="1513840" cy="210677"/>
          </a:xfrm>
          <a:prstGeom prst="line">
            <a:avLst/>
          </a:prstGeom>
          <a:ln w="3175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0" name="Connector 69"/>
          <p:cNvCxnSpPr/>
          <p:nvPr/>
        </p:nvCxnSpPr>
        <p:spPr>
          <a:xfrm flipV="1">
            <a:off x="3596640" y="4965192"/>
            <a:ext cx="1513840" cy="81931"/>
          </a:xfrm>
          <a:prstGeom prst="line">
            <a:avLst/>
          </a:prstGeom>
          <a:ln w="3175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1" name="Connector 70"/>
          <p:cNvCxnSpPr/>
          <p:nvPr/>
        </p:nvCxnSpPr>
        <p:spPr>
          <a:xfrm flipV="1">
            <a:off x="5110480" y="4848149"/>
            <a:ext cx="756920" cy="117043"/>
          </a:xfrm>
          <a:prstGeom prst="line">
            <a:avLst/>
          </a:prstGeom>
          <a:ln w="3175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2" name="Connector 71"/>
          <p:cNvCxnSpPr/>
          <p:nvPr/>
        </p:nvCxnSpPr>
        <p:spPr>
          <a:xfrm flipV="1">
            <a:off x="5867400" y="4731106"/>
            <a:ext cx="756920" cy="117043"/>
          </a:xfrm>
          <a:prstGeom prst="line">
            <a:avLst/>
          </a:prstGeom>
          <a:ln w="3175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3" name="Connector 72"/>
          <p:cNvCxnSpPr/>
          <p:nvPr/>
        </p:nvCxnSpPr>
        <p:spPr>
          <a:xfrm flipV="1">
            <a:off x="6624320" y="4614063"/>
            <a:ext cx="1513840" cy="117043"/>
          </a:xfrm>
          <a:prstGeom prst="line">
            <a:avLst/>
          </a:prstGeom>
          <a:ln w="31750">
            <a:solidFill>
              <a:srgbClr val="F2C55C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4" name="Oval 73"/>
          <p:cNvSpPr/>
          <p:nvPr/>
        </p:nvSpPr>
        <p:spPr>
          <a:xfrm>
            <a:off x="2014220" y="5189220"/>
            <a:ext cx="137160" cy="13716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Oval 74"/>
          <p:cNvSpPr/>
          <p:nvPr/>
        </p:nvSpPr>
        <p:spPr>
          <a:xfrm>
            <a:off x="3528060" y="4978543"/>
            <a:ext cx="137160" cy="13716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Oval 75"/>
          <p:cNvSpPr/>
          <p:nvPr/>
        </p:nvSpPr>
        <p:spPr>
          <a:xfrm>
            <a:off x="5041900" y="4896612"/>
            <a:ext cx="137160" cy="13716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Oval 76"/>
          <p:cNvSpPr/>
          <p:nvPr/>
        </p:nvSpPr>
        <p:spPr>
          <a:xfrm>
            <a:off x="5798820" y="4779569"/>
            <a:ext cx="137160" cy="13716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Oval 77"/>
          <p:cNvSpPr/>
          <p:nvPr/>
        </p:nvSpPr>
        <p:spPr>
          <a:xfrm>
            <a:off x="6555740" y="4662526"/>
            <a:ext cx="137160" cy="13716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Oval 78"/>
          <p:cNvSpPr/>
          <p:nvPr/>
        </p:nvSpPr>
        <p:spPr>
          <a:xfrm>
            <a:off x="8069580" y="4545483"/>
            <a:ext cx="137160" cy="137160"/>
          </a:xfrm>
          <a:prstGeom prst="ellipse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7472680" y="2617745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8D1B8"/>
                </a:solidFill>
                <a:latin typeface="Consolas"/>
              </a:rPr>
              <a:t>① 模型规模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229600" y="4332428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EF6E6E"/>
                </a:solidFill>
                <a:latin typeface="Consolas"/>
              </a:rPr>
              <a:t>② NVIDIA HW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8229600" y="4449471"/>
            <a:ext cx="18288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2C55C"/>
                </a:solidFill>
                <a:latin typeface="Consolas"/>
              </a:rPr>
              <a:t>③ 算子复杂度</a:t>
            </a:r>
          </a:p>
        </p:txBody>
      </p:sp>
      <p:sp>
        <p:nvSpPr>
          <p:cNvPr id="83" name="Rounded Rectangle 82"/>
          <p:cNvSpPr/>
          <p:nvPr/>
        </p:nvSpPr>
        <p:spPr>
          <a:xfrm>
            <a:off x="8595360" y="1828800"/>
            <a:ext cx="3063240" cy="42976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8778240" y="1993392"/>
            <a:ext cx="2697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曲线图例 · 公开数据</a:t>
            </a:r>
          </a:p>
        </p:txBody>
      </p:sp>
      <p:sp>
        <p:nvSpPr>
          <p:cNvPr id="85" name="Rectangle 84"/>
          <p:cNvSpPr/>
          <p:nvPr/>
        </p:nvSpPr>
        <p:spPr>
          <a:xfrm>
            <a:off x="8823960" y="2569464"/>
            <a:ext cx="292608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9189720" y="2423160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8D1B8"/>
                </a:solidFill>
                <a:latin typeface="Microsoft YaHei"/>
              </a:rPr>
              <a:t>① 模型规模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9189720" y="2697480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GPT-1 → LLaMA-4 / DSV3：~10⁴ 倍</a:t>
            </a:r>
          </a:p>
        </p:txBody>
      </p:sp>
      <p:sp>
        <p:nvSpPr>
          <p:cNvPr id="88" name="Rectangle 87"/>
          <p:cNvSpPr/>
          <p:nvPr/>
        </p:nvSpPr>
        <p:spPr>
          <a:xfrm>
            <a:off x="8823960" y="3282696"/>
            <a:ext cx="292608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9189720" y="3136392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EF6E6E"/>
                </a:solidFill>
                <a:latin typeface="Microsoft YaHei"/>
              </a:rPr>
              <a:t>② NVIDIA HW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9189720" y="3410712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V100 → GB200 (BF16)：~20 倍</a:t>
            </a:r>
          </a:p>
        </p:txBody>
      </p:sp>
      <p:sp>
        <p:nvSpPr>
          <p:cNvPr id="91" name="Rectangle 90"/>
          <p:cNvSpPr/>
          <p:nvPr/>
        </p:nvSpPr>
        <p:spPr>
          <a:xfrm>
            <a:off x="8823960" y="3995928"/>
            <a:ext cx="292608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9189720" y="3849624"/>
            <a:ext cx="228600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Microsoft YaHei"/>
              </a:rPr>
              <a:t>③ 算子复杂度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9189720" y="4123944"/>
            <a:ext cx="2286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vanilla attn → FA-4：~10 倍 (定性)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8732520" y="4663440"/>
            <a:ext cx="2788920" cy="13258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732520" y="4663440"/>
            <a:ext cx="73152" cy="13258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6" name="TextBox 95"/>
          <p:cNvSpPr txBox="1"/>
          <p:nvPr/>
        </p:nvSpPr>
        <p:spPr>
          <a:xfrm>
            <a:off x="8887968" y="4736592"/>
            <a:ext cx="26060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F2C55C"/>
                </a:solidFill>
                <a:latin typeface="Consolas"/>
              </a:rPr>
              <a:t>KEY TAKEAWAY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8887968" y="5029200"/>
            <a:ext cx="26060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EAF2FA"/>
                </a:solidFill>
                <a:latin typeface="Microsoft YaHei"/>
              </a:rPr>
              <a:t>8 年内 · 模型规模 ↑ ~10⁴×，算子复杂度 ↑ ~10×，但硬件 BF16 算力仅 ↑ ~20×。
缺口必须靠编译 / 调度 / 算法填补——这正是本洞察的主题。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Sources: 各模型公开 paper/blog (GPT-1..4, LLaMA, PaLM, DeepSeek-V3) · NVIDIA 官方 datasheet (V100/A100/H100/H200/Blackwell) · PyTorch ATen 源码计数 · FlashAttention 系列 (Tri Dao et al.)。* GPT-4 / LLaMA-4 参数为 SemiAnalysis 等公开估算。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772400" y="653796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6E869F"/>
                </a:solidFill>
                <a:latin typeface="Consolas"/>
              </a:rPr>
              <a:t>→ Glossary P03 · ATen / MLA / GQA / FA-2/3/4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09 / 40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A4 · 传统路径为什么不够用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Failure modes of the status quo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15544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人工手写 + autotune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377440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不可扩展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跨硬件不可迁移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知识沉淀依赖个人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26480" y="1828800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26480" y="1828800"/>
            <a:ext cx="128016" cy="15544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46520" y="1938528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图编译器 (XLA / Inductor / TVM)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46520" y="2377440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高层有效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深层决策仍依赖启发式 / 专家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tile / pipeline / 寄存器分配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8640" y="3547872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48640" y="3547872"/>
            <a:ext cx="128016" cy="15544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LLM 直写 Triton / CUDA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4096512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正确性差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token 成本高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可维护性差 + 知识无法跨 kernel 复用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126480" y="3547872"/>
            <a:ext cx="5440680" cy="15544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126480" y="3547872"/>
            <a:ext cx="128016" cy="15544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46520" y="3657600"/>
            <a:ext cx="4983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Microsoft YaHei"/>
              </a:rPr>
              <a:t>库 / 编译器黑盒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46520" y="4096512"/>
            <a:ext cx="4983480" cy="9601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长尾覆盖不全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不可解释</a:t>
            </a:r>
          </a:p>
          <a:p>
            <a:pPr algn="l">
              <a:lnSpc>
                <a:spcPct val="118000"/>
              </a:lnSpc>
              <a:spcAft>
                <a:spcPts val="200"/>
              </a:spcAft>
            </a:pPr>
            <a:r>
              <a:rPr sz="12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跨硬件 / 定制扩展受限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48640" y="5349240"/>
            <a:ext cx="11109960" cy="1051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548640" y="5349240"/>
            <a:ext cx="128016" cy="1051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449824"/>
            <a:ext cx="106984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760720"/>
            <a:ext cx="10698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单点工具不再够用——「能力底座 + 问题域复杂度」共同迫使我们重新思考算子工程栈。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10 / 40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A5 · 这份洞察的输出形态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六段式：案例 → 趋势 → 进展 → 难题 → 目标态 → 构建方案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2103120"/>
            <a:ext cx="169164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7AB8FF"/>
                </a:solidFill>
                <a:latin typeface="Microsoft YaHei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7 个代表系统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2249424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04872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404872" y="2103120"/>
            <a:ext cx="16916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04872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38D1B8"/>
                </a:solidFill>
                <a:latin typeface="Microsoft YaHei"/>
              </a:rPr>
              <a:t>趋势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496312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T1–T6 收敛方向</a:t>
            </a:r>
          </a:p>
        </p:txBody>
      </p:sp>
      <p:sp>
        <p:nvSpPr>
          <p:cNvPr id="17" name="Right Arrow 16"/>
          <p:cNvSpPr/>
          <p:nvPr/>
        </p:nvSpPr>
        <p:spPr>
          <a:xfrm>
            <a:off x="4105656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4261104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261104" y="2103120"/>
            <a:ext cx="169164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261104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F2C55C"/>
                </a:solidFill>
                <a:latin typeface="Microsoft YaHei"/>
              </a:rPr>
              <a:t>进展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352544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G1–G6 已验证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5961888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117336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6117336" y="2103120"/>
            <a:ext cx="169164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17336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EF6E6E"/>
                </a:solidFill>
                <a:latin typeface="Microsoft YaHei"/>
              </a:rPr>
              <a:t>难题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08776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H1–H9 待解</a:t>
            </a:r>
          </a:p>
        </p:txBody>
      </p:sp>
      <p:sp>
        <p:nvSpPr>
          <p:cNvPr id="27" name="Right Arrow 26"/>
          <p:cNvSpPr/>
          <p:nvPr/>
        </p:nvSpPr>
        <p:spPr>
          <a:xfrm>
            <a:off x="7818120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ounded Rectangle 27"/>
          <p:cNvSpPr/>
          <p:nvPr/>
        </p:nvSpPr>
        <p:spPr>
          <a:xfrm>
            <a:off x="7973568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973568" y="2103120"/>
            <a:ext cx="169164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973568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B88AF0"/>
                </a:solidFill>
                <a:latin typeface="Microsoft YaHei"/>
              </a:rPr>
              <a:t>目标态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065008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F1–F7 北极星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9674352" y="2697480"/>
            <a:ext cx="146304" cy="274320"/>
          </a:xfrm>
          <a:prstGeom prst="rightArrow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9829800" y="2103120"/>
            <a:ext cx="1691640" cy="14630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829800" y="2103120"/>
            <a:ext cx="16916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2331720"/>
            <a:ext cx="16916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38D1B8"/>
                </a:solidFill>
                <a:latin typeface="Microsoft YaHei"/>
              </a:rPr>
              <a:t>构建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921240" y="2834640"/>
            <a:ext cx="150876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100" b="0" i="0">
                <a:solidFill>
                  <a:srgbClr val="9FB5C9"/>
                </a:solidFill>
                <a:latin typeface="Microsoft YaHei"/>
              </a:rPr>
              <a:t>Arke 的回答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114800"/>
            <a:ext cx="11109960" cy="21945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114800"/>
            <a:ext cx="128016" cy="21945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68680" y="4251960"/>
            <a:ext cx="10698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判断准则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68680" y="4663440"/>
            <a:ext cx="10698480" cy="15544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不止「看热闹」——每条趋势都要回答：工程上该不该跟、怎么跟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用六维坐标系评估：正确性 / 性能 / 成本 / 通用性 / 可移植性 / 可运营</a:t>
            </a:r>
          </a:p>
          <a:p>
            <a:pPr algn="l">
              <a:lnSpc>
                <a:spcPct val="130000"/>
              </a:lnSpc>
              <a:spcAft>
                <a:spcPts val="200"/>
              </a:spcAft>
            </a:pPr>
            <a:r>
              <a:rPr sz="14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400">
                <a:solidFill>
                  <a:srgbClr val="EAF2FA"/>
                </a:solidFill>
                <a:latin typeface="Microsoft YaHei"/>
              </a:rPr>
              <a:t>目标是给出「可落地的范式判断」，而不是论文综述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11 / 40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PART B · INDUSTRY TRENDS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业界趋势：从 LLM-driven kernel 看技术走向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7 个代表案例 · 趋势 T1–T6 · 进展 G1–G6 · 难题 H1–H9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12 / 40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B1 · 全景图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LLM-driven kernel 工作链路：Spec ↔ Agent ↔ Toolchain ↔ HW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828800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828800"/>
            <a:ext cx="128016" cy="9601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20" y="193852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Microsoft YaHei"/>
              </a:rPr>
              <a:t>① Spec / 抽象层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kernel 表达 · 决策表达 · 知识表达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0" y="2139696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代表抽象层：CuTe / Triton / 各家 DSL</a:t>
            </a:r>
          </a:p>
        </p:txBody>
      </p:sp>
      <p:sp>
        <p:nvSpPr>
          <p:cNvPr id="13" name="Down Arrow 12"/>
          <p:cNvSpPr/>
          <p:nvPr/>
        </p:nvSpPr>
        <p:spPr>
          <a:xfrm>
            <a:off x="5943600" y="2788920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2898648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40080" y="2898648"/>
            <a:ext cx="128016" cy="9601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60120" y="300837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Microsoft YaHei"/>
              </a:rPr>
              <a:t>② LLM Agent 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40156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规划 · 决策 · 反思 · 回滚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0" y="3209544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代表系统：KernelAgent / AVO / KernelFalcon</a:t>
            </a:r>
          </a:p>
        </p:txBody>
      </p:sp>
      <p:sp>
        <p:nvSpPr>
          <p:cNvPr id="19" name="Down Arrow 18"/>
          <p:cNvSpPr/>
          <p:nvPr/>
        </p:nvSpPr>
        <p:spPr>
          <a:xfrm>
            <a:off x="5943600" y="3858768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40080" y="3968496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" y="3968496"/>
            <a:ext cx="128016" cy="9601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0120" y="407822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Microsoft YaHei"/>
              </a:rPr>
              <a:t>③ Toolchain 层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47141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compile · profile · verify · search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0" y="4279392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代表系统：KernelEvolve / AutoKernel / K-Search</a:t>
            </a:r>
          </a:p>
        </p:txBody>
      </p:sp>
      <p:sp>
        <p:nvSpPr>
          <p:cNvPr id="25" name="Down Arrow 24"/>
          <p:cNvSpPr/>
          <p:nvPr/>
        </p:nvSpPr>
        <p:spPr>
          <a:xfrm>
            <a:off x="5943600" y="4928616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ounded Rectangle 25"/>
          <p:cNvSpPr/>
          <p:nvPr/>
        </p:nvSpPr>
        <p:spPr>
          <a:xfrm>
            <a:off x="640080" y="5038344"/>
            <a:ext cx="10881360" cy="9601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40080" y="5038344"/>
            <a:ext cx="128016" cy="9601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60120" y="514807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Microsoft YaHei"/>
              </a:rPr>
              <a:t>④ Hardware 层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60120" y="554126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NVIDIA · Ascend · AMD · 多 NPU / DSA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0" y="5349240"/>
            <a:ext cx="566928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1">
                <a:solidFill>
                  <a:srgbClr val="EAF2FA"/>
                </a:solidFill>
                <a:latin typeface="Microsoft YaHei"/>
              </a:rPr>
              <a:t>代表系统：AscendKernelGen / KernelEvolve (MTIA)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40080" y="62636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0" i="1">
                <a:solidFill>
                  <a:srgbClr val="9FB5C9"/>
                </a:solidFill>
                <a:latin typeface="Microsoft YaHei"/>
              </a:rPr>
              <a:t>案例只是证据，趋势才是主线——下一节用 7 个案例填到这张图的不同位置上。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13 / 40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 · 7 个代表案例索引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一页一个；含可归属性能信号（公开数据）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11480" y="1783080"/>
            <a:ext cx="1138428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88366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88366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案例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54680" y="188366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来源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66360" y="188366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一句话定位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0" y="188366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公开性能 / 数据信号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698480" y="188366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趋势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11480" y="2286000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11480" y="2286000"/>
            <a:ext cx="54864" cy="5303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241401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8D1B8"/>
                </a:solidFill>
                <a:latin typeface="Consolas"/>
              </a:rPr>
              <a:t>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41401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KernelEvolve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241401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Meta · ISCA'26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66360" y="241401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生产级异构 + RAG + 搜索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0" y="241401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KernelBench 250/250 · 最高 17× vs PyTorch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698480" y="241401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38D1B8"/>
                </a:solidFill>
                <a:latin typeface="Consolas"/>
              </a:rPr>
              <a:t>T1/T3/T4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11480" y="2852928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11480" y="2852928"/>
            <a:ext cx="54864" cy="5303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298094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7AB8FF"/>
                </a:solidFill>
                <a:latin typeface="Consolas"/>
              </a:rPr>
              <a:t>2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298094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KernelAgent / KernelFalcon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298094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PyTorch · Meta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66360" y="298094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Deep Agents 分层 + 硬件信号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0" y="298094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L1/L2/L3 250/250 · 1.56× torch.compile · 89% H100 roofline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698480" y="298094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T2/T3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11480" y="3419856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11480" y="3419856"/>
            <a:ext cx="54864" cy="5303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02920" y="3547872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3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868680" y="3547872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AutoKernel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154680" y="3547872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RightNow AI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166360" y="3547872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autoresearch + Amdahl + 双后端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315200" y="354787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H100：RMSNorm 5.29× · softmax 2.82× · cross-entropy 2.21×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698480" y="3547872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2C55C"/>
                </a:solidFill>
                <a:latin typeface="Consolas"/>
              </a:rPr>
              <a:t>T1/T2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411480" y="3986784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11480" y="3986784"/>
            <a:ext cx="54864" cy="5303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02920" y="4114800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B88AF0"/>
                </a:solidFill>
                <a:latin typeface="Consolas"/>
              </a:rPr>
              <a:t>4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68680" y="4114800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K-Search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154680" y="4114800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UC Berkeley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166360" y="4114800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World-Model 规划 + 策略/实现解耦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315200" y="411480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FlashInfer GQA/MLA/MoE 平均 2.10× · MoE 14.3× · TriMul SOTA 1030μs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698480" y="4114800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B88AF0"/>
                </a:solidFill>
                <a:latin typeface="Consolas"/>
              </a:rPr>
              <a:t>T1/T5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411480" y="4553712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11480" y="4553712"/>
            <a:ext cx="54864" cy="5303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02920" y="4681728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38D1B8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68680" y="4681728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AVO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154680" y="4681728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NVIDIA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166360" y="4681728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Agent-as-Variation-Operator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315200" y="468172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Blackwell B200 · MHA 7-day 演化 · 超 cuDNN +3.5%, 超 FA-4 +10.5%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0698480" y="4681728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38D1B8"/>
                </a:solidFill>
                <a:latin typeface="Consolas"/>
              </a:rPr>
              <a:t>T1/T2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411480" y="5120640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11480" y="5120640"/>
            <a:ext cx="54864" cy="5303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502920" y="5248656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F6E6E"/>
                </a:solidFill>
                <a:latin typeface="Consolas"/>
              </a:rPr>
              <a:t>6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68680" y="5248656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CuTeGen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154680" y="5248656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U. Toronto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5166360" y="5248656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稳定抽象层 (CuTe) + 单 kernel 渐进精炼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15200" y="524865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12 matmul + 14 activation kernels · token 成本可控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0698480" y="5248656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EF6E6E"/>
                </a:solidFill>
                <a:latin typeface="Consolas"/>
              </a:rPr>
              <a:t>T4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411480" y="5687568"/>
            <a:ext cx="11384280" cy="53035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411480" y="5687568"/>
            <a:ext cx="54864" cy="5303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502920" y="5815584"/>
            <a:ext cx="36576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F2C55C"/>
                </a:solidFill>
                <a:latin typeface="Consolas"/>
              </a:rPr>
              <a:t>7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868680" y="5815584"/>
            <a:ext cx="22860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1" i="0">
                <a:solidFill>
                  <a:srgbClr val="EAF2FA"/>
                </a:solidFill>
                <a:latin typeface="Microsoft YaHei"/>
              </a:rPr>
              <a:t>KernelGen-LM / AscendKernelGen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3154680" y="5815584"/>
            <a:ext cx="20116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9FB5C9"/>
                </a:solidFill>
                <a:latin typeface="Microsoft YaHei"/>
              </a:rPr>
              <a:t>PCL · 中山大学 · 华为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166360" y="5815584"/>
            <a:ext cx="2148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EAF2FA"/>
                </a:solidFill>
                <a:latin typeface="Microsoft YaHei"/>
              </a:rPr>
              <a:t>领域数据 + 领域模型 (SFT + RLEF)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7315200" y="581558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0" i="0">
                <a:solidFill>
                  <a:srgbClr val="7AB8FF"/>
                </a:solidFill>
                <a:latin typeface="Consolas"/>
              </a:rPr>
              <a:t>Ascend NPU · L2 编译成功率 0%→95.5% (Pass@10)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0698480" y="5815584"/>
            <a:ext cx="1097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F2C55C"/>
                </a:solidFill>
                <a:latin typeface="Consolas"/>
              </a:rPr>
              <a:t>T6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各案例 arXiv / 官方 blog / GitHub repo (详见 References)；性能为各方公布数据，硬件 / shape 各异不可直接横比。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14 / 40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B2.1 · 案例 1/7 · KernelEvolve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Meta · ISCA 2026 · arXiv 2512.23236　|　代表趋势：T1 / T3 / T4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KernelBench 250/250 全 PASS · ATen 160 ops × 3 HW · 最高 17× vs PyTorch · 已落地 Meta 生产 ranking 系统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在生产级 ranking infra 上做异构 kernel 生成与优化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搜索式优化：tree search + 自改进 state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RAG 注入硬件知识库（含专有 MTIA 架构）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覆盖多 DSL：Triton / CuTe / FlyDSL / CUDA / HIP / MTIA C++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演化 + 验证 + 反馈三段式 loop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Job harness：规模化并行 compile + profile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运行时 RAG 上下文 → 动态 prompt 合成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生产部署：DLRM / Ads 推理吞吐提升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硬件信号化：profile / roofline / NCU 入循环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抽象层选择：稳定 + 可迭代的目标层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策略仍偏自由代码，跨 kernel 不易抽象成可复用资产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硬件知识库以文档为主，缺结构化决策资产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Meta engineering blog (2026-04) + arXiv 2512.23236 (KernelEvolve / Heterogeneous Agentic Kernel Authoring at Scale)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1/7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15 / 40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B2.2 · 案例 2/7 · KernelAgent / KernelFalcon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PyTorch · Meta · 2025–2026　|　代表趋势：T2 / T3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KernelBench L1/L2/L3 250/250 · 1.56× vs torch.compile · 89% H100 roofline · 多算子并行合成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Deep Agents 分层编排：Orchestrator / FuserAgent / ExtractorAgent / Workers / Profiler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硬件信号驱动：NCU + roofline 进入决策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严格门禁：编译 → 数值 → 性能 三段验证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并行多 worker 探索 + early-win 收敛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Deterministic orchestration（控制逻辑从 LLM 拿出来）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Grounded tool use：每步都经编译器/硬件验证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子图边界 + shape contract → JSON 合同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用合成 kernel 重建 forward 端到端替换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硬件信号化：profile / roofline / NCU 入循环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输出仍是 Triton 自由代码，缺独立策略层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跨硬件迁移尚未系统化验证（仍以 H100 为主）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PyTorch blog · KernelFalcon (autonomous GPU kernel generation via deep agents) + KernelAgent (hardware-guided GPU kernel optimization) · github.com/meta-pytorch/KernelAgent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2/7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16 / 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B2.3 · 案例 3/7 · AutoKernel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RightNow AI · arXiv 2603.21331　|　代表趋势：T1 /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H100 实测：RMSNorm 5.29× · softmax 2.82× · cross-entropy 2.21× vs PyTorch eager（公开 README 数据）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autoresearch 风格优化循环：profile → extract → edit → bench → keep/revert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Amdahl 优先级排序：集中精力到收益最大的瓶颈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双后端：Triton（快迭代）+ CUDA C++（深硬件）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5 阶段正确性 harness + 6 层 playbook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瓶颈定位 + 优先级调度（torch.profiler）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Tool-use harness：固定基准 + 自动 keep/revert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知识注入以 playbook（提示工程）为主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可长时间无人值守探索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优化粒度是「编辑文件」，缺中间层级可逆决策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知识沉淀仍是代码片段 + prompt，不易跨 kernel 复用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2603.21331 + github.com/RightNow-AI/autokernel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3/7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17 / 40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B2.4 · 案例 4/7 · K-Search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UC Berkeley · arXiv 2602.19128　|　代表趋势：T1 / T5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FlashInfer GQA/MLA/MoE 平均 2.10× · MoE 最高 14.3× · GPUMode TriMul H100 SOTA 1030μs（公开 paper 数据）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把 kernel 生成视作规划问题：problem → search tree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World Model：LLM 估计状态转移 + 价值，指导搜索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Plan ↔ Codegen 显式解耦：策略与实现分离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Co-Evolving：世界模型随搜索共同演化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World-model + planning + 状态空间剪枝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Stagnation-aware：无提升时自动切 action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Exec feedback 更新世界模型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对临时编译失败更鲁棒（不会「误杀」好策略）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知识资产化：rationale / playbook / 轨迹回放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世界模型大多隐式在 LLM 内部，难跨 session 持久化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硬件信号集成偏弱；输出仍是 Triton/CUDA 自由代码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2602.19128 + github.com/caoshiyi/K-Search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4/7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18 / 40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B2.5 · 案例 5/7 · AVO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NVIDIA · arXiv 2603.24517　|　代表趋势：T1 / T2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Blackwell B200 · MHA 7-day 演化 · 超 cuDNN +3.5% · 超 FlashAttention-4 +10.5% · GQA 迁移仅需 30 min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Evolutionary Algorithm 骨架（population / lineage）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把变异算子 Vary() 升级为自主 agent：propose → repair → critique → verify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Domain KB 作为知识源（硬件规约 + FA-4 / CUTLASS 实现）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长周期演化（多日尺度）发现微架构级优化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Agent-as-Variation-Operator：从 pipeline → agent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Self-directed loop · 多目标演化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Long-horizon：在 attention 上发现专家未覆盖的优化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Exec feedback 驱动下一轮变异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搜索化：one-shot → 演化 / 规划 / MCTS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工具化：tool-use + harness + 可复现评测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缺独立的策略表征层；输出多是 CUDA / C++ 实现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结果可解释性偏弱；长周期探索 token / 算力成本高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2603.24517 (Agentic Variation Operators for Evolutionary Kernel Optimization)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5/7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19 / 40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B2.6 · 案例 6/7 · CuTeGen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U. Toronto · arXiv 2604.01489　|　代表趋势：T4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CUTLASS v4.3 (CuTe) 上 12 matmul + 14 activation kernels · 渐进精炼 token 成本可控（vs 纯 LLM 直写 CUDA）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选 CuTe（CUTLASS 4.x layout algebra）作为稳定抽象层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单 kernel 渐进精炼（generate → test → refine）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失败走结构化模板而非纯报错粘贴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先正确性后性能，profile 反馈延迟注入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稳定抽象层 + 渐进精炼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对 tiling / data-movement 更显式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Token 成本可控（不做大规模搜索）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抽象层选择：稳定 + 可迭代的目标层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强绑定 NVIDIA / CuTe 生态，跨硬件能力受限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仍是 C++ 模板体系，知识沉淀机制弱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2604.01489 (LLM × CuTe abstraction for iterative kernel synthesis)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6/7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20 / 40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B2.7 · 案例 7/7 · KernelGen-LM / AscendKernelGen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PCL · 中山大学 · 华为 · arXiv 2601.07160　|　代表趋势：T6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783080"/>
            <a:ext cx="111099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783080"/>
            <a:ext cx="128016" cy="640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847088"/>
            <a:ext cx="219456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1" i="0">
                <a:solidFill>
                  <a:srgbClr val="7AB8FF"/>
                </a:solidFill>
                <a:latin typeface="Consolas"/>
              </a:rPr>
              <a:t>公开数据 / 代表性能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108960" y="1847088"/>
            <a:ext cx="850392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0" i="0">
                <a:solidFill>
                  <a:srgbClr val="EAF2FA"/>
                </a:solidFill>
                <a:latin typeface="Microsoft YaHei"/>
              </a:rPr>
              <a:t>Ascend NPU · AscendC DSL · NPUKernelBench L2 编译成功率 0% → 95.5% (Pass@10)；权重 / 数据 / 评测全部开源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4864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48640" y="2560320"/>
            <a:ext cx="128016" cy="1874519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Microsoft YaHei"/>
              </a:rPr>
              <a:t>做了什么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Ascend-CoT 数据集：真实 kernel + 文档推理 + 代码推理链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KernelGen-LM：Qwen3 backbone · NPU-aware SFT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RLEF：执行反馈强化（compile / 正确性 / 性能信号）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NPUKernelBench：编译/正确性/性能三维评测，难度分层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26480" y="2560320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126480" y="2560320"/>
            <a:ext cx="128016" cy="1874519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0" y="2651760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Microsoft YaHei"/>
              </a:rPr>
              <a:t>关键技术点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0" y="3063240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走「训一个领域模型」路线：知识进入权重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强耦合单硬件（AscendC / 昇腾）换取深度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用 CoT + RLEF 填补 DSL 数据稀缺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评测一等公民：编译 / 正确性 / 性能全量指标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4571999"/>
            <a:ext cx="128016" cy="1874519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2296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Microsoft YaHei"/>
              </a:rPr>
              <a:t>代表的趋势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2296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领域模型化：SFT + RLEF + 后训练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26480" y="4571999"/>
            <a:ext cx="54406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126480" y="4571999"/>
            <a:ext cx="128016" cy="1874519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400800" y="4663439"/>
            <a:ext cx="49834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Microsoft YaHei"/>
              </a:rPr>
              <a:t>它没解决什么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400800" y="5074919"/>
            <a:ext cx="4983480" cy="1280159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通用性受限：跨硬件需要再训 / 再适配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0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00">
                <a:solidFill>
                  <a:srgbClr val="EAF2FA"/>
                </a:solidFill>
                <a:latin typeface="Microsoft YaHei"/>
              </a:rPr>
              <a:t>工具链与决策协议尚未通用化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48640" y="6355080"/>
            <a:ext cx="11109960" cy="45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arXiv 2601.07160 (KernelGen-LM / AscendKernelGen)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 · 案例 7/7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21 / 40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B3 · 趋势归纳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业界正在收敛的 6 个方向（每条标注代表案例）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2194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T1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搜索化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4231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从 one-shot → 演化 / 规划 / MCTS 等结构化搜索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520440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38D1B8"/>
                </a:solidFill>
                <a:latin typeface="Consolas"/>
              </a:rPr>
              <a:t>代表：KernelEvolve · K-Search · AVO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297680" y="18288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4297680" y="1828800"/>
            <a:ext cx="128016" cy="219456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T2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30352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工具化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4231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tool-use + harness + 可复现评测，把 LLM 关进编译器 / profiler 控制室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572000" y="3520440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7AB8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7AB8FF"/>
                </a:solidFill>
                <a:latin typeface="Consolas"/>
              </a:rPr>
              <a:t>代表：KernelAgent · AutoKernel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8046720" y="1828800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046720" y="1828800"/>
            <a:ext cx="128016" cy="21945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321040" y="1947672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T3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052560" y="1993392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硬件信号化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21040" y="2423160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profile / roofline / NCU 反馈直接进入决策循环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321040" y="3520440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F2C55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321040" y="3520440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F2C55C"/>
                </a:solidFill>
                <a:latin typeface="Consolas"/>
              </a:rPr>
              <a:t>代表：KernelAgent · AVO · KernelEvolve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18795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187952"/>
            <a:ext cx="128016" cy="219456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22960" y="430682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T4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54480" y="43525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抽象层选择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4782312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放弃直写 PTX，押注稳定可迭代的抽象层 (Triton / CuTe / DSL)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22960" y="5879592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B88A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822960" y="58795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B88AF0"/>
                </a:solidFill>
                <a:latin typeface="Consolas"/>
              </a:rPr>
              <a:t>代表：CuTeGen · KernelEvolve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418795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297680" y="4187952"/>
            <a:ext cx="128016" cy="219456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572000" y="430682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Consolas"/>
              </a:rPr>
              <a:t>T5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303520" y="43525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知识资产化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572000" y="4782312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RAG + playbook + decision rationale + 轨迹 → 经验从手感到资产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4572000" y="5879592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EF6E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4572000" y="58795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EF6E6E"/>
                </a:solidFill>
                <a:latin typeface="Consolas"/>
              </a:rPr>
              <a:t>代表：KernelEvolve (RAG) · K-Search (world model)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8046720" y="4187952"/>
            <a:ext cx="3657600" cy="21945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8046720" y="4187952"/>
            <a:ext cx="128016" cy="219456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8321040" y="4306824"/>
            <a:ext cx="822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T6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052560" y="4352544"/>
            <a:ext cx="2468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领域模型化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8321040" y="4782312"/>
            <a:ext cx="329184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SFT + RLEF + 后训练，让小 / 中模型在 kernel 域具备专家级判断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8321040" y="5879592"/>
            <a:ext cx="3200400" cy="365760"/>
          </a:xfrm>
          <a:prstGeom prst="roundRect">
            <a:avLst>
              <a:gd name="adj" fmla="val 40000"/>
            </a:avLst>
          </a:prstGeom>
          <a:solidFill>
            <a:srgbClr val="0E2136"/>
          </a:solidFill>
          <a:ln w="9525">
            <a:solidFill>
              <a:srgbClr val="38D1B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321040" y="5879592"/>
            <a:ext cx="3200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0" i="0">
                <a:solidFill>
                  <a:srgbClr val="38D1B8"/>
                </a:solidFill>
                <a:latin typeface="Consolas"/>
              </a:rPr>
              <a:t>代表：KernelGen-LM / AscendKernelGen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7772400" y="6537960"/>
            <a:ext cx="269748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1">
                <a:solidFill>
                  <a:srgbClr val="6E869F"/>
                </a:solidFill>
                <a:latin typeface="Consolas"/>
              </a:rPr>
              <a:t>→ Glossary P03 · 术语 RAG / harness / RLEF / NCU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← 与 A2.5 范式判断对应：T1/T2/T3/T4/T5/T6 分别延伸自 ❶❷❸❹❺❻ 六条预判 (P07)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22 / 40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B4 · 已有的「好进展」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What's working — 客观陈述案例已经验证可行的部分（含真实数据）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1168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20" y="194767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正确性门禁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222199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数值等价 (numerical equivalence) 已是业界标配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74920" y="199339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证据：KernelAgent: KernelBench L1/L2/L3 250/250 全 PASS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48640" y="2624328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548640" y="2624328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2807208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20" y="274320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并行探索 + 早停 + 预算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3017520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multi-worker + early-win 显著降低 token/wall-clock 成本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074920" y="27889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证据：AutoKernel: 长时无人值守演化 · KernelEvolve: tree search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48640" y="3419856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48640" y="3419856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14400" y="3602736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20" y="3538728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硬件 profile 反馈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20" y="3813048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进入决策循环后稳定带来双位数性能提升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74920" y="35844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证据：KernelAgent: 89% H100 roofline · 1.56× torch.compile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4215384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4215384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4400" y="4398264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874520" y="4334256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稳定抽象层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20" y="4608576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Triton / CuTe 等上的 LLM 生成已能落地生产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74920" y="437997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证据：CuTeGen: 12 matmul + 14 act kernels · KernelEvolve: 多 DSL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48640" y="5010912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48640" y="5010912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14400" y="5193792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874520" y="5129784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RAG + 知识库 + 后训练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874520" y="5404104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让「专家直觉」开始可累计、可迁移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074920" y="517550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证据：KernelEvolve: 硬件知识库 RAG · KernelGen-LM: SFT + RLEF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548640" y="5806440"/>
            <a:ext cx="11109960" cy="7498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548640" y="5806440"/>
            <a:ext cx="128016" cy="74980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14400" y="5989320"/>
            <a:ext cx="822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G6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874520" y="5925312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Agent 编排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874520" y="6199632"/>
            <a:ext cx="3017520" cy="32918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00" b="0" i="0">
                <a:solidFill>
                  <a:srgbClr val="9FB5C9"/>
                </a:solidFill>
                <a:latin typeface="Microsoft YaHei"/>
              </a:rPr>
              <a:t>分层 + 规划 + 回滚让长会话稳定性显著改善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074920" y="597103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7AB8FF"/>
                </a:solidFill>
                <a:latin typeface="Consolas"/>
              </a:rPr>
              <a:t>证据：AVO: B200 上 MHA 7-day 演化超 FA-4 +10.5%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Source: 各案例公开 paper / blog / repo（详见 B2 与 References）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23 / 40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B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B5 · 仍待解决的「关键技术难题」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What's hard — H1–H9（统一编号 · 每条带业界证据）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Consolas"/>
              </a:rPr>
              <a:t>H1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策略可迁移性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286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策略仍埋在自由代码里，难审计 / 回滚 / 跨 kernel 迁移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86207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证据：KernelAgent / AVO 输出仍是 Triton/CUDA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828800"/>
            <a:ext cx="128016" cy="14173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Consolas"/>
              </a:rPr>
              <a:t>H2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25780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多级验证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286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事后对拍 → 静态 / 数值 / 性能的可剪枝多级门禁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86207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证据：各家自建 harness，无统一协议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828800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828800"/>
            <a:ext cx="128016" cy="1417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20240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Consolas"/>
              </a:rPr>
              <a:t>H3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0684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动态 / 符号 shape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28600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动态 shape 下泛化与不退化同时保证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862072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证据：shape guard / specialization 各家自做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364992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364992"/>
            <a:ext cx="128016" cy="14173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456432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B88AF0"/>
                </a:solidFill>
                <a:latin typeface="Consolas"/>
              </a:rPr>
              <a:t>H4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08760" y="346557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跨硬件迁移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38221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NVIDIA → Ascend / AMD / NPU 策略与知识复用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398264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证据：KernelGen-LM 切硬件需重训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364992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3364992"/>
            <a:ext cx="128016" cy="1417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3456432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Consolas"/>
              </a:rPr>
              <a:t>H5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257800" y="346557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模型级自治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38221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从单 kernel 到模型级 (bottleneck → 优化 → 回归) 闭环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398264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证据：AutoKernel 仅做单 kernel；端到端少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3364992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3364992"/>
            <a:ext cx="128016" cy="14173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3456432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38D1B8"/>
                </a:solidFill>
                <a:latin typeface="Consolas"/>
              </a:rPr>
              <a:t>H6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06840" y="346557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Token / 预算治理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3822192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长会话中预算 / 上下文 / 稳定性可治理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398264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证据：AVO 7-day 演化的成本控制是开放问题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4901184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4901184"/>
            <a:ext cx="128016" cy="14173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49926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7AB8FF"/>
                </a:solidFill>
                <a:latin typeface="Consolas"/>
              </a:rPr>
              <a:t>H7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08760" y="500176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后端天花板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822960" y="53583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Triton 抽象封顶 → 何时下沉 MLIR / LLVM 解锁深决策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822960" y="5934456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证据：CuTeGen 选 CuTe 才能逼近 cuBLAS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4297680" y="4901184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297680" y="4901184"/>
            <a:ext cx="128016" cy="14173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4572000" y="49926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F2C55C"/>
                </a:solidFill>
                <a:latin typeface="Consolas"/>
              </a:rPr>
              <a:t>H8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257800" y="500176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数据稀缺 / 领域模型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4572000" y="53583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kernel × HW × profile 三元组数据稀缺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4572000" y="5934456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证据：AscendKernelGen 自造 Ascend-CoT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8046720" y="4901184"/>
            <a:ext cx="3657600" cy="14173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8046720" y="4901184"/>
            <a:ext cx="128016" cy="14173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8321040" y="4992624"/>
            <a:ext cx="82296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F6E6E"/>
                </a:solidFill>
                <a:latin typeface="Consolas"/>
              </a:rPr>
              <a:t>H9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9006840" y="5001768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AF2FA"/>
                </a:solidFill>
                <a:latin typeface="Microsoft YaHei"/>
              </a:rPr>
              <a:t>评测可复现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321040" y="5358384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9FB5C9"/>
                </a:solidFill>
                <a:latin typeface="Microsoft YaHei"/>
              </a:rPr>
              <a:t>缺统一 benchmark / 形状层级 / 基线协议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8321040" y="5934456"/>
            <a:ext cx="32918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7AB8FF"/>
                </a:solidFill>
                <a:latin typeface="Consolas"/>
              </a:rPr>
              <a:t>证据：各家性能数据硬件 / shape 各异，难横比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B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24 / 40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TARGET STATE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目标态总览：未来算子生成 / 调优技术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北极星 · 7 大技术特征 F1–F7 · 对通用编程的启示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25 / 40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S1 · 北极星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未来大模型算子生成 / 调优技术的目标态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23774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146304" cy="23774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19659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目标态 · ONE-LINER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331720"/>
            <a:ext cx="10058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9FB5C9"/>
                </a:solidFill>
                <a:latin typeface="Microsoft YaHei"/>
              </a:rPr>
              <a:t>让 </a:t>
            </a:r>
            <a:r>
              <a:rPr sz="2200" b="1" i="0">
                <a:solidFill>
                  <a:srgbClr val="38D1B8"/>
                </a:solidFill>
                <a:latin typeface="Microsoft YaHei"/>
              </a:rPr>
              <a:t>任意 LLM 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在</a:t>
            </a:r>
            <a:r>
              <a:rPr sz="2200" b="1" i="0">
                <a:solidFill>
                  <a:srgbClr val="F2C55C"/>
                </a:solidFill>
                <a:latin typeface="Microsoft YaHei"/>
              </a:rPr>
              <a:t>最小 token 预算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下产出 </a:t>
            </a:r>
            <a:r>
              <a:rPr sz="2200" b="1" i="0">
                <a:solidFill>
                  <a:srgbClr val="EAF2FA"/>
                </a:solidFill>
                <a:latin typeface="Microsoft YaHei"/>
              </a:rPr>
              <a:t>正确、最优、可迁移、可演进 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的算子。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94360" y="4572000"/>
            <a:ext cx="214884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31520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38D1B8"/>
                </a:solidFill>
                <a:latin typeface="Consolas"/>
              </a:rPr>
              <a:t>#01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语义/策略分层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07208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807208" y="4572000"/>
            <a:ext cx="214884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44368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7AB8FF"/>
                </a:solidFill>
                <a:latin typeface="Consolas"/>
              </a:rPr>
              <a:t>#02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944368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0056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5020056" y="4572000"/>
            <a:ext cx="214884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57216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F2C55C"/>
                </a:solidFill>
                <a:latin typeface="Consolas"/>
              </a:rPr>
              <a:t>#03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57216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多级编译器验证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7232904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232904" y="4572000"/>
            <a:ext cx="214884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370064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B88AF0"/>
                </a:solidFill>
                <a:latin typeface="Consolas"/>
              </a:rPr>
              <a:t>#04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70064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结构化经验沉淀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9445752" y="4572000"/>
            <a:ext cx="2148840" cy="146304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9445752" y="4572000"/>
            <a:ext cx="2148840" cy="7315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582912" y="4983480"/>
            <a:ext cx="187452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EF6E6E"/>
                </a:solidFill>
                <a:latin typeface="Consolas"/>
              </a:rPr>
              <a:t>#05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582912" y="5349240"/>
            <a:ext cx="187452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400" b="1" i="0">
                <a:solidFill>
                  <a:srgbClr val="EAF2FA"/>
                </a:solidFill>
                <a:latin typeface="Microsoft YaHei"/>
              </a:rPr>
              <a:t>跨硬件零迁移成本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26 / 40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S2 · 7 大技术特征 F1–F7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由趋势 T1–T6 + 难题 H1–H9 收敛而来——目标态的 spec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17830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192024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F1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5448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语义与策略分离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" y="23317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2C55C"/>
                </a:solidFill>
                <a:latin typeface="Consolas"/>
              </a:rPr>
              <a:t>T4 · T5 / H1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2670048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「做什么」是不可变数学；「怎么做」是可搜索决策。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297680" y="182880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297680" y="1828800"/>
            <a:ext cx="128016" cy="178308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92024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7AB8FF"/>
                </a:solidFill>
                <a:latin typeface="Consolas"/>
              </a:rPr>
              <a:t>F2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0352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23317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2C55C"/>
                </a:solidFill>
                <a:latin typeface="Consolas"/>
              </a:rPr>
              <a:t>T2 / H2 · H6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0" y="2670048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LLM 不写自由代码，只在编译器枚举的合法动作上选择。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046720" y="1828800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8046720" y="1828800"/>
            <a:ext cx="128016" cy="17830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321040" y="1920240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C55C"/>
                </a:solidFill>
                <a:latin typeface="Consolas"/>
              </a:rPr>
              <a:t>F3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052560" y="1929384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多层 IR + 多级验证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21040" y="2331720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2C55C"/>
                </a:solidFill>
                <a:latin typeface="Consolas"/>
              </a:rPr>
              <a:t>T2 · T4 / H2 · H7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321040" y="2670048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高层语义 → 策略 → 调度 → 指令；每层静态/数值/性能门禁。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48640" y="373075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548640" y="3730752"/>
            <a:ext cx="128016" cy="178308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382219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8AF0"/>
                </a:solidFill>
                <a:latin typeface="Consolas"/>
              </a:rPr>
              <a:t>F4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554480" y="383133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硬件信号闭环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22960" y="423367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2C55C"/>
                </a:solidFill>
                <a:latin typeface="Consolas"/>
              </a:rPr>
              <a:t>T3 / H3 · H4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22960" y="457200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profile / roofline / 占用率 / 寄存器压力进入决策循环。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4297680" y="373075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4297680" y="3730752"/>
            <a:ext cx="128016" cy="17830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4572000" y="382219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F6E6E"/>
                </a:solidFill>
                <a:latin typeface="Consolas"/>
              </a:rPr>
              <a:t>F5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0" y="383133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结构化经验资产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4572000" y="423367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2C55C"/>
                </a:solidFill>
                <a:latin typeface="Consolas"/>
              </a:rPr>
              <a:t>T5 / H1 · H8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4572000" y="457200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rationale / playbook / 轨迹 / 决策树成为一等公民。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8046720" y="3730752"/>
            <a:ext cx="3657600" cy="178308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046720" y="3730752"/>
            <a:ext cx="128016" cy="178308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321040" y="3822192"/>
            <a:ext cx="7772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F6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052560" y="3831336"/>
            <a:ext cx="256032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跨硬件统一表达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21040" y="4233672"/>
            <a:ext cx="329184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50" b="0" i="0">
                <a:solidFill>
                  <a:srgbClr val="F2C55C"/>
                </a:solidFill>
                <a:latin typeface="Consolas"/>
              </a:rPr>
              <a:t>T4 / H4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21040" y="4572000"/>
            <a:ext cx="3291840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同一份语义、同一套决策原语，target-aware 适配多硬件。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548640" y="5632704"/>
            <a:ext cx="11109960" cy="868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48640" y="5632704"/>
            <a:ext cx="128016" cy="86868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822960" y="5751576"/>
            <a:ext cx="7772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F7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554480" y="5751576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500" b="1" i="0">
                <a:solidFill>
                  <a:srgbClr val="EAF2FA"/>
                </a:solidFill>
                <a:latin typeface="Microsoft YaHei"/>
              </a:rPr>
              <a:t>可复现评测协议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983480" y="5779008"/>
            <a:ext cx="210312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F2C55C"/>
                </a:solidFill>
                <a:latin typeface="Consolas"/>
              </a:rPr>
              <a:t>T1 · T2 / H9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0" y="5751576"/>
            <a:ext cx="4297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Microsoft YaHei"/>
              </a:rPr>
              <a:t>横切的「度量层」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35624"/>
            <a:ext cx="1074420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统一形状层级 / baseline / 报表 schema → 跨工作 / 跨硬件 / 跨版本可横向对比；是把前 6 个特征「真正落到工程」的前提。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27 / 40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S3 · 对通用编程的启示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把 kernel 域的洞察推广到更广的软件工程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91640" y="1947672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编程语言会双层化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0" y="1947672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What / How 显式分离——适用于性能敏感 + 正确性敏感的所有领域：数据库执行计划 / 分布式调度 / 系统调优 / 形式化证明。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578608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578608"/>
            <a:ext cx="128016" cy="71323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74320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91640" y="26974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模型不是代码生成器，而是决策代理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697480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通用编程的下一步：在结构化决策空间里做选择；编译器 / 运行时 / 类型系统是它的「环境」。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328416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328416"/>
            <a:ext cx="128016" cy="71323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493008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691640" y="3447288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编译器 / 工具链承担「可验证 RL 环境」的角色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0" y="3447288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静态 / 数值 / 性能 三级验证不仅是 kernel 域的工程实践，更是让 LLM 在通用程序合成中「安全地试错」的范式。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078224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078224"/>
            <a:ext cx="128016" cy="71323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242816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B88AF0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691640" y="4197096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经验资产化是 LLM 工程的真正护城河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0" y="4197096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decision rationale / 轨迹 / 决策树可被检索、训练、跨团队复用——比生成的代码本身更有长期价值。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4828032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4828032"/>
            <a:ext cx="128016" cy="713232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4992624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EF6E6E"/>
                </a:solidFill>
                <a:latin typeface="Consola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91640" y="4946904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跨平台 / 跨架构「零迁移成本」正在变得可能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4946904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抽象层稳定 + 策略可迁移 → 写一次跑多硬件，从图编译器口号变 LLM 时代现实。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48640" y="5577840"/>
            <a:ext cx="11109960" cy="713232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548640" y="5577840"/>
            <a:ext cx="128016" cy="71323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14400" y="574243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00" b="1" i="0">
                <a:solidFill>
                  <a:srgbClr val="38D1B8"/>
                </a:solidFill>
                <a:latin typeface="Consolas"/>
              </a:rPr>
              <a:t>06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91640" y="5696712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350" b="1" i="0">
                <a:solidFill>
                  <a:srgbClr val="EAF2FA"/>
                </a:solidFill>
                <a:latin typeface="Microsoft YaHei"/>
              </a:rPr>
              <a:t>评测协议是行业的公共物品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5486400" y="5696712"/>
            <a:ext cx="594360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Microsoft YaHei"/>
              </a:rPr>
              <a:t>与其每家堆 demo，不如共同推动可复现的评测协议——这是行业从「PR 驱动」走向「工程化」的前提。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28 / 40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TARGET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S4 · 从目标态走向构建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Agent 是手段，IR + 验证 + 编译栈才是底盘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10515600" cy="18288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22960" y="1828800"/>
            <a:ext cx="146304" cy="18288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011680"/>
            <a:ext cx="10058400" cy="15544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40000"/>
              </a:lnSpc>
            </a:pPr>
            <a:r>
              <a:rPr sz="2200" b="0" i="0">
                <a:solidFill>
                  <a:srgbClr val="9FB5C9"/>
                </a:solidFill>
                <a:latin typeface="Microsoft YaHei"/>
              </a:rPr>
              <a:t>下一章给出一个 </a:t>
            </a:r>
            <a:r>
              <a:rPr sz="2200" b="1" i="0">
                <a:solidFill>
                  <a:srgbClr val="38D1B8"/>
                </a:solidFill>
                <a:latin typeface="Microsoft YaHei"/>
              </a:rPr>
              <a:t>可落地的总体设计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，</a:t>
            </a:r>
            <a:r>
              <a:rPr sz="2200" b="1" i="0">
                <a:solidFill>
                  <a:srgbClr val="F2C55C"/>
                </a:solidFill>
                <a:latin typeface="Microsoft YaHei"/>
              </a:rPr>
              <a:t>而不是「再堆一个 agent」</a:t>
            </a:r>
            <a:r>
              <a:rPr sz="2200" b="0" i="0">
                <a:solidFill>
                  <a:srgbClr val="9FB5C9"/>
                </a:solidFill>
                <a:latin typeface="Microsoft YaHei"/>
              </a:rPr>
              <a:t>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4864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48640" y="4114800"/>
            <a:ext cx="269748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38D1B8"/>
                </a:solidFill>
                <a:latin typeface="Microsoft YaHei"/>
              </a:rPr>
              <a:t>设计逻辑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5 条公理，每条对应 F1–F7 的一个或多个特征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33756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3337560" y="4114800"/>
            <a:ext cx="269748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52044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7AB8FF"/>
                </a:solidFill>
                <a:latin typeface="Microsoft YaHei"/>
              </a:rPr>
              <a:t>整体架构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52044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一张系统总图——四件套 + Benchmark 的协作关系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2648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126480" y="4114800"/>
            <a:ext cx="269748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30936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2C55C"/>
                </a:solidFill>
                <a:latin typeface="Microsoft YaHei"/>
              </a:rPr>
              <a:t>四件套 + Benchmark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Language · IR · Compiler · Agent · Benchmark 各一页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4114800"/>
            <a:ext cx="2697480" cy="20116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4114800"/>
            <a:ext cx="269748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4343400"/>
            <a:ext cx="2423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B88AF0"/>
                </a:solidFill>
                <a:latin typeface="Microsoft YaHei"/>
              </a:rPr>
              <a:t>最终对齐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4892040"/>
            <a:ext cx="2423160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0">
                <a:solidFill>
                  <a:srgbClr val="9FB5C9"/>
                </a:solidFill>
                <a:latin typeface="Microsoft YaHei"/>
              </a:rPr>
              <a:t>F1–F7 ↔ Arke 组件一一对应，闭环全 PPT 叙事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Target State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29 / 40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6784848"/>
            <a:ext cx="12191695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1463040"/>
            <a:ext cx="109728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PART C · ARKE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2011680"/>
            <a:ext cx="1097280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4400" b="1" i="0">
                <a:solidFill>
                  <a:srgbClr val="EAF2FA"/>
                </a:solidFill>
                <a:latin typeface="Microsoft YaHei"/>
              </a:rPr>
              <a:t>Arke 的技术构建：设计逻辑 + 整体架构 + 四件套 + Benchmark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14800"/>
            <a:ext cx="10515600" cy="128016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822960" y="4114800"/>
            <a:ext cx="128016" cy="128016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97280" y="4251960"/>
            <a:ext cx="10058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500" b="0" i="0">
                <a:solidFill>
                  <a:srgbClr val="9FB5C9"/>
                </a:solidFill>
                <a:latin typeface="Microsoft YaHei"/>
              </a:rPr>
              <a:t>5 条公理 · 一张总图 · Language / IR / Compiler / Agent /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30 / 40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C1 · 设计逻辑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Arke 凭什么相信能逼近目标态——5 条设计公理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7772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1993392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公理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03120" y="1947672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算子是「可数学验证」的对象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947672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语义/策略分离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469880" y="2029968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469880" y="2029968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F1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48640" y="2660904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48640" y="2660904"/>
            <a:ext cx="128016" cy="7772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914400" y="2825496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公理 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103120" y="2779776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LLM 是决策者，不是代码生成器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309360" y="2779776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Bounded Action Space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10469880" y="2862072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469880" y="2862072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48640" y="3493008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48640" y="3493008"/>
            <a:ext cx="128016" cy="7772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3657600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公理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103120" y="3611880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编译器是「可验证 RL 环境」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309360" y="3611880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多层 IR + 多级验证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10469880" y="3694176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469880" y="3694176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F3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48640" y="4325112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548640" y="4325112"/>
            <a:ext cx="128016" cy="77724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14400" y="4489704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AF0"/>
                </a:solidFill>
                <a:latin typeface="Consolas"/>
              </a:rPr>
              <a:t>公理 4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103120" y="4443984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经验必须能沉淀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09360" y="4443984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@rationale 作为一等公民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469880" y="4526280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469880" y="4526280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F5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548640" y="5157216"/>
            <a:ext cx="11109960" cy="7772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548640" y="5157216"/>
            <a:ext cx="128016" cy="77724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14400" y="5321808"/>
            <a:ext cx="10972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F6E6E"/>
                </a:solidFill>
                <a:latin typeface="Consolas"/>
              </a:rPr>
              <a:t>公理 5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2103120" y="5276088"/>
            <a:ext cx="411480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性能上限来自硬件，不是抽象层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309360" y="5276088"/>
            <a:ext cx="4023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0" i="0">
                <a:solidFill>
                  <a:srgbClr val="9FB5C9"/>
                </a:solidFill>
                <a:latin typeface="Microsoft YaHei"/>
              </a:rPr>
              <a:t>→ 必然要 渐进下沉到更深的 IR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10469880" y="5358384"/>
            <a:ext cx="1051560" cy="384048"/>
          </a:xfrm>
          <a:prstGeom prst="roundRect">
            <a:avLst>
              <a:gd name="adj" fmla="val 40000"/>
            </a:avLst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10469880" y="5358384"/>
            <a:ext cx="10515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100" b="1" i="0">
                <a:solidFill>
                  <a:srgbClr val="0B1B2E"/>
                </a:solidFill>
                <a:latin typeface="Consolas"/>
              </a:rPr>
              <a:t>F3 + F6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199632"/>
            <a:ext cx="10972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0" i="1">
                <a:solidFill>
                  <a:srgbClr val="9FB5C9"/>
                </a:solidFill>
                <a:latin typeface="Microsoft YaHei"/>
              </a:rPr>
              <a:t>设计公理 → 体系结构 → 四件套实现，逻辑自上而下闭合。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199632"/>
            <a:ext cx="77724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1">
                <a:solidFill>
                  <a:srgbClr val="6E869F"/>
                </a:solidFill>
                <a:latin typeface="Microsoft YaHei"/>
              </a:rPr>
              <a:t>← 5 条公理直接回应 A2.5 范式判断：公理 1↔❺ · 公理 2↔❹ · 公理 3↔❷❺ · 公理 4↔❺❻ · 公理 5↔❻ (P07)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31 / 40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C2 · 整体架构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唯一的系统总图——一眼看懂 Arke 怎么承载目标态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640080" y="1783080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640080" y="1783080"/>
            <a:ext cx="128016" cy="9144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920240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38D1B8"/>
                </a:solidFill>
                <a:latin typeface="Consolas"/>
              </a:rPr>
              <a:t>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901952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Arke Language (.ak)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286000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kernel { 语义 }   strategy { 决策 + rationale }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0195560" y="2057400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195560" y="2057400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F1 · F5</a:t>
            </a:r>
          </a:p>
        </p:txBody>
      </p:sp>
      <p:sp>
        <p:nvSpPr>
          <p:cNvPr id="15" name="Down Arrow 14"/>
          <p:cNvSpPr/>
          <p:nvPr/>
        </p:nvSpPr>
        <p:spPr>
          <a:xfrm>
            <a:off x="5943600" y="2697480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40080" y="2807208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2807208"/>
            <a:ext cx="128016" cy="91440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944368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7AB8FF"/>
                </a:solidFill>
                <a:latin typeface="Consolas"/>
              </a:rPr>
              <a:t>②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926080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Arke IR — 4 层架构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37360" y="3310128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L4 SemanticIR · L3 StrategyIR · L2 ScheduleIR · L1 InstructionIR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10195560" y="3081528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195560" y="3081528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F2 · F3 · F6</a:t>
            </a:r>
          </a:p>
        </p:txBody>
      </p:sp>
      <p:sp>
        <p:nvSpPr>
          <p:cNvPr id="23" name="Down Arrow 22"/>
          <p:cNvSpPr/>
          <p:nvPr/>
        </p:nvSpPr>
        <p:spPr>
          <a:xfrm>
            <a:off x="5943600" y="3721608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40080" y="3831336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40080" y="3831336"/>
            <a:ext cx="128016" cy="91440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3968496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F2C55C"/>
                </a:solidFill>
                <a:latin typeface="Consolas"/>
              </a:rPr>
              <a:t>③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3950208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Compiler Toolchain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4334256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OpRegistry · PassPipeline · V0/V1/V2 · Backend (Triton/MLIR/LLVM)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0195560" y="4105656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195560" y="4105656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F3 · F4 · F6</a:t>
            </a:r>
          </a:p>
        </p:txBody>
      </p:sp>
      <p:sp>
        <p:nvSpPr>
          <p:cNvPr id="31" name="Down Arrow 30"/>
          <p:cNvSpPr/>
          <p:nvPr/>
        </p:nvSpPr>
        <p:spPr>
          <a:xfrm>
            <a:off x="5943600" y="4745736"/>
            <a:ext cx="274320" cy="109728"/>
          </a:xfrm>
          <a:prstGeom prst="downArrow">
            <a:avLst/>
          </a:prstGeom>
          <a:solidFill>
            <a:srgbClr val="9FB5C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ounded Rectangle 31"/>
          <p:cNvSpPr/>
          <p:nvPr/>
        </p:nvSpPr>
        <p:spPr>
          <a:xfrm>
            <a:off x="640080" y="4855464"/>
            <a:ext cx="10881360" cy="91440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40080" y="4855464"/>
            <a:ext cx="128016" cy="91440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992624"/>
            <a:ext cx="6400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200" b="1" i="0">
                <a:solidFill>
                  <a:srgbClr val="B88AF0"/>
                </a:solidFill>
                <a:latin typeface="Consolas"/>
              </a:rPr>
              <a:t>④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4974336"/>
            <a:ext cx="420624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50" b="1" i="0">
                <a:solidFill>
                  <a:srgbClr val="EAF2FA"/>
                </a:solidFill>
                <a:latin typeface="Microsoft YaHei"/>
              </a:rPr>
              <a:t>Agent Engineering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37360" y="5358384"/>
            <a:ext cx="7772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9FB5C9"/>
                </a:solidFill>
                <a:latin typeface="Microsoft YaHei"/>
              </a:rPr>
              <a:t>Tool-use 协议 · Bounded Action · Budget · Checkpoint/Rollback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10195560" y="5129784"/>
            <a:ext cx="1188720" cy="38404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10195560" y="5129784"/>
            <a:ext cx="118872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F2 · F4 · F5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640080" y="5879592"/>
            <a:ext cx="10881360" cy="64008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40080" y="5879592"/>
            <a:ext cx="128016" cy="64008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6044184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GPU / NPU 执行:　 NVIDIA · Ascend · AMD · 未来 NPU / DSA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6656832"/>
            <a:ext cx="10881360" cy="36576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914400" y="6656832"/>
            <a:ext cx="10881360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⑤ Benchmark 体系（横切的「度量层」）：BL × OT × ST × L  ·  多 baseline  ·  统一 reporting schema  ·  ⇒ F7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32 / 40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C3 · 组件 1 · Arke Language (.ak)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 与人共同书写的「算子规约语言」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38D1B8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kernel { ... } 写纯数学语义（无 tile / 无 thread / 无 memory）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strategy { ... } 写离散决策 + @rationale，每条决策可枚举/回滚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where 子句承载符号维度 / 动态 shape 约束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token 效率：相对手写 Triton 节省一个数量级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可读性：人和 LLM 同时可读、可写、可审计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通用算子抽象：算子通过 OpRegistry 注册，而非内建关键字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38D1B8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single source of truth：.ak 是规范，JSON IR 仅作序列化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T4 · 稳定抽象层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T5 · 知识资产化（@rationale）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H1 · 策略可迁移：策略从代码中抽出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H3 · 动态 shape：where + symbolic dim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F1 · 语义 / 策略分离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F5 · 结构化经验资产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33 / 40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C4 · 组件 2 · Arke IR (多层架构)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LLM-Native 中间表示——4 层各有「LLM 参与度」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7AB8FF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4 · SemanticIR：纯数学，硬件无关，作为正确性参考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3 · StrategyIR：决策 + @rationale，LLM 主战场，可 checkpoint / rollback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2 · ScheduleIR：thread / block / warp 映射，编译器主导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Layer 1 · InstructionIR：近 LLVM IR，全自动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决策空间是有界的，可枚举、可剪枝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每层之间下沉，配合 V0/V1/V2 三级验证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与 MLIR / LLVM 互操作而非依赖：可下沉、可绕过、可演进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7AB8FF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符号维度（symbolic dim）贯穿 4 层，动态 shape 一等公民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T2 · 工具化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T4 · 抽象层选择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H2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H7 · 后端天花板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H3 · 动态 / 符号 shape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F2 · 有界动作空间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F3 · 多层 IR +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F6 · 跨硬件统一表达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2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34 / 40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C5 · 组件 3 · Arke Compiler Toolchain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"Compiler-as-Verifier"——不优化，只把关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2C55C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OpRegistry：算子单一事实源，新增算子的成本最小化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Pass Pipeline：可组合的 IR 变换基础设施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多级验证流水：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V0 静态 (&lt;1ms)：结构 / 类型 / 约束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V1 数值：与 NumPy / 参考实现对拍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V2 性能：编译 + profile，进入 LLM 反馈循环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Backend 抽象：Triton / MLIR / LLVM 可插拔，渐进下沉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硬件信号：roofline / occupancy / 寄存器压力可被 Agent 引用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G1 · 正确性门禁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G3 · 硬件信号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G4 · 稳定抽象层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H2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H4 · 跨硬件迁移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H7 · 后端天花板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F3 · 多级验证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F4 · 硬件信号闭环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F6 · 跨硬件统一表达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35 / 40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C6 · 组件 4 · Arke Agent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让任意 LLM 都能稳定开 kernel 的「工程化运行时」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6766560" cy="443484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443484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19659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B88AF0"/>
                </a:solidFill>
                <a:latin typeface="Consolas"/>
              </a:rPr>
              <a:t>设计要点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2468880"/>
            <a:ext cx="6400800" cy="36576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统一工具协议：analyze_compute / list_legal_actions / apply_decision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verify_correctness / compile_and_profile / observe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checkpoint / rollback / nudge / compact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Bounded Action Space：动作来自编译器枚举，杜绝幻觉式自由代码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预算 / 节流：budget · prompt cache · segmented compact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双模集成：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Mode A 内置 agent（CLI / Python API）</a:t>
            </a:r>
          </a:p>
          <a:p>
            <a:pPr algn="l" lvl="1">
              <a:lnSpc>
                <a:spcPct val="132000"/>
              </a:lnSpc>
              <a:spcAft>
                <a:spcPts val="200"/>
              </a:spcAft>
            </a:pPr>
            <a:r>
              <a:rPr sz="1300" b="0">
                <a:solidFill>
                  <a:srgbClr val="6E869F"/>
                </a:solidFill>
                <a:latin typeface="Microsoft YaHei"/>
              </a:rPr>
              <a:t>·  </a:t>
            </a:r>
            <a:r>
              <a:rPr sz="1200">
                <a:solidFill>
                  <a:srgbClr val="9FB5C9"/>
                </a:solidFill>
                <a:latin typeface="Microsoft YaHei"/>
              </a:rPr>
              <a:t>Mode B 外部 agent（Cursor / Claude Code 等可直接驱动）</a:t>
            </a:r>
          </a:p>
          <a:p>
            <a:pPr algn="l">
              <a:lnSpc>
                <a:spcPct val="132000"/>
              </a:lnSpc>
              <a:spcAft>
                <a:spcPts val="200"/>
              </a:spcAft>
            </a:pPr>
            <a:r>
              <a:rPr sz="1300" b="1">
                <a:solidFill>
                  <a:srgbClr val="B88AF0"/>
                </a:solidFill>
                <a:latin typeface="Microsoft YaHei"/>
              </a:rPr>
              <a:t>▸ </a:t>
            </a:r>
            <a:r>
              <a:rPr sz="1300">
                <a:solidFill>
                  <a:srgbClr val="EAF2FA"/>
                </a:solidFill>
                <a:latin typeface="Microsoft YaHei"/>
              </a:rPr>
              <a:t>轨迹 + rationale 沉淀：每次会话产出可检索 / 可训练资产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498079" y="1828800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79" y="1828800"/>
            <a:ext cx="4160520" cy="54864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26679" y="1956816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呼应趋势 / 进展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26679" y="2331720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T1 · 搜索化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T2 · 工具化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38D1B8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G6 · Agent 编排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498079" y="3355848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79" y="3355848"/>
            <a:ext cx="4160520" cy="54864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26679" y="3483864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回应难题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726679" y="3858768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H5 · 模型级闭环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H6 · token / 预算治理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H8 · 数据 / 领域模型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498079" y="4882896"/>
            <a:ext cx="4160520" cy="14173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498079" y="4882896"/>
            <a:ext cx="4160520" cy="54864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726679" y="5010912"/>
            <a:ext cx="3794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承载目标态特征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26679" y="5385816"/>
            <a:ext cx="3794760" cy="8229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F2 · 有界动作空间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F4 · 硬件信号闭环</a:t>
            </a:r>
          </a:p>
          <a:p>
            <a:pPr algn="l">
              <a:lnSpc>
                <a:spcPct val="120000"/>
              </a:lnSpc>
              <a:spcAft>
                <a:spcPts val="200"/>
              </a:spcAft>
            </a:pPr>
            <a:r>
              <a:rPr sz="1150" b="1">
                <a:solidFill>
                  <a:srgbClr val="F2C55C"/>
                </a:solidFill>
                <a:latin typeface="Microsoft YaHei"/>
              </a:rPr>
              <a:t>• </a:t>
            </a:r>
            <a:r>
              <a:rPr sz="1150">
                <a:solidFill>
                  <a:srgbClr val="EAF2FA"/>
                </a:solidFill>
                <a:latin typeface="Microsoft YaHei"/>
              </a:rPr>
              <a:t>F5 · 经验资产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36 / 40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C7 · 组件 ⑤ · Benchmark 体系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「没有度量就没有优化」——Arke 的可复现评测协议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2697480" cy="73152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38D1B8"/>
                </a:solidFill>
                <a:latin typeface="Consolas"/>
              </a:rPr>
              <a:t>BL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Benchmark Level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BL1 单算子正确性 → BL5 多算子融合 → BL6 模型 E2E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33756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3337560" y="1828800"/>
            <a:ext cx="2697480" cy="73152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52044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7AB8FF"/>
                </a:solidFill>
                <a:latin typeface="Consolas"/>
              </a:rPr>
              <a:t>OT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Op Tier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52044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OT0 elementwise → OT1 reduction → OT2 dense → OT3 fused → OT4 attention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2648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26480" y="1828800"/>
            <a:ext cx="2697480" cy="73152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F2C55C"/>
                </a:solidFill>
                <a:latin typeface="Consolas"/>
              </a:rPr>
              <a:t>ST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Shape Tier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ST1 小 → ST2 中 → ST3 大 → ST4 极端（覆盖动态 shape）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915400" y="1828800"/>
            <a:ext cx="2697480" cy="1874519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15400" y="1828800"/>
            <a:ext cx="2697480" cy="73152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2057400"/>
            <a:ext cx="2423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200" b="1" i="0">
                <a:solidFill>
                  <a:srgbClr val="B88AF0"/>
                </a:solidFill>
                <a:latin typeface="Consolas"/>
              </a:rPr>
              <a:t>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2606040"/>
            <a:ext cx="24231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00" b="1" i="0">
                <a:solidFill>
                  <a:srgbClr val="EAF2FA"/>
                </a:solidFill>
                <a:latin typeface="Microsoft YaHei"/>
              </a:rPr>
              <a:t>Layer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098280" y="2971800"/>
            <a:ext cx="2423160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0" i="0">
                <a:solidFill>
                  <a:srgbClr val="9FB5C9"/>
                </a:solidFill>
                <a:latin typeface="Microsoft YaHei"/>
              </a:rPr>
              <a:t>L1 单算子 · L2 融合 · L3 模型级 E2E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3931920"/>
            <a:ext cx="7040880" cy="23317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3931920"/>
            <a:ext cx="128016" cy="23317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4041648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F2C55C"/>
                </a:solidFill>
                <a:latin typeface="Consolas"/>
              </a:rPr>
              <a:t>多 baseline 矩阵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68680" y="4434840"/>
            <a:ext cx="658368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P0 cuBLAS / cuDNN —— 厂商极致基线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P1 FlagGems / Liger —— 开源 Triton 算子库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P3 PyTorch eager —— 通用基线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P4 torch.compile (Inductor) —— 图编译器基线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200" b="1">
                <a:solidFill>
                  <a:srgbClr val="F2C55C"/>
                </a:solidFill>
                <a:latin typeface="Microsoft YaHei"/>
              </a:rPr>
              <a:t>▸ </a:t>
            </a:r>
            <a:r>
              <a:rPr sz="1200">
                <a:solidFill>
                  <a:srgbClr val="EAF2FA"/>
                </a:solidFill>
                <a:latin typeface="Microsoft YaHei"/>
              </a:rPr>
              <a:t>P5 Arke 自身（KernelCache）—— 自我回归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726679" y="3931920"/>
            <a:ext cx="3931920" cy="233172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7726679" y="3931920"/>
            <a:ext cx="128016" cy="23317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028431" y="404164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00" b="1" i="0">
                <a:solidFill>
                  <a:srgbClr val="EF6E6E"/>
                </a:solidFill>
                <a:latin typeface="Consolas"/>
              </a:rPr>
              <a:t>回应 H9 · 承载 F7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028431" y="4434840"/>
            <a:ext cx="3520440" cy="182880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统一 reporting schema (JSON + Markdown)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跨 baseline 横向可比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跨硬件 / 跨版本可复现</a:t>
            </a:r>
          </a:p>
          <a:p>
            <a:pPr algn="l">
              <a:lnSpc>
                <a:spcPct val="125000"/>
              </a:lnSpc>
              <a:spcAft>
                <a:spcPts val="200"/>
              </a:spcAft>
            </a:pPr>
            <a:r>
              <a:rPr sz="1150" b="1">
                <a:solidFill>
                  <a:srgbClr val="EF6E6E"/>
                </a:solidFill>
                <a:latin typeface="Microsoft YaHei"/>
              </a:rPr>
              <a:t>▸ </a:t>
            </a:r>
            <a:r>
              <a:rPr sz="1150">
                <a:solidFill>
                  <a:srgbClr val="EAF2FA"/>
                </a:solidFill>
                <a:latin typeface="Microsoft YaHei"/>
              </a:rPr>
              <a:t>Arke 给行业的「公共物品提案」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 · 组件 5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37 / 40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C8 · 与目标态 F1–F7 最终对齐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Arke 不是「再做一个 agent」，而是把目标态变成可工程实现的栈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457200"/>
          </a:xfrm>
          <a:prstGeom prst="roundRect">
            <a:avLst>
              <a:gd name="adj" fmla="val 6000"/>
            </a:avLst>
          </a:prstGeom>
          <a:solidFill>
            <a:srgbClr val="18355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F#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目标态特征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0624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Arke 承载组件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0" y="1920240"/>
            <a:ext cx="274320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50" b="1" i="0">
                <a:solidFill>
                  <a:srgbClr val="F2C55C"/>
                </a:solidFill>
                <a:latin typeface="Consolas"/>
              </a:rPr>
              <a:t>一句话说明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33172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331720"/>
            <a:ext cx="91440" cy="502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77240" y="245059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245059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语义 / 策略分离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245059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+ IR L4/L3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245059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.ak 双块 + IR 双层强约束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2898648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48640" y="2898648"/>
            <a:ext cx="91440" cy="502920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77240" y="301752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7AB8FF"/>
                </a:solidFill>
                <a:latin typeface="Consolas"/>
              </a:rPr>
              <a:t>F2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301752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有界动作空间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06240" y="301752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IR L3 + Agent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772400" y="301752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StrategyIR 决策可枚举；Agent 工具协议禁止自由代码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8640" y="3465576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48640" y="3465576"/>
            <a:ext cx="91440" cy="502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77240" y="3584448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F3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280160" y="3584448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多层 IR + 多级验证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06240" y="3584448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IR L4–L1 + Compiler V0/V1/V2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772400" y="3584448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四层下沉 × 三级验证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48640" y="4032504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48640" y="4032504"/>
            <a:ext cx="91440" cy="502920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77240" y="4151376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B88AF0"/>
                </a:solidFill>
                <a:latin typeface="Consolas"/>
              </a:rPr>
              <a:t>F4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280160" y="4151376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硬件信号闭环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06240" y="4151376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Compiler + Agent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72400" y="4151376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compile_and_profile 反馈进入决策循环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48640" y="4599432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48640" y="4599432"/>
            <a:ext cx="91440" cy="502920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77240" y="4718304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F6E6E"/>
                </a:solidFill>
                <a:latin typeface="Consolas"/>
              </a:rPr>
              <a:t>F5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1280160" y="4718304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结构化经验资产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06240" y="4718304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@rationale + Agent 轨迹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772400" y="4718304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一等公民 + 跨会话沉淀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548640" y="5166360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48640" y="5166360"/>
            <a:ext cx="91440" cy="50292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77240" y="5285232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F6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280160" y="5285232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跨硬件统一表达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06240" y="5285232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Language + IR + Backend 抽象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7772400" y="5285232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单语义多 target；Triton / MLIR / LLVM 渐进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548640" y="5733288"/>
            <a:ext cx="11109960" cy="502920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548640" y="5733288"/>
            <a:ext cx="91440" cy="502920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777240" y="5852160"/>
            <a:ext cx="45720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F2C55C"/>
                </a:solidFill>
                <a:latin typeface="Consolas"/>
              </a:rPr>
              <a:t>F7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280160" y="5852160"/>
            <a:ext cx="29260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200" b="1" i="0">
                <a:solidFill>
                  <a:srgbClr val="EAF2FA"/>
                </a:solidFill>
                <a:latin typeface="Microsoft YaHei"/>
              </a:rPr>
              <a:t>可复现评测协议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206240" y="5852160"/>
            <a:ext cx="338328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9FB5C9"/>
                </a:solidFill>
                <a:latin typeface="Consolas"/>
              </a:rPr>
              <a:t>Benchmark (BL/OT/ST/L)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772400" y="5852160"/>
            <a:ext cx="329184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100" b="0" i="0">
                <a:solidFill>
                  <a:srgbClr val="EAF2FA"/>
                </a:solidFill>
                <a:latin typeface="Microsoft YaHei"/>
              </a:rPr>
              <a:t>多 baseline + 统一 schema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38 / 40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0241280" y="411480"/>
            <a:ext cx="1417320" cy="292608"/>
          </a:xfrm>
          <a:prstGeom prst="roundRect">
            <a:avLst>
              <a:gd name="adj" fmla="val 40000"/>
            </a:avLst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241280" y="411480"/>
            <a:ext cx="1417320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 i="0">
                <a:solidFill>
                  <a:srgbClr val="0B1B2E"/>
                </a:solidFill>
                <a:latin typeface="Consolas"/>
              </a:rPr>
              <a:t>PART 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411480"/>
            <a:ext cx="100584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C9 · 讨论与 Q&amp;A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713232"/>
            <a:ext cx="1115568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5 个研讨引导问题</a:t>
            </a:r>
          </a:p>
        </p:txBody>
      </p:sp>
      <p:sp>
        <p:nvSpPr>
          <p:cNvPr id="7" name="Rectangle 6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828800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828800"/>
            <a:ext cx="128016" cy="841248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029968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38D1B8"/>
                </a:solidFill>
                <a:latin typeface="Consolas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975104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有界动作空间的「边界」由谁定义？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37360" y="233172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编译器枚举 vs 模型外推——谁说了算？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48640" y="2706624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548640" y="2706624"/>
            <a:ext cx="128016" cy="841248"/>
          </a:xfrm>
          <a:prstGeom prst="rect">
            <a:avLst/>
          </a:prstGeom>
          <a:solidFill>
            <a:srgbClr val="7AB8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2907792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7AB8FF"/>
                </a:solidFill>
                <a:latin typeface="Consolas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2852928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@rationale 是终极的知识沉淀介质吗？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737360" y="3209544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还是只是过渡形态？下一形态会是什么？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3584448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48640" y="3584448"/>
            <a:ext cx="128016" cy="841248"/>
          </a:xfrm>
          <a:prstGeom prst="rect">
            <a:avLst/>
          </a:prstGeom>
          <a:solidFill>
            <a:srgbClr val="F2C55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3785616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2C55C"/>
                </a:solidFill>
                <a:latin typeface="Consolas"/>
              </a:rPr>
              <a:t>03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737360" y="3730752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自研领域模型 vs 复用通用前沿模型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087368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分界点在哪里？什么时候必须自研？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4462272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48640" y="4462272"/>
            <a:ext cx="128016" cy="841248"/>
          </a:xfrm>
          <a:prstGeom prst="rect">
            <a:avLst/>
          </a:prstGeom>
          <a:solidFill>
            <a:srgbClr val="B88A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4400" y="4663440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B88AF0"/>
                </a:solidFill>
                <a:latin typeface="Consolas"/>
              </a:rPr>
              <a:t>04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737360" y="4608576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跨硬件策略迁移：是 IR 层的事，还是模型层的事？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965192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IR-as-portability vs Model-as-portability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48640" y="5340096"/>
            <a:ext cx="11109960" cy="84124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48640" y="5340096"/>
            <a:ext cx="128016" cy="841248"/>
          </a:xfrm>
          <a:prstGeom prst="rect">
            <a:avLst/>
          </a:prstGeom>
          <a:solidFill>
            <a:srgbClr val="EF6E6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541264"/>
            <a:ext cx="64008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EF6E6E"/>
                </a:solidFill>
                <a:latin typeface="Consolas"/>
              </a:rPr>
              <a:t>05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37360" y="548640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EAF2FA"/>
                </a:solidFill>
                <a:latin typeface="Microsoft YaHei"/>
              </a:rPr>
              <a:t>评测的「业界横向可比」由谁主导？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737360" y="5843016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0" i="1">
                <a:solidFill>
                  <a:srgbClr val="9FB5C9"/>
                </a:solidFill>
                <a:latin typeface="Microsoft YaHei"/>
              </a:rPr>
              <a:t>是否应当推动一个开放协议作为公共物品？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Part C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39 / 40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B2E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48640" y="411480"/>
            <a:ext cx="7315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00" b="1" i="0">
                <a:solidFill>
                  <a:srgbClr val="38D1B8"/>
                </a:solidFill>
                <a:latin typeface="Consolas"/>
              </a:rPr>
              <a:t>REFERENCES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713232"/>
            <a:ext cx="10972800" cy="777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600" b="1" i="0">
                <a:solidFill>
                  <a:srgbClr val="EAF2FA"/>
                </a:solidFill>
                <a:latin typeface="Microsoft YaHei"/>
              </a:rPr>
              <a:t>参考资料（论文 · Repo · Blog）</a:t>
            </a:r>
          </a:p>
        </p:txBody>
      </p:sp>
      <p:sp>
        <p:nvSpPr>
          <p:cNvPr id="5" name="Rectangle 4"/>
          <p:cNvSpPr/>
          <p:nvPr/>
        </p:nvSpPr>
        <p:spPr>
          <a:xfrm>
            <a:off x="548640" y="1481328"/>
            <a:ext cx="548640" cy="28000"/>
          </a:xfrm>
          <a:prstGeom prst="rect">
            <a:avLst/>
          </a:prstGeom>
          <a:solidFill>
            <a:srgbClr val="38D1B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182880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05840" y="186537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KernelEvolve (arXiv)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0" y="186537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https://arxiv.org/abs/2512.23236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215798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19456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KernelEvolve · Meta blog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19456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https://engineering.fb.com/2026/04/02/developer-tools/kernelevolve-...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248716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52374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KernelAgent · repo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297680" y="252374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https://github.com/meta-pytorch/KernelAgent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" y="281635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05840" y="285292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KernelFalcon · PyTorch blog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97680" y="285292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https://pytorch.org/blog/kernelfalcon-autonomous-gpu-kernel-...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2960" y="3145536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05840" y="318211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KernelAgent · PyTorch blog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0" y="3182112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https://pytorch.org/blog/kernelagent-hardware-guided-...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22960" y="347472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351129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AutoKernel (arXiv)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97680" y="351129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https://arxiv.org/abs/2603.21331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80390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84048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AutoKernel · repo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297680" y="384048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https://github.com/RightNow-AI/autokernel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822960" y="413308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05840" y="416966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K-Search (arXiv)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97680" y="416966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https://arxiv.org/abs/2602.19128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22960" y="446227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005840" y="449884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K-Search · repo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297680" y="449884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https://github.com/caoshiyi/K-Search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22960" y="4791456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4828032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AVO (arXiv)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297680" y="4828032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https://arxiv.org/abs/2603.24517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822960" y="5120640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157216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CuTeGen (arXiv)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97680" y="5157216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https://arxiv.org/abs/2604.01489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22960" y="5449824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05840" y="5486400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AscendKernelGen (arXiv)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297680" y="5486400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https://arxiv.org/abs/2601.07160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822960" y="5779008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122A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005840" y="5815584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Awesome list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297680" y="5815584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https://github.com/flagos-ai/awesome-LLM-driven-kernel-generation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822960" y="6108192"/>
            <a:ext cx="10515600" cy="292608"/>
          </a:xfrm>
          <a:prstGeom prst="roundRect">
            <a:avLst>
              <a:gd name="adj" fmla="val 6000"/>
            </a:avLst>
          </a:prstGeom>
          <a:solidFill>
            <a:srgbClr val="0E21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05840" y="6144768"/>
            <a:ext cx="32918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1050" b="1" i="0">
                <a:solidFill>
                  <a:srgbClr val="F2C55C"/>
                </a:solidFill>
                <a:latin typeface="Microsoft YaHei"/>
              </a:rPr>
              <a:t>Arke project (this work)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297680" y="6144768"/>
            <a:ext cx="694944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0" i="0">
                <a:solidFill>
                  <a:srgbClr val="9FB5C9"/>
                </a:solidFill>
                <a:latin typeface="Consolas"/>
              </a:rPr>
              <a:t>docs/spec/arke-lang-spec-v2.md, docs/spec/arke-ir-spec-v2.md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48640" y="6537960"/>
            <a:ext cx="731520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0" i="0">
                <a:solidFill>
                  <a:srgbClr val="6E869F"/>
                </a:solidFill>
                <a:latin typeface="Microsoft YaHei"/>
              </a:rPr>
              <a:t>AI-Native 算子工程洞察 · References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515600" y="6537960"/>
            <a:ext cx="11887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/>
            <a:r>
              <a:rPr sz="900" b="0" i="0">
                <a:solidFill>
                  <a:srgbClr val="6E869F"/>
                </a:solidFill>
                <a:latin typeface="Consolas"/>
              </a:rPr>
              <a:t>40 / 40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