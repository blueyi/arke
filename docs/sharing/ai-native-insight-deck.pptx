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326880" y="822960"/>
            <a:ext cx="2194560" cy="2194560"/>
          </a:xfrm>
          <a:prstGeom prst="ellipse">
            <a:avLst/>
          </a:prstGeom>
          <a:noFill/>
          <a:ln w="19050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784080" y="1280160"/>
            <a:ext cx="1280160" cy="1280160"/>
          </a:xfrm>
          <a:prstGeom prst="ellipse">
            <a:avLst/>
          </a:prstGeom>
          <a:noFill/>
          <a:ln w="12700">
            <a:solidFill>
              <a:srgbClr val="F2C5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005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Consolas"/>
              </a:rPr>
              <a:t>TECH INSIGHT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50876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EAF2FA"/>
                </a:solidFill>
                <a:latin typeface="Microsoft YaHei"/>
              </a:rPr>
              <a:t>AI-Native 时代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317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EAF2FA"/>
                </a:solidFill>
                <a:latin typeface="Microsoft YaHei"/>
              </a:rPr>
              <a:t>算子工程的范式正在被重写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40480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840480"/>
            <a:ext cx="128016" cy="91440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950208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0">
                <a:solidFill>
                  <a:srgbClr val="9FB5C9"/>
                </a:solidFill>
                <a:latin typeface="Microsoft YaHei"/>
              </a:rPr>
              <a:t>LLM-driven kernel generation/optimization · 业界趋势 · 目标态 · Arke 技术构建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029200"/>
            <a:ext cx="3429000" cy="11887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512064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38D1B8"/>
                </a:solidFill>
                <a:latin typeface="Consola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51389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模型能力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54864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强到能做什么？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34840" y="5029200"/>
            <a:ext cx="3429000" cy="11887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9160" y="512064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38D1B8"/>
                </a:solidFill>
                <a:latin typeface="Consola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51389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业界现状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54864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已经走到哪、卡在哪？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5029200"/>
            <a:ext cx="3429000" cy="11887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512064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38D1B8"/>
                </a:solidFill>
                <a:latin typeface="Consola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51389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未来构建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54864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目标态长什么样、怎么搭？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4008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E869F"/>
                </a:solidFill>
                <a:latin typeface="Consolas"/>
              </a:rPr>
              <a:t>演讲者 · 内部技术分享     |     AI-Native 算子工程洞察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总目录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828800"/>
            <a:ext cx="128016" cy="713232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20240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Glossary · 术语速读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221992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LLM 工程 · GPU/NPU 硬件 · 业界评测系统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01168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700" b="1" i="0">
                <a:solidFill>
                  <a:srgbClr val="EF6E6E"/>
                </a:solidFill>
                <a:latin typeface="Consolas"/>
              </a:rPr>
              <a:t>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633472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2633472"/>
            <a:ext cx="128016" cy="71323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724912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Part A · 背景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026664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模型能力 · 范式判断 (A2.5) · 业界现状 · 失效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816352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700" b="1" i="0">
                <a:solidFill>
                  <a:srgbClr val="38D1B8"/>
                </a:solidFill>
                <a:latin typeface="Consolas"/>
              </a:rPr>
              <a:t>05–11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438144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3438144"/>
            <a:ext cx="128016" cy="71323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3529584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Part B · 业界趋势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31336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7 个 LLM-driven kernel 案例 → T1–T6 / G1–G6 / H1–H9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3621024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700" b="1" i="0">
                <a:solidFill>
                  <a:srgbClr val="7AB8FF"/>
                </a:solidFill>
                <a:latin typeface="Consolas"/>
              </a:rPr>
              <a:t>13–24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242816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242816"/>
            <a:ext cx="128016" cy="71323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334256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🌟 目标态总览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636008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北极星 · F1–F7 七大特征 · 对通用编程的启示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4425696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700" b="1" i="0">
                <a:solidFill>
                  <a:srgbClr val="F2C55C"/>
                </a:solidFill>
                <a:latin typeface="Consolas"/>
              </a:rPr>
              <a:t>26–29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5047488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5047488"/>
            <a:ext cx="128016" cy="71323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5138928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Part C · Arke 技术构建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440680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设计逻辑 · 总架构 · 四件套 + Benchmark (2 页) · F 对齐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5230368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700" b="1" i="0">
                <a:solidFill>
                  <a:srgbClr val="B88AF0"/>
                </a:solidFill>
                <a:latin typeface="Consolas"/>
              </a:rPr>
              <a:t>31–40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TOC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02 / 41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GLOSSARY · 术语速读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面向高层 + 专家的术语速读表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9FB5C9"/>
                </a:solidFill>
                <a:latin typeface="Microsoft YaHei"/>
              </a:rPr>
              <a:t>本 deck 后续页若引入下列概念，统一指代下表定义；详细说明请扫题对号入座。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3657600" cy="4434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365760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488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Consolas"/>
              </a:rPr>
              <a:t>LLM 工程层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6032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Agent / Tool-use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4320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LLM 通过结构化工具调用与外部工具（编译器/profiler）交互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03580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RAG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1868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Retrieval-Augmented Generation；将外部知识检索后注入上下文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51129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Tool harness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94176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把编译/对拍/性能测试封装为可被 Agent 调用的工具集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98678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RLEF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169664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RL with Execution Feedback；用执行结果做强化学习反馈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4622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SFT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645152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Supervised Fine-Tuning；用标注样本做监督微调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93776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World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12064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Agent 内部对环境状态的可预测表征，用于规划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41324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Decision rationale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59612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对每条优化决策的自然语言解释，用于审计与迁移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8873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Bounded action space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071616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决策从编译器枚举的合法动作集中选择，禁止自由代码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1965960"/>
            <a:ext cx="3657600" cy="4434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97680" y="1965960"/>
            <a:ext cx="3657600" cy="731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26280" y="21488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Consolas"/>
              </a:rPr>
              <a:t>GPU / NPU 硬件层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256032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SIMT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274320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Single-Instruction Multiple-Thread（NVIDIA / AMD GPU）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303580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SIMD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321868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Single-Instruction Multiple-Data（Ascend NPU 等）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80" y="351129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Tensor Core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6280" y="3694176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NVIDIA GPU 上的矩阵乘加加速单元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398678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Roofline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26280" y="4169664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性能上限模型：计算强度 vs 带宽/算力交点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26280" y="44622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NCU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26280" y="4645152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NVIDIA Nsight Compute；kernel 级 profiler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493776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Occupancy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26280" y="512064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SM 同时驻留的 warp 数与硬件上限之比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6280" y="541324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Triton / CuTe / MLIR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26280" y="559612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GPU 编程抽象层：Triton (块级) / CuTe (布局代数) / MLIR (多方言)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26280" y="588873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FlashAttention (FA-2/3/4)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26280" y="6071616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Tri Dao 等提出的 IO-aware attention 系列实现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46720" y="1965960"/>
            <a:ext cx="3657600" cy="4434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046720" y="1965960"/>
            <a:ext cx="365760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75320" y="21488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Consolas"/>
              </a:rPr>
              <a:t>业界评测 / 系统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75320" y="256032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KernelBench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75320" y="274320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Stanford 推的 GPU kernel 生成基准；分 L1/L2/L3 三级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75320" y="303580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ATen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75320" y="321868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PyTorch 后端算子集，主流神经网络的「指令集」 (≈2000+)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75320" y="351129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FlagGems / Liger-Kernel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75320" y="3694176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开源 Triton 算子库；常作为 LLM 生成 kernel 的对照基线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75320" y="398678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torch.compile / Inductor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75320" y="4169664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PyTorch 2.x 图编译器，AOT 路径的事实标准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75320" y="44622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cuBLAS / cuDNN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75320" y="4645152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NVIDIA 官方矩阵 / 卷积库；性能上限基线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75320" y="493776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MLA / GQA / MoE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75320" y="512064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Multi-Head Latent Attention / Grouped-Query Attention / Mixture-of-Experts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75320" y="541324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Pass@k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75320" y="559612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Top-k 候选中至少 1 个通过的概率；代码生成评测常用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75320" y="588873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Amdahl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75320" y="6071616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并行加速上限 = 1 / ((1-p) + p/N)；用作瓶颈优先级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提示：Arke 项目专有概念（@rationale / 多层 IR / 多级验证 / KernelCache 等）将在 Part C 引入；本表只列业界通用术语。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Glossary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03 / 41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8D1B8"/>
                </a:solidFill>
                <a:latin typeface="Consolas"/>
              </a:rPr>
              <a:t>PART A · 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EAF2FA"/>
                </a:solidFill>
                <a:latin typeface="Microsoft YaHei"/>
              </a:rPr>
              <a:t>为什么需要这次洞察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1480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4114800"/>
            <a:ext cx="128016" cy="128016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5196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9FB5C9"/>
                </a:solidFill>
                <a:latin typeface="Microsoft YaHei"/>
              </a:rPr>
              <a:t>模型能力 · 范式判断 · 算子工程现状 · 失效 · 输出形态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04 / 41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A1 · 背景与目标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本次分享要回答的 3 个问题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38D1B8"/>
                </a:solidFill>
                <a:latin typeface="Microsoft YaHei"/>
              </a:rPr>
              <a:t>AI-Native 时代，算子工程的范式正在被重写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26080"/>
            <a:ext cx="3657600" cy="33832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926080"/>
            <a:ext cx="365760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10896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38D1B8"/>
                </a:solidFill>
                <a:latin typeface="Consola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2724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模型能力跃迁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4564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9FB5C9"/>
                </a:solidFill>
                <a:latin typeface="Microsoft YaHei"/>
              </a:rPr>
              <a:t>强到能做什么？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114800"/>
            <a:ext cx="32004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代码合成 / 结构化推理 / 长上下文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可验证闭环 + Agent 化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后训练让经验可累计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2926080"/>
            <a:ext cx="3657600" cy="33832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2926080"/>
            <a:ext cx="3657600" cy="731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310896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7AB8FF"/>
                </a:solidFill>
                <a:latin typeface="Consola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312724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业界相关方向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34564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9FB5C9"/>
                </a:solidFill>
                <a:latin typeface="Microsoft YaHei"/>
              </a:rPr>
              <a:t>走到哪、卡在哪？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4114800"/>
            <a:ext cx="32004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7 个代表性 LLM-driven kernel 案例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趋势 T1–T6 已开始收敛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9 个关键技术难题待解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2926080"/>
            <a:ext cx="3657600" cy="33832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8160" y="2926080"/>
            <a:ext cx="365760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310896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2C55C"/>
                </a:solidFill>
                <a:latin typeface="Consolas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12724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未来如何构建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4564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9FB5C9"/>
                </a:solidFill>
                <a:latin typeface="Microsoft YaHei"/>
              </a:rPr>
              <a:t>目标态长什么样？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114800"/>
            <a:ext cx="32004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7 大技术特征 F1–F7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对通用编程的 6 条启示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Arke 给出一种可落地的回答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05 / 41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A2 · 模型能力侧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LLM 能力跃迁带来的「新可能」——为什么以前做不了，今天可以做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09728" cy="14173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9339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1B8"/>
                </a:solidFill>
                <a:latin typeface="Microsoft YaHei"/>
              </a:rPr>
              <a:t>代码生成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42316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片段补全 → 跨文件、跨抽象层程序合成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82880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828800"/>
            <a:ext cx="109728" cy="141732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99339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B8FF"/>
                </a:solidFill>
                <a:latin typeface="Microsoft YaHei"/>
              </a:rPr>
              <a:t>结构化推理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42316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Tool-use / Function-calling / 结构化输出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82880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828800"/>
            <a:ext cx="109728" cy="14173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99339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2C55C"/>
                </a:solidFill>
                <a:latin typeface="Microsoft YaHei"/>
              </a:rPr>
              <a:t>长上下文 + RAG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42316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硬件手册 / ISA / Profile / 历史轨迹入上下文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8328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383280"/>
            <a:ext cx="109728" cy="141732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54787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88AF0"/>
                </a:solidFill>
                <a:latin typeface="Microsoft YaHei"/>
              </a:rPr>
              <a:t>可验证闭环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397764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与编译器/profiler 多轮反馈，而非一次性写出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80" y="338328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97680" y="3383280"/>
            <a:ext cx="109728" cy="141732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354787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F6E6E"/>
                </a:solidFill>
                <a:latin typeface="Microsoft YaHei"/>
              </a:rPr>
              <a:t>代理化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397764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规划 / 执行 / 反思 / 回滚 的 Agent 编排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109728" cy="14173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354787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1B8"/>
                </a:solidFill>
                <a:latin typeface="Microsoft YaHei"/>
              </a:rPr>
              <a:t>后训练范式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397764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SFT / RLHF / RLEF / 轨迹回放 让经验可累计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166360"/>
            <a:ext cx="11109960" cy="105156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5166360"/>
            <a:ext cx="128016" cy="105156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276088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小结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" y="55778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模型从「会写代码」升级为「会做带反馈的工程决策」——这是后续所有趋势的能力底座。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06 / 41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A2.5 · 范式判断（本洞察的技术前提）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从「代码编写」到「意图治理」的范式迁移——后续所有判断的根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1109960" cy="7772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146304" cy="7772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9FB5C9"/>
                </a:solidFill>
                <a:latin typeface="Microsoft YaHei"/>
              </a:rPr>
              <a:t>未来开发生态的胜负手不再是 </a:t>
            </a:r>
            <a:r>
              <a:rPr sz="1600" b="1" i="1">
                <a:solidFill>
                  <a:srgbClr val="6E869F"/>
                </a:solidFill>
                <a:latin typeface="Microsoft YaHei"/>
              </a:rPr>
              <a:t>「如何写代码」</a:t>
            </a:r>
            <a:r>
              <a:rPr sz="1600" b="0" i="0">
                <a:solidFill>
                  <a:srgbClr val="9FB5C9"/>
                </a:solidFill>
                <a:latin typeface="Microsoft YaHei"/>
              </a:rPr>
              <a:t>，而是 </a:t>
            </a:r>
            <a:r>
              <a:rPr sz="1600" b="1" i="0">
                <a:solidFill>
                  <a:srgbClr val="38D1B8"/>
                </a:solidFill>
                <a:latin typeface="Microsoft YaHei"/>
              </a:rPr>
              <a:t>「如何定义意图 + 如何闭环验证」</a:t>
            </a:r>
            <a:r>
              <a:rPr sz="1600" b="0" i="0">
                <a:solidFill>
                  <a:srgbClr val="9FB5C9"/>
                </a:solidFill>
                <a:latin typeface="Microsoft YaHei"/>
              </a:rPr>
              <a:t>——本 deck 后续每一条主张，都是这个判断的延伸。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697480"/>
            <a:ext cx="3657600" cy="17830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697480"/>
            <a:ext cx="128016" cy="178308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7889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8D1B8"/>
                </a:solidFill>
                <a:latin typeface="Microsoft YaHei"/>
              </a:rPr>
              <a:t>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81635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能力平庸化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0040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顶级模型代差缩小，竞争从「博学」转向
「特定链路稳定性 / 成功率」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931920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F2C55C"/>
                </a:solidFill>
                <a:latin typeface="Consolas"/>
              </a:rPr>
              <a:t>Commodity · FeatureBench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8795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38D1B8"/>
                </a:solidFill>
                <a:latin typeface="Consolas"/>
              </a:rPr>
              <a:t>→ T2 / T6 / F2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2697480"/>
            <a:ext cx="3657600" cy="17830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2697480"/>
            <a:ext cx="128016" cy="17830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27889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7AB8FF"/>
                </a:solidFill>
                <a:latin typeface="Microsoft YaHei"/>
              </a:rPr>
              <a:t>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281635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Harness 治理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20040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「上下文焦虑」→「智能脚手架」
图谱索引 + 静态/动态依赖 + 语义路由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931920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F2C55C"/>
                </a:solidFill>
                <a:latin typeface="Consolas"/>
              </a:rPr>
              <a:t>Harness · 语义路由器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18795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AB8FF"/>
                </a:solidFill>
                <a:latin typeface="Consolas"/>
              </a:rPr>
              <a:t>→ T2 / T3 / F4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2697480"/>
            <a:ext cx="3657600" cy="17830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20" y="2697480"/>
            <a:ext cx="128016" cy="178308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27889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2C55C"/>
                </a:solidFill>
                <a:latin typeface="Microsoft YaHei"/>
              </a:rPr>
              <a:t>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3960" y="281635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颗粒度跃迁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320040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片段式编程被吞噬，开发坍缩为
「高层架构」+「底层性能」两端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3931920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F2C55C"/>
                </a:solidFill>
                <a:latin typeface="Consolas"/>
              </a:rPr>
              <a:t>片段消失 · 两端坍缩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418795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2C55C"/>
                </a:solidFill>
                <a:latin typeface="Consolas"/>
              </a:rPr>
              <a:t>→ T1 / T4 / F1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599432"/>
            <a:ext cx="3657600" cy="17830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4599432"/>
            <a:ext cx="128016" cy="178308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469087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B88AF0"/>
                </a:solidFill>
                <a:latin typeface="Microsoft YaHei"/>
              </a:rPr>
              <a:t>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471830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Agent 自主流转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102352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从「辅助生成」到「自愈工作流」
自主拉仓库 / 跑测试 / 修 bug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583387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F2C55C"/>
                </a:solidFill>
                <a:latin typeface="Consolas"/>
              </a:rPr>
              <a:t>Self-healing · 端到端自治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089904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B88AF0"/>
                </a:solidFill>
                <a:latin typeface="Consolas"/>
              </a:rPr>
              <a:t>→ T1 / G6 / F2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97680" y="4599432"/>
            <a:ext cx="3657600" cy="17830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97680" y="4599432"/>
            <a:ext cx="128016" cy="178308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0" y="469087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F6E6E"/>
                </a:solidFill>
                <a:latin typeface="Microsoft YaHei"/>
              </a:rPr>
              <a:t>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74920" y="471830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意图 + 形式化验证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5102352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代码边际成本 → 0；「确保 AI 做对」成为
最贵环节，验证驱动开发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583387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F2C55C"/>
                </a:solidFill>
                <a:latin typeface="Consolas"/>
              </a:rPr>
              <a:t>形式化验证 · 抗幻觉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6089904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F6E6E"/>
                </a:solidFill>
                <a:latin typeface="Consolas"/>
              </a:rPr>
              <a:t>→ G1 / F3 / F5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46720" y="4599432"/>
            <a:ext cx="3657600" cy="17830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046720" y="4599432"/>
            <a:ext cx="128016" cy="178308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21040" y="469087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8D1B8"/>
                </a:solidFill>
                <a:latin typeface="Microsoft YaHei"/>
              </a:rPr>
              <a:t>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23960" y="471830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AI 原生基座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1040" y="5102352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软件主动适配 AI：原生编译器 +
AI-friendly IR + 强契约模块化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583387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F2C55C"/>
                </a:solidFill>
                <a:latin typeface="Consolas"/>
              </a:rPr>
              <a:t>AI-native compiler · 解耦契约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6089904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38D1B8"/>
                </a:solidFill>
                <a:latin typeface="Consolas"/>
              </a:rPr>
              <a:t>→ T4 / F3 / F6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6437376"/>
            <a:ext cx="11109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1">
                <a:solidFill>
                  <a:srgbClr val="6E869F"/>
                </a:solidFill>
                <a:latin typeface="Microsoft YaHei"/>
              </a:rPr>
              <a:t>当代码生成的边际成本趋近于零，「定义意图 + 闭环验证」成为生产力重心；本 deck 的所有趋势 / 目标态 / Arke 设计都建立在此之上。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A · 范式判断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07 / 41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A3 · 问题域侧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算子工程的业界现状——为什么这个领域亟需被 LLM 重塑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3703320" cy="35204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370332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029968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8D1B8"/>
                </a:solidFill>
                <a:latin typeface="Microsoft YaHei"/>
              </a:rPr>
              <a:t>硬件维度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06040"/>
            <a:ext cx="3154680" cy="2606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SIMT (NVIDIA) → SIMD (Ascend)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→ 多类 NPU / DSA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代际叠加 + 异构叠加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同一算子，不同硬件不同策略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828800"/>
            <a:ext cx="3703320" cy="35204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1688" y="1828800"/>
            <a:ext cx="370332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2029968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2C55C"/>
                </a:solidFill>
                <a:latin typeface="Microsoft YaHei"/>
              </a:rPr>
              <a:t>工作负载维度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06040"/>
            <a:ext cx="3154680" cy="2606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Attention / MLA / GQA / MoE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融合组合爆炸 (L2 / L3)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动态 shape 常态化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长上下文 → KV / Paged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74736" y="1828800"/>
            <a:ext cx="3703320" cy="35204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74736" y="1828800"/>
            <a:ext cx="3703320" cy="73152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49056" y="2029968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F6E6E"/>
                </a:solidFill>
                <a:latin typeface="Microsoft YaHei"/>
              </a:rPr>
              <a:t>工程现实维度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9056" y="2606040"/>
            <a:ext cx="3154680" cy="2606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kernel SKU 爆炸（算子×形状×精度×后端）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顶级 kernel 工程师稀缺且不可扩展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验证 / 回归成本随版本上升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厂商库覆盖不全 + 演进不同步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532120"/>
            <a:ext cx="11109960" cy="8686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650992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Microsoft YaHei"/>
              </a:rPr>
              <a:t>三股力量同步发散：模型规模 ↑、算子复杂度 ↑、硬件代际 ↑——传统路径无法线性扩展。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08 / 41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A3 · 三条发散曲线（公开数据 · 二维曲线图）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同一时间轴上的相对增速 — y 轴 = log10(× baseline) (2017→2026)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7863840" cy="429768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325880" y="5257800"/>
            <a:ext cx="6812280" cy="0"/>
          </a:xfrm>
          <a:prstGeom prst="line">
            <a:avLst/>
          </a:prstGeom>
          <a:ln w="17780">
            <a:solidFill>
              <a:srgbClr val="9FB5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325880" y="2331720"/>
            <a:ext cx="0" cy="2926080"/>
          </a:xfrm>
          <a:prstGeom prst="line">
            <a:avLst/>
          </a:prstGeom>
          <a:ln w="17780">
            <a:solidFill>
              <a:srgbClr val="9FB5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325880" y="2331720"/>
            <a:ext cx="0" cy="292608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97280" y="5312664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2017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82800" y="2331720"/>
            <a:ext cx="0" cy="292608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854200" y="5312664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2018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839720" y="2331720"/>
            <a:ext cx="0" cy="292608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611120" y="5312664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2019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596640" y="2331720"/>
            <a:ext cx="0" cy="292608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368040" y="5312664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353560" y="2331720"/>
            <a:ext cx="0" cy="292608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124960" y="5312664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2021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110480" y="2331720"/>
            <a:ext cx="0" cy="292608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881880" y="5312664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2022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867400" y="2331720"/>
            <a:ext cx="0" cy="292608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38800" y="5312664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2023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624320" y="2331720"/>
            <a:ext cx="0" cy="292608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395720" y="5312664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381240" y="2331720"/>
            <a:ext cx="0" cy="292608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52640" y="5312664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2025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138160" y="2331720"/>
            <a:ext cx="0" cy="292608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909560" y="5312664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2026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325880" y="5257800"/>
            <a:ext cx="6812280" cy="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12648" y="5138928"/>
            <a:ext cx="640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FB5C9"/>
                </a:solidFill>
                <a:latin typeface="Consolas"/>
              </a:rPr>
              <a:t>1×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325880" y="4672584"/>
            <a:ext cx="6812280" cy="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12648" y="4553712"/>
            <a:ext cx="640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FB5C9"/>
                </a:solidFill>
                <a:latin typeface="Consolas"/>
              </a:rPr>
              <a:t>10^1×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325880" y="4087368"/>
            <a:ext cx="6812280" cy="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12648" y="396849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FB5C9"/>
                </a:solidFill>
                <a:latin typeface="Consolas"/>
              </a:rPr>
              <a:t>10^2×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325880" y="3502152"/>
            <a:ext cx="6812280" cy="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12648" y="3383280"/>
            <a:ext cx="640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FB5C9"/>
                </a:solidFill>
                <a:latin typeface="Consolas"/>
              </a:rPr>
              <a:t>10^3×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325880" y="2916936"/>
            <a:ext cx="6812280" cy="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12648" y="27980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FB5C9"/>
                </a:solidFill>
                <a:latin typeface="Consolas"/>
              </a:rPr>
              <a:t>10^4×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325880" y="2331720"/>
            <a:ext cx="6812280" cy="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12648" y="2212848"/>
            <a:ext cx="640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FB5C9"/>
                </a:solidFill>
                <a:latin typeface="Consolas"/>
              </a:rPr>
              <a:t>10^5×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198424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FB5C9"/>
                </a:solidFill>
                <a:latin typeface="Consolas"/>
              </a:rPr>
              <a:t>log10(× baseline)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23760" y="558698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9FB5C9"/>
                </a:solidFill>
                <a:latin typeface="Consolas"/>
              </a:rPr>
              <a:t>year</a:t>
            </a:r>
          </a:p>
        </p:txBody>
      </p:sp>
      <p:cxnSp>
        <p:nvCxnSpPr>
          <p:cNvPr id="45" name="Connector 44"/>
          <p:cNvCxnSpPr/>
          <p:nvPr/>
        </p:nvCxnSpPr>
        <p:spPr>
          <a:xfrm flipV="1">
            <a:off x="2082800" y="4608211"/>
            <a:ext cx="756920" cy="649589"/>
          </a:xfrm>
          <a:prstGeom prst="line">
            <a:avLst/>
          </a:prstGeom>
          <a:ln w="3175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839720" y="3402666"/>
            <a:ext cx="756920" cy="1205545"/>
          </a:xfrm>
          <a:prstGeom prst="line">
            <a:avLst/>
          </a:prstGeom>
          <a:ln w="3175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596640" y="3115910"/>
            <a:ext cx="1513840" cy="286756"/>
          </a:xfrm>
          <a:prstGeom prst="line">
            <a:avLst/>
          </a:prstGeom>
          <a:ln w="3175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5110480" y="2823302"/>
            <a:ext cx="756920" cy="292608"/>
          </a:xfrm>
          <a:prstGeom prst="line">
            <a:avLst/>
          </a:prstGeom>
          <a:ln w="3175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5867400" y="2823302"/>
            <a:ext cx="756920" cy="234086"/>
          </a:xfrm>
          <a:prstGeom prst="line">
            <a:avLst/>
          </a:prstGeom>
          <a:ln w="3175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6624320" y="2782337"/>
            <a:ext cx="756920" cy="275051"/>
          </a:xfrm>
          <a:prstGeom prst="line">
            <a:avLst/>
          </a:prstGeom>
          <a:ln w="3175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2014220" y="5189220"/>
            <a:ext cx="137160" cy="137160"/>
          </a:xfrm>
          <a:prstGeom prst="ellipse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771140" y="4539631"/>
            <a:ext cx="137160" cy="137160"/>
          </a:xfrm>
          <a:prstGeom prst="ellipse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528060" y="3334086"/>
            <a:ext cx="137160" cy="137160"/>
          </a:xfrm>
          <a:prstGeom prst="ellipse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041900" y="3047330"/>
            <a:ext cx="137160" cy="137160"/>
          </a:xfrm>
          <a:prstGeom prst="ellipse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798820" y="2754722"/>
            <a:ext cx="137160" cy="137160"/>
          </a:xfrm>
          <a:prstGeom prst="ellipse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555740" y="2988808"/>
            <a:ext cx="137160" cy="137160"/>
          </a:xfrm>
          <a:prstGeom prst="ellipse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312660" y="2713757"/>
            <a:ext cx="137160" cy="137160"/>
          </a:xfrm>
          <a:prstGeom prst="ellipse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V="1">
            <a:off x="1325880" y="5023714"/>
            <a:ext cx="2270760" cy="234086"/>
          </a:xfrm>
          <a:prstGeom prst="line">
            <a:avLst/>
          </a:prstGeom>
          <a:ln w="3175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596640" y="4731106"/>
            <a:ext cx="1513840" cy="292608"/>
          </a:xfrm>
          <a:prstGeom prst="line">
            <a:avLst/>
          </a:prstGeom>
          <a:ln w="3175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5110480" y="4578950"/>
            <a:ext cx="1513840" cy="152156"/>
          </a:xfrm>
          <a:prstGeom prst="line">
            <a:avLst/>
          </a:prstGeom>
          <a:ln w="3175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6624320" y="4520428"/>
            <a:ext cx="756920" cy="58522"/>
          </a:xfrm>
          <a:prstGeom prst="line">
            <a:avLst/>
          </a:prstGeom>
          <a:ln w="3175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7381240" y="4497020"/>
            <a:ext cx="756920" cy="23408"/>
          </a:xfrm>
          <a:prstGeom prst="line">
            <a:avLst/>
          </a:prstGeom>
          <a:ln w="3175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/>
          <p:cNvSpPr/>
          <p:nvPr/>
        </p:nvSpPr>
        <p:spPr>
          <a:xfrm>
            <a:off x="1257300" y="5189220"/>
            <a:ext cx="137160" cy="137160"/>
          </a:xfrm>
          <a:prstGeom prst="ellipse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528060" y="4955134"/>
            <a:ext cx="137160" cy="137160"/>
          </a:xfrm>
          <a:prstGeom prst="ellipse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5041900" y="4662526"/>
            <a:ext cx="137160" cy="137160"/>
          </a:xfrm>
          <a:prstGeom prst="ellipse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555740" y="4510370"/>
            <a:ext cx="137160" cy="137160"/>
          </a:xfrm>
          <a:prstGeom prst="ellipse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312660" y="4451848"/>
            <a:ext cx="137160" cy="137160"/>
          </a:xfrm>
          <a:prstGeom prst="ellipse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069580" y="4428440"/>
            <a:ext cx="137160" cy="137160"/>
          </a:xfrm>
          <a:prstGeom prst="ellipse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 flipV="1">
            <a:off x="2082800" y="5047123"/>
            <a:ext cx="1513840" cy="210677"/>
          </a:xfrm>
          <a:prstGeom prst="line">
            <a:avLst/>
          </a:prstGeom>
          <a:ln w="3175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3596640" y="4965192"/>
            <a:ext cx="1513840" cy="81931"/>
          </a:xfrm>
          <a:prstGeom prst="line">
            <a:avLst/>
          </a:prstGeom>
          <a:ln w="3175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110480" y="4848149"/>
            <a:ext cx="756920" cy="117043"/>
          </a:xfrm>
          <a:prstGeom prst="line">
            <a:avLst/>
          </a:prstGeom>
          <a:ln w="3175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5867400" y="4731106"/>
            <a:ext cx="756920" cy="117043"/>
          </a:xfrm>
          <a:prstGeom prst="line">
            <a:avLst/>
          </a:prstGeom>
          <a:ln w="3175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6624320" y="4614063"/>
            <a:ext cx="1513840" cy="117043"/>
          </a:xfrm>
          <a:prstGeom prst="line">
            <a:avLst/>
          </a:prstGeom>
          <a:ln w="3175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2014220" y="5189220"/>
            <a:ext cx="137160" cy="137160"/>
          </a:xfrm>
          <a:prstGeom prst="ellipse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528060" y="4978543"/>
            <a:ext cx="137160" cy="137160"/>
          </a:xfrm>
          <a:prstGeom prst="ellipse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041900" y="4896612"/>
            <a:ext cx="137160" cy="137160"/>
          </a:xfrm>
          <a:prstGeom prst="ellipse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798820" y="4779569"/>
            <a:ext cx="137160" cy="137160"/>
          </a:xfrm>
          <a:prstGeom prst="ellipse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555740" y="4662526"/>
            <a:ext cx="137160" cy="137160"/>
          </a:xfrm>
          <a:prstGeom prst="ellipse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8069580" y="4545483"/>
            <a:ext cx="137160" cy="137160"/>
          </a:xfrm>
          <a:prstGeom prst="ellipse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472680" y="2617745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38D1B8"/>
                </a:solidFill>
                <a:latin typeface="Consolas"/>
              </a:rPr>
              <a:t>① 模型规模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29600" y="4332428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F6E6E"/>
                </a:solidFill>
                <a:latin typeface="Consolas"/>
              </a:rPr>
              <a:t>② NVIDIA HW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9600" y="4449471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2C55C"/>
                </a:solidFill>
                <a:latin typeface="Consolas"/>
              </a:rPr>
              <a:t>③ 算子复杂度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595360" y="1828800"/>
            <a:ext cx="3063240" cy="42976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778240" y="1993392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曲线图例 · 公开数据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823960" y="2569464"/>
            <a:ext cx="292608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189720" y="242316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8D1B8"/>
                </a:solidFill>
                <a:latin typeface="Microsoft YaHei"/>
              </a:rPr>
              <a:t>① 模型规模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189720" y="26974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GPT-1 → LLaMA-4 / DSV3：~10⁴ 倍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823960" y="3282696"/>
            <a:ext cx="292608" cy="73152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189720" y="3136392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EF6E6E"/>
                </a:solidFill>
                <a:latin typeface="Microsoft YaHei"/>
              </a:rPr>
              <a:t>② NVIDIA HW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89720" y="341071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V100 → GB200 (BF16)：~20 倍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823960" y="3995928"/>
            <a:ext cx="292608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189720" y="3849624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2C55C"/>
                </a:solidFill>
                <a:latin typeface="Microsoft YaHei"/>
              </a:rPr>
              <a:t>③ 算子复杂度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189720" y="4123944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vanilla attn → FA-4：~10 倍 (定性)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732520" y="4663440"/>
            <a:ext cx="2788920" cy="13258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732520" y="4663440"/>
            <a:ext cx="73152" cy="132588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887968" y="4736592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2C55C"/>
                </a:solidFill>
                <a:latin typeface="Consolas"/>
              </a:rPr>
              <a:t>KEY TAKEAWAY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887968" y="5029200"/>
            <a:ext cx="2606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EAF2FA"/>
                </a:solidFill>
                <a:latin typeface="Microsoft YaHei"/>
              </a:rPr>
              <a:t>8 年内 · 模型规模 ↑ ~10⁴×，算子复杂度 ↑ ~10×，但硬件 BF16 算力仅 ↑ ~20×。
缺口必须靠编译 / 调度 / 算法填补——这正是本洞察的主题。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Sources: 各模型公开 paper/blog (GPT-1..4, LLaMA, PaLM, DeepSeek-V3) · NVIDIA 官方 datasheet (V100/A100/H100/H200/Blackwell) · PyTorch ATen 源码计数 · FlashAttention 系列 (Tri Dao et al.)。* GPT-4 / LLaMA-4 参数为 SemiAnalysis 等公开估算。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772400" y="6537960"/>
            <a:ext cx="2697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1">
                <a:solidFill>
                  <a:srgbClr val="6E869F"/>
                </a:solidFill>
                <a:latin typeface="Consolas"/>
              </a:rPr>
              <a:t>→ Glossary P03 · ATen / MLA / GQA / FA-2/3/4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09 / 41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A4 · 传统路径为什么不够用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Failure modes of the status quo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5440680" cy="1554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155448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3852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1B8"/>
                </a:solidFill>
                <a:latin typeface="Microsoft YaHei"/>
              </a:rPr>
              <a:t>人工手写 + autotune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377440"/>
            <a:ext cx="49834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不可扩展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跨硬件不可迁移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知识沉淀依赖个人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828800"/>
            <a:ext cx="5440680" cy="1554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828800"/>
            <a:ext cx="128016" cy="155448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93852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2C55C"/>
                </a:solidFill>
                <a:latin typeface="Microsoft YaHei"/>
              </a:rPr>
              <a:t>图编译器 (XLA / Inductor / TVM)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377440"/>
            <a:ext cx="49834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高层有效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深层决策仍依赖启发式 / 专家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tile / pipeline / 寄存器分配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547872"/>
            <a:ext cx="5440680" cy="1554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547872"/>
            <a:ext cx="128016" cy="155448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5760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F6E6E"/>
                </a:solidFill>
                <a:latin typeface="Microsoft YaHei"/>
              </a:rPr>
              <a:t>LLM 直写 Triton / CUDA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096512"/>
            <a:ext cx="49834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正确性差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token 成本高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可维护性差 + 知识无法跨 kernel 复用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3547872"/>
            <a:ext cx="5440680" cy="1554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3547872"/>
            <a:ext cx="128016" cy="15544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365760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B8FF"/>
                </a:solidFill>
                <a:latin typeface="Microsoft YaHei"/>
              </a:rPr>
              <a:t>库 / 编译器黑盒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096512"/>
            <a:ext cx="49834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长尾覆盖不全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不可解释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跨硬件 / 定制扩展受限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349240"/>
            <a:ext cx="11109960" cy="105156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5349240"/>
            <a:ext cx="128016" cy="105156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449824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结论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7607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单点工具不再够用——「能力底座 + 问题域复杂度」共同迫使我们重新思考算子工程栈。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10 / 41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A5 · 这份洞察的输出形态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六段式：案例 → 趋势 → 进展 → 难题 → 目标态 → 构建方案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103120"/>
            <a:ext cx="169164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1691640" cy="731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7AB8FF"/>
                </a:solidFill>
                <a:latin typeface="Microsoft YaHei"/>
              </a:rPr>
              <a:t>案例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34640"/>
            <a:ext cx="1508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FB5C9"/>
                </a:solidFill>
                <a:latin typeface="Microsoft YaHei"/>
              </a:rPr>
              <a:t>7 个代表系统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249424" y="2697480"/>
            <a:ext cx="146304" cy="274320"/>
          </a:xfrm>
          <a:prstGeom prst="rightArrow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404872" y="2103120"/>
            <a:ext cx="169164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04872" y="2103120"/>
            <a:ext cx="169164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04872" y="2331720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38D1B8"/>
                </a:solidFill>
                <a:latin typeface="Microsoft YaHei"/>
              </a:rPr>
              <a:t>趋势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96312" y="2834640"/>
            <a:ext cx="1508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FB5C9"/>
                </a:solidFill>
                <a:latin typeface="Microsoft YaHei"/>
              </a:rPr>
              <a:t>T1–T6 收敛方向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05656" y="2697480"/>
            <a:ext cx="146304" cy="274320"/>
          </a:xfrm>
          <a:prstGeom prst="rightArrow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61104" y="2103120"/>
            <a:ext cx="169164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2103120"/>
            <a:ext cx="169164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61104" y="2331720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F2C55C"/>
                </a:solidFill>
                <a:latin typeface="Microsoft YaHei"/>
              </a:rPr>
              <a:t>进展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52544" y="2834640"/>
            <a:ext cx="1508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FB5C9"/>
                </a:solidFill>
                <a:latin typeface="Microsoft YaHei"/>
              </a:rPr>
              <a:t>G1–G6 已验证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961888" y="2697480"/>
            <a:ext cx="146304" cy="274320"/>
          </a:xfrm>
          <a:prstGeom prst="rightArrow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17336" y="2103120"/>
            <a:ext cx="169164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17336" y="2103120"/>
            <a:ext cx="1691640" cy="73152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17336" y="2331720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EF6E6E"/>
                </a:solidFill>
                <a:latin typeface="Microsoft YaHei"/>
              </a:rPr>
              <a:t>难题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834640"/>
            <a:ext cx="1508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FB5C9"/>
                </a:solidFill>
                <a:latin typeface="Microsoft YaHei"/>
              </a:rPr>
              <a:t>H1–H9 待解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818120" y="2697480"/>
            <a:ext cx="146304" cy="274320"/>
          </a:xfrm>
          <a:prstGeom prst="rightArrow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973568" y="2103120"/>
            <a:ext cx="169164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3568" y="2103120"/>
            <a:ext cx="1691640" cy="7315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73568" y="2331720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B88AF0"/>
                </a:solidFill>
                <a:latin typeface="Microsoft YaHei"/>
              </a:rPr>
              <a:t>目标态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65008" y="2834640"/>
            <a:ext cx="1508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FB5C9"/>
                </a:solidFill>
                <a:latin typeface="Microsoft YaHei"/>
              </a:rPr>
              <a:t>F1–F7 北极星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674352" y="2697480"/>
            <a:ext cx="146304" cy="274320"/>
          </a:xfrm>
          <a:prstGeom prst="rightArrow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29800" y="2103120"/>
            <a:ext cx="169164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29800" y="2103120"/>
            <a:ext cx="169164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9800" y="2331720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38D1B8"/>
                </a:solidFill>
                <a:latin typeface="Microsoft YaHei"/>
              </a:rPr>
              <a:t>构建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21240" y="2834640"/>
            <a:ext cx="1508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FB5C9"/>
                </a:solidFill>
                <a:latin typeface="Microsoft YaHei"/>
              </a:rPr>
              <a:t>Arke 的回答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114800"/>
            <a:ext cx="11109960" cy="219456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4114800"/>
            <a:ext cx="128016" cy="219456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425196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判断准则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663440"/>
            <a:ext cx="106984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400">
                <a:solidFill>
                  <a:srgbClr val="EAF2FA"/>
                </a:solidFill>
                <a:latin typeface="Microsoft YaHei"/>
              </a:rPr>
              <a:t>不止「看热闹」——每条趋势都要回答：工程上该不该跟、怎么跟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400">
                <a:solidFill>
                  <a:srgbClr val="EAF2FA"/>
                </a:solidFill>
                <a:latin typeface="Microsoft YaHei"/>
              </a:rPr>
              <a:t>用六维坐标系评估：正确性 / 性能 / 成本 / 通用性 / 可移植性 / 可运营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400">
                <a:solidFill>
                  <a:srgbClr val="EAF2FA"/>
                </a:solidFill>
                <a:latin typeface="Microsoft YaHei"/>
              </a:rPr>
              <a:t>目标是给出「可落地的范式判断」，而不是论文综述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11 / 41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7AB8FF"/>
                </a:solidFill>
                <a:latin typeface="Consolas"/>
              </a:rPr>
              <a:t>PART B · INDUSTRY TRENDS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EAF2FA"/>
                </a:solidFill>
                <a:latin typeface="Microsoft YaHei"/>
              </a:rPr>
              <a:t>业界趋势：从 LLM-driven kernel 看技术走向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1480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4114800"/>
            <a:ext cx="128016" cy="128016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5196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9FB5C9"/>
                </a:solidFill>
                <a:latin typeface="Microsoft YaHei"/>
              </a:rPr>
              <a:t>7 个代表案例 · 趋势 T1–T6 · 进展 G1–G6 · 难题 H1–H9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12 / 41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B1 · 全景图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LLM-driven kernel 工作链路：Spec ↔ Agent ↔ Toolchain ↔ HW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128016" cy="96012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3852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88AF0"/>
                </a:solidFill>
                <a:latin typeface="Microsoft YaHei"/>
              </a:rPr>
              <a:t>① Spec / 抽象层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kernel 表达 · 决策表达 · 知识表达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139696"/>
            <a:ext cx="5669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1">
                <a:solidFill>
                  <a:srgbClr val="EAF2FA"/>
                </a:solidFill>
                <a:latin typeface="Microsoft YaHei"/>
              </a:rPr>
              <a:t>代表抽象层：CuTe / Triton / 各家 DSL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43600" y="2788920"/>
            <a:ext cx="274320" cy="109728"/>
          </a:xfrm>
          <a:prstGeom prst="downArrow">
            <a:avLst/>
          </a:prstGeom>
          <a:solidFill>
            <a:srgbClr val="9F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2898648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898648"/>
            <a:ext cx="128016" cy="9601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00837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1B8"/>
                </a:solidFill>
                <a:latin typeface="Microsoft YaHei"/>
              </a:rPr>
              <a:t>② LLM Agent 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401568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规划 · 决策 · 反思 · 回滚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3209544"/>
            <a:ext cx="5669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1">
                <a:solidFill>
                  <a:srgbClr val="EAF2FA"/>
                </a:solidFill>
                <a:latin typeface="Microsoft YaHei"/>
              </a:rPr>
              <a:t>代表系统：KernelAgent / AVO / KernelFalcon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5943600" y="3858768"/>
            <a:ext cx="274320" cy="109728"/>
          </a:xfrm>
          <a:prstGeom prst="downArrow">
            <a:avLst/>
          </a:prstGeom>
          <a:solidFill>
            <a:srgbClr val="9F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968496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3968496"/>
            <a:ext cx="128016" cy="9601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07822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2C55C"/>
                </a:solidFill>
                <a:latin typeface="Microsoft YaHei"/>
              </a:rPr>
              <a:t>③ Toolchain 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471416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compile · profile · verify · 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4279392"/>
            <a:ext cx="5669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1">
                <a:solidFill>
                  <a:srgbClr val="EAF2FA"/>
                </a:solidFill>
                <a:latin typeface="Microsoft YaHei"/>
              </a:rPr>
              <a:t>代表系统：KernelEvolve / AutoKernel / K-Search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5943600" y="4928616"/>
            <a:ext cx="274320" cy="109728"/>
          </a:xfrm>
          <a:prstGeom prst="downArrow">
            <a:avLst/>
          </a:prstGeom>
          <a:solidFill>
            <a:srgbClr val="9F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080" y="5038344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5038344"/>
            <a:ext cx="128016" cy="96012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514807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F6E6E"/>
                </a:solidFill>
                <a:latin typeface="Microsoft YaHei"/>
              </a:rPr>
              <a:t>④ Hardware 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5541264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NVIDIA · Ascend · AMD · 多 NPU / DSA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0" y="5349240"/>
            <a:ext cx="5669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1">
                <a:solidFill>
                  <a:srgbClr val="EAF2FA"/>
                </a:solidFill>
                <a:latin typeface="Microsoft YaHei"/>
              </a:rPr>
              <a:t>代表系统：AscendKernelGen / KernelEvolve (MTIA)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9FB5C9"/>
                </a:solidFill>
                <a:latin typeface="Microsoft YaHei"/>
              </a:rPr>
              <a:t>案例只是证据，趋势才是主线——下一节用 7 个案例填到这张图的不同位置上。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13 / 41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B2 · 7 个代表案例索引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一页一个；含可归属性能信号（公开数据）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1480" y="1783080"/>
            <a:ext cx="11384280" cy="45720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88366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2C55C"/>
                </a:solidFill>
                <a:latin typeface="Consolas"/>
              </a:rPr>
              <a:t>#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8366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2C55C"/>
                </a:solidFill>
                <a:latin typeface="Consolas"/>
              </a:rPr>
              <a:t>案例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188366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2C55C"/>
                </a:solidFill>
                <a:latin typeface="Consolas"/>
              </a:rPr>
              <a:t>来源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1883664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2C55C"/>
                </a:solidFill>
                <a:latin typeface="Consolas"/>
              </a:rPr>
              <a:t>一句话定位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883664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2C55C"/>
                </a:solidFill>
                <a:latin typeface="Consolas"/>
              </a:rPr>
              <a:t>公开性能 / 数据信号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18836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2C55C"/>
                </a:solidFill>
                <a:latin typeface="Consolas"/>
              </a:rPr>
              <a:t>趋势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286000"/>
            <a:ext cx="11384280" cy="53035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2286000"/>
            <a:ext cx="54864" cy="5303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4140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38D1B8"/>
                </a:solidFill>
                <a:latin typeface="Consola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41401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EAF2FA"/>
                </a:solidFill>
                <a:latin typeface="Microsoft YaHei"/>
              </a:rPr>
              <a:t>KernelEvolve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241401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Meta · ISCA'26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60" y="2414016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AF2FA"/>
                </a:solidFill>
                <a:latin typeface="Microsoft YaHei"/>
              </a:rPr>
              <a:t>生产级异构 + RAG + 搜索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414016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7AB8FF"/>
                </a:solidFill>
                <a:latin typeface="Consolas"/>
              </a:rPr>
              <a:t>KernelBench 250/250 · 最高 17× vs PyTorch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241401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38D1B8"/>
                </a:solidFill>
                <a:latin typeface="Consolas"/>
              </a:rPr>
              <a:t>T1/T3/T4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2852928"/>
            <a:ext cx="11384280" cy="530352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2852928"/>
            <a:ext cx="54864" cy="5303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298094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7AB8FF"/>
                </a:solidFill>
                <a:latin typeface="Consolas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29809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EAF2FA"/>
                </a:solidFill>
                <a:latin typeface="Microsoft YaHei"/>
              </a:rPr>
              <a:t>KernelAgent / KernelFalcon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4680" y="298094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PyTorch · Meta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66360" y="2980944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AF2FA"/>
                </a:solidFill>
                <a:latin typeface="Microsoft YaHei"/>
              </a:rPr>
              <a:t>Deep Agents 分层 + 硬件信号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2980944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7AB8FF"/>
                </a:solidFill>
                <a:latin typeface="Consolas"/>
              </a:rPr>
              <a:t>L1/L2/L3 250/250 · 1.56× torch.compile · 89% H100 roofline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0" y="29809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7AB8FF"/>
                </a:solidFill>
                <a:latin typeface="Consolas"/>
              </a:rPr>
              <a:t>T2/T3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1480" y="3419856"/>
            <a:ext cx="11384280" cy="53035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1480" y="3419856"/>
            <a:ext cx="54864" cy="5303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354787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2C55C"/>
                </a:solidFill>
                <a:latin typeface="Consolas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354787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EAF2FA"/>
                </a:solidFill>
                <a:latin typeface="Microsoft YaHei"/>
              </a:rPr>
              <a:t>AutoKernel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54680" y="35478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RightNow AI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66360" y="354787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AF2FA"/>
                </a:solidFill>
                <a:latin typeface="Microsoft YaHei"/>
              </a:rPr>
              <a:t>autoresearch + Amdahl + 双后端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354787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7AB8FF"/>
                </a:solidFill>
                <a:latin typeface="Consolas"/>
              </a:rPr>
              <a:t>H100：RMSNorm 5.29× · softmax 2.82× · cross-entropy 2.21×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0" y="35478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F2C55C"/>
                </a:solidFill>
                <a:latin typeface="Consolas"/>
              </a:rPr>
              <a:t>T1/T2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3986784"/>
            <a:ext cx="11384280" cy="530352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11480" y="3986784"/>
            <a:ext cx="54864" cy="53035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411480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B88AF0"/>
                </a:solidFill>
                <a:latin typeface="Consolas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EAF2FA"/>
                </a:solidFill>
                <a:latin typeface="Microsoft YaHei"/>
              </a:rPr>
              <a:t>K-Search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54680" y="41148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UC Berkeley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66360" y="411480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AF2FA"/>
                </a:solidFill>
                <a:latin typeface="Microsoft YaHei"/>
              </a:rPr>
              <a:t>World-Model 规划 + 策略/实现解耦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41148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7AB8FF"/>
                </a:solidFill>
                <a:latin typeface="Consolas"/>
              </a:rPr>
              <a:t>FlashInfer GQA/MLA/MoE 平均 2.10× · MoE 14.3× · TriMul SOTA 1030μs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8480" y="4114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B88AF0"/>
                </a:solidFill>
                <a:latin typeface="Consolas"/>
              </a:rPr>
              <a:t>T1/T5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553712"/>
            <a:ext cx="11384280" cy="53035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1480" y="4553712"/>
            <a:ext cx="54864" cy="5303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46817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38D1B8"/>
                </a:solidFill>
                <a:latin typeface="Consolas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" y="468172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EAF2FA"/>
                </a:solidFill>
                <a:latin typeface="Microsoft YaHei"/>
              </a:rPr>
              <a:t>AVO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54680" y="468172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NVIDIA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66360" y="4681728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AF2FA"/>
                </a:solidFill>
                <a:latin typeface="Microsoft YaHei"/>
              </a:rPr>
              <a:t>Agent-as-Variation-Operator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468172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7AB8FF"/>
                </a:solidFill>
                <a:latin typeface="Consolas"/>
              </a:rPr>
              <a:t>Blackwell B200 · MHA 7-day 演化 · 超 cuDNN +3.5%, 超 FA-4 +10.5%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98480" y="46817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38D1B8"/>
                </a:solidFill>
                <a:latin typeface="Consolas"/>
              </a:rPr>
              <a:t>T1/T2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11480" y="5120640"/>
            <a:ext cx="11384280" cy="530352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11480" y="5120640"/>
            <a:ext cx="54864" cy="530352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52486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EF6E6E"/>
                </a:solidFill>
                <a:latin typeface="Consolas"/>
              </a:rPr>
              <a:t>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8680" y="524865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EAF2FA"/>
                </a:solidFill>
                <a:latin typeface="Microsoft YaHei"/>
              </a:rPr>
              <a:t>CuTeGen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54680" y="524865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U. Toronto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66360" y="5248656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AF2FA"/>
                </a:solidFill>
                <a:latin typeface="Microsoft YaHei"/>
              </a:rPr>
              <a:t>稳定抽象层 (CuTe) + 单 kernel 渐进精炼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5248656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7AB8FF"/>
                </a:solidFill>
                <a:latin typeface="Consolas"/>
              </a:rPr>
              <a:t>12 matmul + 14 activation kernels · token 成本可控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698480" y="52486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EF6E6E"/>
                </a:solidFill>
                <a:latin typeface="Consolas"/>
              </a:rPr>
              <a:t>T4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11480" y="5687568"/>
            <a:ext cx="11384280" cy="53035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11480" y="5687568"/>
            <a:ext cx="54864" cy="5303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02920" y="58155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2C55C"/>
                </a:solidFill>
                <a:latin typeface="Consolas"/>
              </a:rPr>
              <a:t>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8680" y="581558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EAF2FA"/>
                </a:solidFill>
                <a:latin typeface="Microsoft YaHei"/>
              </a:rPr>
              <a:t>KernelGen-LM / AscendKernelGen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154680" y="581558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PCL · 中山大学 · 华为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66360" y="5815584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AF2FA"/>
                </a:solidFill>
                <a:latin typeface="Microsoft YaHei"/>
              </a:rPr>
              <a:t>领域数据 + 领域模型 (SFT + RLEF)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5200" y="5815584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7AB8FF"/>
                </a:solidFill>
                <a:latin typeface="Consolas"/>
              </a:rPr>
              <a:t>Ascend NPU · L2 编译成功率 0%→95.5% (Pass@10)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58155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F2C55C"/>
                </a:solidFill>
                <a:latin typeface="Consolas"/>
              </a:rPr>
              <a:t>T6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Source: 各案例 arXiv / 官方 blog / GitHub repo (详见 References)；性能为各方公布数据，硬件 / shape 各异不可直接横比。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14 / 41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B2.1 · 案例 1/7 · KernelEvolve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Meta · ISCA 2026 · arXiv 2512.23236　|　代表趋势：T1 / T3 / T4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1109960" cy="6400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128016" cy="6400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4708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7AB8FF"/>
                </a:solidFill>
                <a:latin typeface="Consolas"/>
              </a:rPr>
              <a:t>公开数据 / 代表性能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847088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AF2FA"/>
                </a:solidFill>
                <a:latin typeface="Microsoft YaHei"/>
              </a:rPr>
              <a:t>KernelBench 250/250 全 PASS · ATen 160 ops × 3 HW · 最高 17× vs PyTorch · 已落地 Meta 生产 ranking 系统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560320"/>
            <a:ext cx="128016" cy="1874519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Microsoft YaHei"/>
              </a:rPr>
              <a:t>做了什么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在生产级 ranking infra 上做异构 kernel 生成与优化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搜索式优化：tree search + 自改进 state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RAG 注入硬件知识库（含专有 MTIA 架构）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覆盖多 DSL：Triton / CuTe / FlyDSL / CUDA / HIP / MTIA C++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2560320"/>
            <a:ext cx="128016" cy="1874519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Microsoft YaHei"/>
              </a:rPr>
              <a:t>关键技术点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演化 + 验证 + 反馈三段式 loop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Job harness：规模化并行 compile + profile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运行时 RAG 上下文 → 动态 prompt 合成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生产部署：DLRM / Ads 推理吞吐提升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571999"/>
            <a:ext cx="128016" cy="1874519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Microsoft YaHei"/>
              </a:rPr>
              <a:t>代表的趋势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搜索化：one-shot → 演化 / 规划 / MCTS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硬件信号化：profile / roofline / NCU 入循环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抽象层选择：稳定 + 可迭代的目标层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4571999"/>
            <a:ext cx="128016" cy="1874519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F6E6E"/>
                </a:solidFill>
                <a:latin typeface="Microsoft YaHei"/>
              </a:rPr>
              <a:t>它没解决什么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策略仍偏自由代码，跨 kernel 不易抽象成可复用资产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硬件知识库以文档为主，缺结构化决策资产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355080"/>
            <a:ext cx="11109960" cy="457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Source: Meta engineering blog (2026-04) + arXiv 2512.23236 (KernelEvolve / Heterogeneous Agentic Kernel Authoring at Scale)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 · 案例 1/7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15 / 41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B2.2 · 案例 2/7 · KernelAgent / KernelFalcon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PyTorch · Meta · 2025–2026　|　代表趋势：T2 / T3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1109960" cy="6400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128016" cy="6400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4708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7AB8FF"/>
                </a:solidFill>
                <a:latin typeface="Consolas"/>
              </a:rPr>
              <a:t>公开数据 / 代表性能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847088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AF2FA"/>
                </a:solidFill>
                <a:latin typeface="Microsoft YaHei"/>
              </a:rPr>
              <a:t>KernelBench L1/L2/L3 250/250 · 1.56× vs torch.compile · 89% H100 roofline · 多算子并行合成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560320"/>
            <a:ext cx="128016" cy="1874519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Microsoft YaHei"/>
              </a:rPr>
              <a:t>做了什么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Deep Agents 分层编排：Orchestrator / FuserAgent / ExtractorAgent / Workers / Profiler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硬件信号驱动：NCU + roofline 进入决策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严格门禁：编译 → 数值 → 性能 三段验证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并行多 worker 探索 + early-win 收敛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2560320"/>
            <a:ext cx="128016" cy="1874519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Microsoft YaHei"/>
              </a:rPr>
              <a:t>关键技术点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Deterministic orchestration（控制逻辑从 LLM 拿出来）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Grounded tool use：每步都经编译器/硬件验证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子图边界 + shape contract → JSON 合同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用合成 kernel 重建 forward 端到端替换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571999"/>
            <a:ext cx="128016" cy="1874519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Microsoft YaHei"/>
              </a:rPr>
              <a:t>代表的趋势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工具化：tool-use + harness + 可复现评测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硬件信号化：profile / roofline / NCU 入循环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4571999"/>
            <a:ext cx="128016" cy="1874519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F6E6E"/>
                </a:solidFill>
                <a:latin typeface="Microsoft YaHei"/>
              </a:rPr>
              <a:t>它没解决什么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输出仍是 Triton 自由代码，缺独立策略层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跨硬件迁移尚未系统化验证（仍以 H100 为主）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355080"/>
            <a:ext cx="11109960" cy="4572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Source: PyTorch blog · KernelFalcon (autonomous GPU kernel generation via deep agents) + KernelAgent (hardware-guided GPU kernel optimization) · github.com/meta-pytorch/KernelAgent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 · 案例 2/7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16 / 41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B2.3 · 案例 3/7 · AutoKernel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RightNow AI · arXiv 2603.21331　|　代表趋势：T1 / T2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1109960" cy="6400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128016" cy="6400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4708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7AB8FF"/>
                </a:solidFill>
                <a:latin typeface="Consolas"/>
              </a:rPr>
              <a:t>公开数据 / 代表性能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847088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AF2FA"/>
                </a:solidFill>
                <a:latin typeface="Microsoft YaHei"/>
              </a:rPr>
              <a:t>H100 实测：RMSNorm 5.29× · softmax 2.82× · cross-entropy 2.21× vs PyTorch eager（公开 README 数据）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560320"/>
            <a:ext cx="128016" cy="1874519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Microsoft YaHei"/>
              </a:rPr>
              <a:t>做了什么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autoresearch 风格优化循环：profile → extract → edit → bench → keep/revert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Amdahl 优先级排序：集中精力到收益最大的瓶颈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双后端：Triton（快迭代）+ CUDA C++（深硬件）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5 阶段正确性 harness + 6 层 playbook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2560320"/>
            <a:ext cx="128016" cy="1874519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Microsoft YaHei"/>
              </a:rPr>
              <a:t>关键技术点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瓶颈定位 + 优先级调度（torch.profiler）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Tool-use harness：固定基准 + 自动 keep/revert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知识注入以 playbook（提示工程）为主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可长时间无人值守探索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571999"/>
            <a:ext cx="128016" cy="1874519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Microsoft YaHei"/>
              </a:rPr>
              <a:t>代表的趋势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搜索化：one-shot → 演化 / 规划 / MCTS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工具化：tool-use + harness + 可复现评测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4571999"/>
            <a:ext cx="128016" cy="1874519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F6E6E"/>
                </a:solidFill>
                <a:latin typeface="Microsoft YaHei"/>
              </a:rPr>
              <a:t>它没解决什么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优化粒度是「编辑文件」，缺中间层级可逆决策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知识沉淀仍是代码片段 + prompt，不易跨 kernel 复用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355080"/>
            <a:ext cx="11109960" cy="457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Source: arXiv 2603.21331 + github.com/RightNow-AI/autokernel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 · 案例 3/7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17 / 41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B2.4 · 案例 4/7 · K-Search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UC Berkeley · arXiv 2602.19128　|　代表趋势：T1 / T5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1109960" cy="6400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128016" cy="6400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4708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7AB8FF"/>
                </a:solidFill>
                <a:latin typeface="Consolas"/>
              </a:rPr>
              <a:t>公开数据 / 代表性能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847088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AF2FA"/>
                </a:solidFill>
                <a:latin typeface="Microsoft YaHei"/>
              </a:rPr>
              <a:t>FlashInfer GQA/MLA/MoE 平均 2.10× · MoE 最高 14.3× · GPUMode TriMul H100 SOTA 1030μs（公开 paper 数据）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560320"/>
            <a:ext cx="128016" cy="1874519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Microsoft YaHei"/>
              </a:rPr>
              <a:t>做了什么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把 kernel 生成视作规划问题：problem → search tree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World Model：LLM 估计状态转移 + 价值，指导搜索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Plan ↔ Codegen 显式解耦：策略与实现分离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Co-Evolving：世界模型随搜索共同演化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2560320"/>
            <a:ext cx="128016" cy="1874519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Microsoft YaHei"/>
              </a:rPr>
              <a:t>关键技术点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World-model + planning + 状态空间剪枝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Stagnation-aware：无提升时自动切 action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Exec feedback 更新世界模型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对临时编译失败更鲁棒（不会「误杀」好策略）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571999"/>
            <a:ext cx="128016" cy="1874519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Microsoft YaHei"/>
              </a:rPr>
              <a:t>代表的趋势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搜索化：one-shot → 演化 / 规划 / MCTS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知识资产化：rationale / playbook / 轨迹回放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4571999"/>
            <a:ext cx="128016" cy="1874519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F6E6E"/>
                </a:solidFill>
                <a:latin typeface="Microsoft YaHei"/>
              </a:rPr>
              <a:t>它没解决什么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世界模型大多隐式在 LLM 内部，难跨 session 持久化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硬件信号集成偏弱；输出仍是 Triton/CUDA 自由代码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355080"/>
            <a:ext cx="11109960" cy="4572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Source: arXiv 2602.19128 + github.com/caoshiyi/K-Search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 · 案例 4/7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18 / 41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B2.5 · 案例 5/7 · AVO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NVIDIA · arXiv 2603.24517　|　代表趋势：T1 / T2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1109960" cy="6400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128016" cy="6400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4708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7AB8FF"/>
                </a:solidFill>
                <a:latin typeface="Consolas"/>
              </a:rPr>
              <a:t>公开数据 / 代表性能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847088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AF2FA"/>
                </a:solidFill>
                <a:latin typeface="Microsoft YaHei"/>
              </a:rPr>
              <a:t>Blackwell B200 · MHA 7-day 演化 · 超 cuDNN +3.5% · 超 FlashAttention-4 +10.5% · GQA 迁移仅需 30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560320"/>
            <a:ext cx="128016" cy="1874519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Microsoft YaHei"/>
              </a:rPr>
              <a:t>做了什么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Evolutionary Algorithm 骨架（population / lineage）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把变异算子 Vary() 升级为自主 agent：propose → repair → critique → verify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Domain KB 作为知识源（硬件规约 + FA-4 / CUTLASS 实现）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长周期演化（多日尺度）发现微架构级优化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2560320"/>
            <a:ext cx="128016" cy="1874519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Microsoft YaHei"/>
              </a:rPr>
              <a:t>关键技术点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Agent-as-Variation-Operator：从 pipeline → agent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Self-directed loop · 多目标演化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Long-horizon：在 attention 上发现专家未覆盖的优化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Exec feedback 驱动下一轮变异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571999"/>
            <a:ext cx="128016" cy="1874519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Microsoft YaHei"/>
              </a:rPr>
              <a:t>代表的趋势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搜索化：one-shot → 演化 / 规划 / MCTS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工具化：tool-use + harness + 可复现评测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4571999"/>
            <a:ext cx="128016" cy="1874519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F6E6E"/>
                </a:solidFill>
                <a:latin typeface="Microsoft YaHei"/>
              </a:rPr>
              <a:t>它没解决什么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缺独立的策略表征层；输出多是 CUDA / C++ 实现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结果可解释性偏弱；长周期探索 token / 算力成本高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355080"/>
            <a:ext cx="11109960" cy="457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Source: arXiv 2603.24517 (Agentic Variation Operators for Evolutionary Kernel Optimization)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 · 案例 5/7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19 / 41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B2.6 · 案例 6/7 · CuTeGen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U. Toronto · arXiv 2604.01489　|　代表趋势：T4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1109960" cy="6400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128016" cy="6400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4708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7AB8FF"/>
                </a:solidFill>
                <a:latin typeface="Consolas"/>
              </a:rPr>
              <a:t>公开数据 / 代表性能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847088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AF2FA"/>
                </a:solidFill>
                <a:latin typeface="Microsoft YaHei"/>
              </a:rPr>
              <a:t>CUTLASS v4.3 (CuTe) 上 12 matmul + 14 activation kernels · 渐进精炼 token 成本可控（vs 纯 LLM 直写 CUDA）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560320"/>
            <a:ext cx="128016" cy="1874519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Microsoft YaHei"/>
              </a:rPr>
              <a:t>做了什么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选 CuTe（CUTLASS 4.x layout algebra）作为稳定抽象层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单 kernel 渐进精炼（generate → test → refine）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失败走结构化模板而非纯报错粘贴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先正确性后性能，profile 反馈延迟注入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2560320"/>
            <a:ext cx="128016" cy="1874519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Microsoft YaHei"/>
              </a:rPr>
              <a:t>关键技术点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稳定抽象层 + 渐进精炼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对 tiling / data-movement 更显式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Token 成本可控（不做大规模搜索）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571999"/>
            <a:ext cx="128016" cy="1874519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Microsoft YaHei"/>
              </a:rPr>
              <a:t>代表的趋势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抽象层选择：稳定 + 可迭代的目标层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4571999"/>
            <a:ext cx="128016" cy="1874519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F6E6E"/>
                </a:solidFill>
                <a:latin typeface="Microsoft YaHei"/>
              </a:rPr>
              <a:t>它没解决什么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强绑定 NVIDIA / CuTe 生态，跨硬件能力受限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仍是 C++ 模板体系，知识沉淀机制弱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355080"/>
            <a:ext cx="11109960" cy="4572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Source: arXiv 2604.01489 (LLM × CuTe abstraction for iterative kernel synthesis)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 · 案例 6/7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20 / 41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B2.7 · 案例 7/7 · KernelGen-LM / AscendKernelGen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PCL · 中山大学 · 华为 · arXiv 2601.07160　|　代表趋势：T6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1109960" cy="6400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128016" cy="6400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4708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7AB8FF"/>
                </a:solidFill>
                <a:latin typeface="Consolas"/>
              </a:rPr>
              <a:t>公开数据 / 代表性能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847088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AF2FA"/>
                </a:solidFill>
                <a:latin typeface="Microsoft YaHei"/>
              </a:rPr>
              <a:t>Ascend NPU · AscendC DSL · NPUKernelBench L2 编译成功率 0% → 95.5% (Pass@10)；权重 / 数据 / 评测全部开源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560320"/>
            <a:ext cx="128016" cy="1874519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Microsoft YaHei"/>
              </a:rPr>
              <a:t>做了什么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Ascend-CoT 数据集：真实 kernel + 文档推理 + 代码推理链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KernelGen-LM：Qwen3 backbone · NPU-aware SFT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RLEF：执行反馈强化（compile / 正确性 / 性能信号）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NPUKernelBench：编译/正确性/性能三维评测，难度分层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2560320"/>
            <a:ext cx="128016" cy="1874519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Microsoft YaHei"/>
              </a:rPr>
              <a:t>关键技术点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走「训一个领域模型」路线：知识进入权重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强耦合单硬件（AscendC / 昇腾）换取深度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用 CoT + RLEF 填补 DSL 数据稀缺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评测一等公民：编译 / 正确性 / 性能全量指标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571999"/>
            <a:ext cx="128016" cy="1874519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Microsoft YaHei"/>
              </a:rPr>
              <a:t>代表的趋势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领域模型化：SFT + RLEF + 后训练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4571999"/>
            <a:ext cx="128016" cy="1874519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F6E6E"/>
                </a:solidFill>
                <a:latin typeface="Microsoft YaHei"/>
              </a:rPr>
              <a:t>它没解决什么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通用性受限：跨硬件需要再训 / 再适配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工具链与决策协议尚未通用化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355080"/>
            <a:ext cx="11109960" cy="457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Source: arXiv 2601.07160 (KernelGen-LM / AscendKernelGen)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 · 案例 7/7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21 / 41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B3 · 趋势归纳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业界正在收敛的 6 个方向（每条标注代表案例）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219456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4767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8D1B8"/>
                </a:solidFill>
                <a:latin typeface="Consolas"/>
              </a:rPr>
              <a:t>T1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99339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搜索化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42316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从 one-shot → 演化 / 规划 / MCTS 等结构化搜索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520440"/>
            <a:ext cx="3200400" cy="365760"/>
          </a:xfrm>
          <a:prstGeom prst="roundRect">
            <a:avLst>
              <a:gd name="adj" fmla="val 40000"/>
            </a:avLst>
          </a:prstGeom>
          <a:solidFill>
            <a:srgbClr val="0E2136"/>
          </a:solidFill>
          <a:ln w="9525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5204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38D1B8"/>
                </a:solidFill>
                <a:latin typeface="Consolas"/>
              </a:rPr>
              <a:t>代表：KernelEvolve · K-Search · AVO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1828800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97680" y="1828800"/>
            <a:ext cx="128016" cy="219456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94767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7AB8FF"/>
                </a:solidFill>
                <a:latin typeface="Consolas"/>
              </a:rPr>
              <a:t>T2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199339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工具化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42316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tool-use + harness + 可复现评测，把 LLM 关进编译器 / profiler 控制室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0" y="3520440"/>
            <a:ext cx="3200400" cy="365760"/>
          </a:xfrm>
          <a:prstGeom prst="roundRect">
            <a:avLst>
              <a:gd name="adj" fmla="val 40000"/>
            </a:avLst>
          </a:prstGeom>
          <a:solidFill>
            <a:srgbClr val="0E2136"/>
          </a:solidFill>
          <a:ln w="9525">
            <a:solidFill>
              <a:srgbClr val="7A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35204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7AB8FF"/>
                </a:solidFill>
                <a:latin typeface="Consolas"/>
              </a:rPr>
              <a:t>代表：KernelAgent · AutoKernel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1828800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128016" cy="219456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194767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2C55C"/>
                </a:solidFill>
                <a:latin typeface="Consolas"/>
              </a:rPr>
              <a:t>T3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199339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硬件信号化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242316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profile / roofline / NCU 反馈直接进入决策循环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21040" y="3520440"/>
            <a:ext cx="3200400" cy="365760"/>
          </a:xfrm>
          <a:prstGeom prst="roundRect">
            <a:avLst>
              <a:gd name="adj" fmla="val 40000"/>
            </a:avLst>
          </a:prstGeom>
          <a:solidFill>
            <a:srgbClr val="0E2136"/>
          </a:solidFill>
          <a:ln w="9525">
            <a:solidFill>
              <a:srgbClr val="F2C5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35204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F2C55C"/>
                </a:solidFill>
                <a:latin typeface="Consolas"/>
              </a:rPr>
              <a:t>代表：KernelAgent · AVO · KernelEvolve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187952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187952"/>
            <a:ext cx="128016" cy="219456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306824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B88AF0"/>
                </a:solidFill>
                <a:latin typeface="Consolas"/>
              </a:rPr>
              <a:t>T4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4352544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抽象层选择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4782312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放弃直写 PTX，押注稳定可迭代的抽象层 (Triton / CuTe / DSL)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879592"/>
            <a:ext cx="3200400" cy="365760"/>
          </a:xfrm>
          <a:prstGeom prst="roundRect">
            <a:avLst>
              <a:gd name="adj" fmla="val 40000"/>
            </a:avLst>
          </a:prstGeom>
          <a:solidFill>
            <a:srgbClr val="0E2136"/>
          </a:solidFill>
          <a:ln w="9525">
            <a:solidFill>
              <a:srgbClr val="B88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87959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B88AF0"/>
                </a:solidFill>
                <a:latin typeface="Consolas"/>
              </a:rPr>
              <a:t>代表：CuTeGen · KernelEvolve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0" y="4187952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97680" y="4187952"/>
            <a:ext cx="128016" cy="219456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0" y="4306824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F6E6E"/>
                </a:solidFill>
                <a:latin typeface="Consolas"/>
              </a:rPr>
              <a:t>T5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3520" y="4352544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知识资产化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4782312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RAG + playbook + decision rationale + 轨迹 → 经验从手感到资产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0" y="5879592"/>
            <a:ext cx="3200400" cy="365760"/>
          </a:xfrm>
          <a:prstGeom prst="roundRect">
            <a:avLst>
              <a:gd name="adj" fmla="val 40000"/>
            </a:avLst>
          </a:prstGeom>
          <a:solidFill>
            <a:srgbClr val="0E2136"/>
          </a:solidFill>
          <a:ln w="9525">
            <a:solidFill>
              <a:srgbClr val="E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0" y="587959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EF6E6E"/>
                </a:solidFill>
                <a:latin typeface="Consolas"/>
              </a:rPr>
              <a:t>代表：KernelEvolve (RAG) · K-Search (world model)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46720" y="4187952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20" y="4187952"/>
            <a:ext cx="128016" cy="219456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21040" y="4306824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8D1B8"/>
                </a:solidFill>
                <a:latin typeface="Consolas"/>
              </a:rPr>
              <a:t>T6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52560" y="4352544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领域模型化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1040" y="4782312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SFT + RLEF + 后训练，让小 / 中模型在 kernel 域具备专家级判断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321040" y="5879592"/>
            <a:ext cx="3200400" cy="365760"/>
          </a:xfrm>
          <a:prstGeom prst="roundRect">
            <a:avLst>
              <a:gd name="adj" fmla="val 40000"/>
            </a:avLst>
          </a:prstGeom>
          <a:solidFill>
            <a:srgbClr val="0E2136"/>
          </a:solidFill>
          <a:ln w="9525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21040" y="587959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38D1B8"/>
                </a:solidFill>
                <a:latin typeface="Consolas"/>
              </a:rPr>
              <a:t>代表：KernelGen-LM / AscendKernelGen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72400" y="6537960"/>
            <a:ext cx="2697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1">
                <a:solidFill>
                  <a:srgbClr val="6E869F"/>
                </a:solidFill>
                <a:latin typeface="Consolas"/>
              </a:rPr>
              <a:t>→ Glossary P03 · 术语 RAG / harness / RLEF / NCU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← 与 A2.5 范式判断对应：T1/T2/T3/T4/T5/T6 分别延伸自 ❶❷❸❹❺❻ 六条预判 (P07)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22 / 41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B4 · 已有的「好进展」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What's working — 客观陈述案例已经验证可行的部分（含真实数据）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749808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11680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G1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20" y="194767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正确性门禁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20" y="2221992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9FB5C9"/>
                </a:solidFill>
                <a:latin typeface="Microsoft YaHei"/>
              </a:rPr>
              <a:t>数值等价 (numerical equivalence) 已是业界标配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1993392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7AB8FF"/>
                </a:solidFill>
                <a:latin typeface="Consolas"/>
              </a:rPr>
              <a:t>证据：KernelAgent: KernelBench L1/L2/L3 250/250 全 PASS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24328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624328"/>
            <a:ext cx="128016" cy="749808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807208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G2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20" y="2743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并行探索 + 早停 + 预算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20" y="3017520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9FB5C9"/>
                </a:solidFill>
                <a:latin typeface="Microsoft YaHei"/>
              </a:rPr>
              <a:t>multi-worker + early-win 显著降低 token/wall-clock 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7889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7AB8FF"/>
                </a:solidFill>
                <a:latin typeface="Consolas"/>
              </a:rPr>
              <a:t>证据：AutoKernel: 长时无人值守演化 · KernelEvolve: tree search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419856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419856"/>
            <a:ext cx="128016" cy="749808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602736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G3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20" y="353872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硬件 profile 反馈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20" y="3813048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9FB5C9"/>
                </a:solidFill>
                <a:latin typeface="Microsoft YaHei"/>
              </a:rPr>
              <a:t>进入决策循环后稳定带来双位数性能提升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35844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7AB8FF"/>
                </a:solidFill>
                <a:latin typeface="Consolas"/>
              </a:rPr>
              <a:t>证据：KernelAgent: 89% H100 roofline · 1.56× torch.compile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215384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215384"/>
            <a:ext cx="128016" cy="749808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398264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G4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20" y="4334256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稳定抽象层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20" y="4608576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9FB5C9"/>
                </a:solidFill>
                <a:latin typeface="Microsoft YaHei"/>
              </a:rPr>
              <a:t>Triton / CuTe 等上的 LLM 生成已能落地生产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20" y="4379976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7AB8FF"/>
                </a:solidFill>
                <a:latin typeface="Consolas"/>
              </a:rPr>
              <a:t>证据：CuTeGen: 12 matmul + 14 act kernels · KernelEvolve: 多 DSL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010912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5010912"/>
            <a:ext cx="128016" cy="749808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5193792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G5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74520" y="512978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RAG + 知识库 + 后训练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74520" y="5404104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9FB5C9"/>
                </a:solidFill>
                <a:latin typeface="Microsoft YaHei"/>
              </a:rPr>
              <a:t>让「专家直觉」开始可累计、可迁移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74920" y="5175504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7AB8FF"/>
                </a:solidFill>
                <a:latin typeface="Consolas"/>
              </a:rPr>
              <a:t>证据：KernelEvolve: 硬件知识库 RAG · KernelGen-LM: SFT + RLEF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806440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8640" y="5806440"/>
            <a:ext cx="128016" cy="749808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989320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G6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74520" y="5925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Agent 编排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74520" y="6199632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9FB5C9"/>
                </a:solidFill>
                <a:latin typeface="Microsoft YaHei"/>
              </a:rPr>
              <a:t>分层 + 规划 + 回滚让长会话稳定性显著改善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74920" y="5971032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7AB8FF"/>
                </a:solidFill>
                <a:latin typeface="Consolas"/>
              </a:rPr>
              <a:t>证据：AVO: B200 上 MHA 7-day 演化超 FA-4 +10.5%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Source: 各案例公开 paper / blog / repo（详见 B2 与 References）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23 / 41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B5 · 仍待解决的「关键技术难题」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What's hard — H1–H9（统一编号 · 每条带业界证据）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14173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20240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1B8"/>
                </a:solidFill>
                <a:latin typeface="Consolas"/>
              </a:rPr>
              <a:t>H1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1929384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策略可迁移性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28600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策略仍埋在自由代码里，难审计 / 回滚 / 跨 kernel 迁移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862072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7AB8FF"/>
                </a:solidFill>
                <a:latin typeface="Consolas"/>
              </a:rPr>
              <a:t>证据：KernelAgent / AVO 输出仍是 Triton/CUDA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82880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828800"/>
            <a:ext cx="128016" cy="141732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920240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B8FF"/>
                </a:solidFill>
                <a:latin typeface="Consolas"/>
              </a:rPr>
              <a:t>H2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1929384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多级验证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8600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事后对拍 → 静态 / 数值 / 性能的可剪枝多级门禁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862072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7AB8FF"/>
                </a:solidFill>
                <a:latin typeface="Consolas"/>
              </a:rPr>
              <a:t>证据：各家自建 harness，无统一协议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182880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1828800"/>
            <a:ext cx="128016" cy="14173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1920240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2C55C"/>
                </a:solidFill>
                <a:latin typeface="Consolas"/>
              </a:rPr>
              <a:t>H3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1929384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动态 / 符号 shape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28600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动态 shape 下泛化与不退化同时保证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862072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7AB8FF"/>
                </a:solidFill>
                <a:latin typeface="Consolas"/>
              </a:rPr>
              <a:t>证据：shape guard / specialization 各家自做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364992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3364992"/>
            <a:ext cx="128016" cy="141732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3456432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88AF0"/>
                </a:solidFill>
                <a:latin typeface="Consolas"/>
              </a:rPr>
              <a:t>H4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08760" y="3465576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跨硬件迁移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382219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NVIDIA → Ascend / AMD / NPU 策略与知识复用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398264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7AB8FF"/>
                </a:solidFill>
                <a:latin typeface="Consolas"/>
              </a:rPr>
              <a:t>证据：KernelGen-LM 切硬件需重训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364992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97680" y="3364992"/>
            <a:ext cx="128016" cy="141732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3456432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F6E6E"/>
                </a:solidFill>
                <a:latin typeface="Consolas"/>
              </a:rPr>
              <a:t>H5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57800" y="3465576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模型级自治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382219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从单 kernel 到模型级 (bottleneck → 优化 → 回归) 闭环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398264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7AB8FF"/>
                </a:solidFill>
                <a:latin typeface="Consolas"/>
              </a:rPr>
              <a:t>证据：AutoKernel 仅做单 kernel；端到端少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46720" y="3364992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46720" y="3364992"/>
            <a:ext cx="128016" cy="14173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21040" y="3456432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1B8"/>
                </a:solidFill>
                <a:latin typeface="Consolas"/>
              </a:rPr>
              <a:t>H6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06840" y="3465576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Token / 预算治理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382219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长会话中预算 / 上下文 / 稳定性可治理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4398264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7AB8FF"/>
                </a:solidFill>
                <a:latin typeface="Consolas"/>
              </a:rPr>
              <a:t>证据：AVO 7-day 演化的成本控制是开放问题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4901184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48640" y="4901184"/>
            <a:ext cx="128016" cy="141732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60" y="4992624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B8FF"/>
                </a:solidFill>
                <a:latin typeface="Consolas"/>
              </a:rPr>
              <a:t>H7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08760" y="5001768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后端天花板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5358384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Triton 抽象封顶 → 何时下沉 MLIR / LLVM 解锁深决策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5934456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7AB8FF"/>
                </a:solidFill>
                <a:latin typeface="Consolas"/>
              </a:rPr>
              <a:t>证据：CuTeGen 选 CuTe 才能逼近 cuBLAS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97680" y="4901184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97680" y="4901184"/>
            <a:ext cx="128016" cy="14173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0" y="4992624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2C55C"/>
                </a:solidFill>
                <a:latin typeface="Consolas"/>
              </a:rPr>
              <a:t>H8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57800" y="5001768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数据稀缺 / 领域模型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0" y="5358384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kernel × HW × profile 三元组数据稀缺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0" y="5934456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7AB8FF"/>
                </a:solidFill>
                <a:latin typeface="Consolas"/>
              </a:rPr>
              <a:t>证据：AscendKernelGen 自造 Ascend-CoT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46720" y="4901184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046720" y="4901184"/>
            <a:ext cx="128016" cy="141732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321040" y="4992624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F6E6E"/>
                </a:solidFill>
                <a:latin typeface="Consolas"/>
              </a:rPr>
              <a:t>H9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06840" y="5001768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评测可复现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5358384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缺统一 benchmark / 形状层级 / 基线协议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5934456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7AB8FF"/>
                </a:solidFill>
                <a:latin typeface="Consolas"/>
              </a:rPr>
              <a:t>证据：各家性能数据硬件 / shape 各异，难横比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24 / 41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2C55C"/>
                </a:solidFill>
                <a:latin typeface="Consolas"/>
              </a:rPr>
              <a:t>TARGET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EAF2FA"/>
                </a:solidFill>
                <a:latin typeface="Microsoft YaHei"/>
              </a:rPr>
              <a:t>目标态总览：未来算子生成 / 调优技术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1480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4114800"/>
            <a:ext cx="128016" cy="128016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5196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9FB5C9"/>
                </a:solidFill>
                <a:latin typeface="Microsoft YaHei"/>
              </a:rPr>
              <a:t>北极星 · 7 大技术特征 F1–F7 · 对通用编程的启示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TARGET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25 / 41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S1 · 北极星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未来大模型算子生成 / 调优技术的目标态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10515600" cy="23774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828800"/>
            <a:ext cx="146304" cy="23774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9659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目标态 · ONE-LINER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33172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 i="0">
                <a:solidFill>
                  <a:srgbClr val="9FB5C9"/>
                </a:solidFill>
                <a:latin typeface="Microsoft YaHei"/>
              </a:rPr>
              <a:t>让 </a:t>
            </a:r>
            <a:r>
              <a:rPr sz="2200" b="1" i="0">
                <a:solidFill>
                  <a:srgbClr val="38D1B8"/>
                </a:solidFill>
                <a:latin typeface="Microsoft YaHei"/>
              </a:rPr>
              <a:t>任意 LLM </a:t>
            </a:r>
            <a:r>
              <a:rPr sz="2200" b="0" i="0">
                <a:solidFill>
                  <a:srgbClr val="9FB5C9"/>
                </a:solidFill>
                <a:latin typeface="Microsoft YaHei"/>
              </a:rPr>
              <a:t>在</a:t>
            </a:r>
            <a:r>
              <a:rPr sz="2200" b="1" i="0">
                <a:solidFill>
                  <a:srgbClr val="F2C55C"/>
                </a:solidFill>
                <a:latin typeface="Microsoft YaHei"/>
              </a:rPr>
              <a:t>最小 token 预算</a:t>
            </a:r>
            <a:r>
              <a:rPr sz="2200" b="0" i="0">
                <a:solidFill>
                  <a:srgbClr val="9FB5C9"/>
                </a:solidFill>
                <a:latin typeface="Microsoft YaHei"/>
              </a:rPr>
              <a:t>下产出 </a:t>
            </a:r>
            <a:r>
              <a:rPr sz="2200" b="1" i="0">
                <a:solidFill>
                  <a:srgbClr val="EAF2FA"/>
                </a:solidFill>
                <a:latin typeface="Microsoft YaHei"/>
              </a:rPr>
              <a:t>正确、最优、可迁移、可演进 </a:t>
            </a:r>
            <a:r>
              <a:rPr sz="2200" b="0" i="0">
                <a:solidFill>
                  <a:srgbClr val="9FB5C9"/>
                </a:solidFill>
                <a:latin typeface="Microsoft YaHei"/>
              </a:rPr>
              <a:t>的算子。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572000"/>
            <a:ext cx="2148840" cy="14630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4572000"/>
            <a:ext cx="214884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983480"/>
            <a:ext cx="1874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38D1B8"/>
                </a:solidFill>
                <a:latin typeface="Consolas"/>
              </a:rPr>
              <a:t>#01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349240"/>
            <a:ext cx="1874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EAF2FA"/>
                </a:solidFill>
                <a:latin typeface="Microsoft YaHei"/>
              </a:rPr>
              <a:t>语义/策略分层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07208" y="4572000"/>
            <a:ext cx="2148840" cy="14630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07208" y="4572000"/>
            <a:ext cx="2148840" cy="731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44368" y="4983480"/>
            <a:ext cx="1874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7AB8FF"/>
                </a:solidFill>
                <a:latin typeface="Consolas"/>
              </a:rPr>
              <a:t>#02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44368" y="5349240"/>
            <a:ext cx="1874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EAF2FA"/>
                </a:solidFill>
                <a:latin typeface="Microsoft YaHei"/>
              </a:rPr>
              <a:t>有界动作空间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0056" y="4572000"/>
            <a:ext cx="2148840" cy="14630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0056" y="4572000"/>
            <a:ext cx="214884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57216" y="4983480"/>
            <a:ext cx="1874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F2C55C"/>
                </a:solidFill>
                <a:latin typeface="Consolas"/>
              </a:rPr>
              <a:t>#03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5349240"/>
            <a:ext cx="1874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EAF2FA"/>
                </a:solidFill>
                <a:latin typeface="Microsoft YaHei"/>
              </a:rPr>
              <a:t>多级编译器验证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2904" y="4572000"/>
            <a:ext cx="2148840" cy="14630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32904" y="4572000"/>
            <a:ext cx="2148840" cy="7315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70064" y="4983480"/>
            <a:ext cx="1874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B88AF0"/>
                </a:solidFill>
                <a:latin typeface="Consolas"/>
              </a:rPr>
              <a:t>#04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70064" y="5349240"/>
            <a:ext cx="1874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EAF2FA"/>
                </a:solidFill>
                <a:latin typeface="Microsoft YaHei"/>
              </a:rPr>
              <a:t>结构化经验沉淀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45752" y="4572000"/>
            <a:ext cx="2148840" cy="14630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445752" y="4572000"/>
            <a:ext cx="2148840" cy="73152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82912" y="4983480"/>
            <a:ext cx="1874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EF6E6E"/>
                </a:solidFill>
                <a:latin typeface="Consolas"/>
              </a:rPr>
              <a:t>#05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82912" y="5349240"/>
            <a:ext cx="1874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EAF2FA"/>
                </a:solidFill>
                <a:latin typeface="Microsoft YaHei"/>
              </a:rPr>
              <a:t>跨硬件零迁移成本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Target State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26 / 41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S2 · 7 大技术特征 F1–F7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由趋势 T1–T6 + 难题 H1–H9 收敛而来——目标态的 spec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3657600" cy="17830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178308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20240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929384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语义与策略分离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3172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2C55C"/>
                </a:solidFill>
                <a:latin typeface="Consolas"/>
              </a:rPr>
              <a:t>T4 · T5 / H1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70048"/>
            <a:ext cx="3291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「做什么」是不可变数学；「怎么做」是可搜索决策。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828800"/>
            <a:ext cx="3657600" cy="17830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828800"/>
            <a:ext cx="128016" cy="17830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920240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7AB8FF"/>
                </a:solidFill>
                <a:latin typeface="Consolas"/>
              </a:rPr>
              <a:t>F2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1929384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有界动作空间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33172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2C55C"/>
                </a:solidFill>
                <a:latin typeface="Consolas"/>
              </a:rPr>
              <a:t>T2 / H2 · H6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670048"/>
            <a:ext cx="3291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LLM 不写自由代码，只在编译器枚举的合法动作上选择。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1828800"/>
            <a:ext cx="3657600" cy="17830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1828800"/>
            <a:ext cx="128016" cy="178308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1920240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2C55C"/>
                </a:solidFill>
                <a:latin typeface="Consolas"/>
              </a:rPr>
              <a:t>F3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1929384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多层 IR + 多级验证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33172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2C55C"/>
                </a:solidFill>
                <a:latin typeface="Consolas"/>
              </a:rPr>
              <a:t>T2 · T4 / H2 · H7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670048"/>
            <a:ext cx="3291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高层语义 → 策略 → 调度 → 指令；每层静态/数值/性能门禁。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730752"/>
            <a:ext cx="3657600" cy="17830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3730752"/>
            <a:ext cx="128016" cy="178308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3822192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B88AF0"/>
                </a:solidFill>
                <a:latin typeface="Consolas"/>
              </a:rPr>
              <a:t>F4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3831336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硬件信号闭环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233672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2C55C"/>
                </a:solidFill>
                <a:latin typeface="Consolas"/>
              </a:rPr>
              <a:t>T3 / H3 · H4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572000"/>
            <a:ext cx="3291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profile / roofline / 占用率 / 寄存器压力进入决策循环。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730752"/>
            <a:ext cx="3657600" cy="17830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97680" y="3730752"/>
            <a:ext cx="128016" cy="178308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3822192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F6E6E"/>
                </a:solidFill>
                <a:latin typeface="Consolas"/>
              </a:rPr>
              <a:t>F5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0" y="3831336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结构化经验资产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4233672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2C55C"/>
                </a:solidFill>
                <a:latin typeface="Consolas"/>
              </a:rPr>
              <a:t>T5 / H1 · H8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572000"/>
            <a:ext cx="3291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rationale / playbook / 轨迹 / 决策树成为一等公民。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46720" y="3730752"/>
            <a:ext cx="3657600" cy="17830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46720" y="3730752"/>
            <a:ext cx="128016" cy="178308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21040" y="3822192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F6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52560" y="3831336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跨硬件统一表达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4233672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2C55C"/>
                </a:solidFill>
                <a:latin typeface="Consolas"/>
              </a:rPr>
              <a:t>T4 / H4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4572000"/>
            <a:ext cx="3291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同一份语义、同一套决策原语，target-aware 适配多硬件。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5632704"/>
            <a:ext cx="11109960" cy="8686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48640" y="5632704"/>
            <a:ext cx="128016" cy="86868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60" y="5751576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2C55C"/>
                </a:solidFill>
                <a:latin typeface="Consolas"/>
              </a:rPr>
              <a:t>F7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54480" y="575157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可复现评测协议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83480" y="577900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F2C55C"/>
                </a:solidFill>
                <a:latin typeface="Consolas"/>
              </a:rPr>
              <a:t>T1 · T2 / H9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23760" y="5751576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Microsoft YaHei"/>
              </a:rPr>
              <a:t>横切的「度量层」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35624"/>
            <a:ext cx="10744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统一形状层级 / baseline / 报表 schema → 跨工作 / 跨硬件 / 跨版本可横向对比；是把前 6 个特征「真正落到工程」的前提。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Target State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27 / 41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S3 · 对通用编程的启示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把 kernel 域的洞察推广到更广的软件工程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71323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47672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EAF2FA"/>
                </a:solidFill>
                <a:latin typeface="Microsoft YaHei"/>
              </a:rPr>
              <a:t>编程语言会双层化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1947672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What / How 显式分离——适用于性能敏感 + 正确性敏感的所有领域：数据库执行计划 / 分布式调度 / 系统调优 / 形式化证明。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578608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578608"/>
            <a:ext cx="128016" cy="71323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743200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7AB8FF"/>
                </a:solidFill>
                <a:latin typeface="Consola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26974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EAF2FA"/>
                </a:solidFill>
                <a:latin typeface="Microsoft YaHei"/>
              </a:rPr>
              <a:t>模型不是代码生成器，而是决策代理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697480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通用编程的下一步：在结构化决策空间里做选择；编译器 / 运行时 / 类型系统是它的「环境」。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28416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28416"/>
            <a:ext cx="128016" cy="71323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493008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2C55C"/>
                </a:solidFill>
                <a:latin typeface="Consola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344728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EAF2FA"/>
                </a:solidFill>
                <a:latin typeface="Microsoft YaHei"/>
              </a:rPr>
              <a:t>编译器 / 工具链承担「可验证 RL 环境」的角色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3447288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静态 / 数值 / 性能 三级验证不仅是 kernel 域的工程实践，更是让 LLM 在通用程序合成中「安全地试错」的范式。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78224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078224"/>
            <a:ext cx="128016" cy="71323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242816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B88AF0"/>
                </a:solidFill>
                <a:latin typeface="Consolas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4197096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EAF2FA"/>
                </a:solidFill>
                <a:latin typeface="Microsoft YaHei"/>
              </a:rPr>
              <a:t>经验资产化是 LLM 工程的真正护城河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4197096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decision rationale / 轨迹 / 决策树可被检索、训练、跨团队复用——比生成的代码本身更有长期价值。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828032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4828032"/>
            <a:ext cx="128016" cy="713232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992624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F6E6E"/>
                </a:solidFill>
                <a:latin typeface="Consolas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91640" y="4946904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EAF2FA"/>
                </a:solidFill>
                <a:latin typeface="Microsoft YaHei"/>
              </a:rPr>
              <a:t>跨平台 / 跨架构「零迁移成本」正在变得可能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4946904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抽象层稳定 + 策略可迁移 → 写一次跑多硬件，从图编译器口号变 LLM 时代现实。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577840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577840"/>
            <a:ext cx="128016" cy="71323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742432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91640" y="5696712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EAF2FA"/>
                </a:solidFill>
                <a:latin typeface="Microsoft YaHei"/>
              </a:rPr>
              <a:t>评测协议是行业的公共物品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5696712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与其每家堆 demo，不如共同推动可复现的评测协议——这是行业从「PR 驱动」走向「工程化」的前提。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Target State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28 / 41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S4 · 从目标态走向构建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Agent 是手段，IR + 验证 + 编译栈才是底盘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10515600" cy="18288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828800"/>
            <a:ext cx="146304" cy="182880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011680"/>
            <a:ext cx="1005840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 i="0">
                <a:solidFill>
                  <a:srgbClr val="9FB5C9"/>
                </a:solidFill>
                <a:latin typeface="Microsoft YaHei"/>
              </a:rPr>
              <a:t>下一章给出一个 </a:t>
            </a:r>
            <a:r>
              <a:rPr sz="2200" b="1" i="0">
                <a:solidFill>
                  <a:srgbClr val="38D1B8"/>
                </a:solidFill>
                <a:latin typeface="Microsoft YaHei"/>
              </a:rPr>
              <a:t>可落地的总体设计</a:t>
            </a:r>
            <a:r>
              <a:rPr sz="2200" b="0" i="0">
                <a:solidFill>
                  <a:srgbClr val="9FB5C9"/>
                </a:solidFill>
                <a:latin typeface="Microsoft YaHei"/>
              </a:rPr>
              <a:t>，</a:t>
            </a:r>
            <a:r>
              <a:rPr sz="2200" b="1" i="0">
                <a:solidFill>
                  <a:srgbClr val="F2C55C"/>
                </a:solidFill>
                <a:latin typeface="Microsoft YaHei"/>
              </a:rPr>
              <a:t>而不是「再堆一个 agent」</a:t>
            </a:r>
            <a:r>
              <a:rPr sz="2200" b="0" i="0">
                <a:solidFill>
                  <a:srgbClr val="9FB5C9"/>
                </a:solidFill>
                <a:latin typeface="Microsoft YaHei"/>
              </a:rPr>
              <a:t>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4800"/>
            <a:ext cx="2697480" cy="20116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4114800"/>
            <a:ext cx="269748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343400"/>
            <a:ext cx="2423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38D1B8"/>
                </a:solidFill>
                <a:latin typeface="Microsoft YaHei"/>
              </a:rPr>
              <a:t>设计逻辑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892040"/>
            <a:ext cx="2423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9FB5C9"/>
                </a:solidFill>
                <a:latin typeface="Microsoft YaHei"/>
              </a:rPr>
              <a:t>5 条公理，每条对应 F1–F7 的一个或多个特征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4114800"/>
            <a:ext cx="2697480" cy="20116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4114800"/>
            <a:ext cx="2697480" cy="731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0440" y="4343400"/>
            <a:ext cx="2423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7AB8FF"/>
                </a:solidFill>
                <a:latin typeface="Microsoft YaHei"/>
              </a:rPr>
              <a:t>整体架构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4892040"/>
            <a:ext cx="2423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9FB5C9"/>
                </a:solidFill>
                <a:latin typeface="Microsoft YaHei"/>
              </a:rPr>
              <a:t>一张系统总图——四件套 + Benchmark 的协作关系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4114800"/>
            <a:ext cx="2697480" cy="20116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6480" y="4114800"/>
            <a:ext cx="269748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4343400"/>
            <a:ext cx="2423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2C55C"/>
                </a:solidFill>
                <a:latin typeface="Microsoft YaHei"/>
              </a:rPr>
              <a:t>四件套 + Benchmark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892040"/>
            <a:ext cx="2423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9FB5C9"/>
                </a:solidFill>
                <a:latin typeface="Microsoft YaHei"/>
              </a:rPr>
              <a:t>Language · IR · Compiler · Agent · Benchmark 各一页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4114800"/>
            <a:ext cx="2697480" cy="20116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15400" y="4114800"/>
            <a:ext cx="2697480" cy="7315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98280" y="4343400"/>
            <a:ext cx="2423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B88AF0"/>
                </a:solidFill>
                <a:latin typeface="Microsoft YaHei"/>
              </a:rPr>
              <a:t>最终对齐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4892040"/>
            <a:ext cx="2423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9FB5C9"/>
                </a:solidFill>
                <a:latin typeface="Microsoft YaHei"/>
              </a:rPr>
              <a:t>F1–F7 ↔ Arke 组件一一对应，闭环全 PPT 叙事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Target 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29 / 41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B88AF0"/>
                </a:solidFill>
                <a:latin typeface="Consolas"/>
              </a:rPr>
              <a:t>PART C · ARKE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EAF2FA"/>
                </a:solidFill>
                <a:latin typeface="Microsoft YaHei"/>
              </a:rPr>
              <a:t>Arke 的技术构建：设计逻辑 + 整体架构 + 四件套 + Benchmark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1480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4114800"/>
            <a:ext cx="128016" cy="128016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5196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9FB5C9"/>
                </a:solidFill>
                <a:latin typeface="Microsoft YaHei"/>
              </a:rPr>
              <a:t>5 条公理 · 一张总图 · Language / IR / Compiler / Agent / Benchmark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30 / 41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C1 · 设计逻辑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Arke 凭什么相信能逼近目标态——5 条设计公理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109960" cy="7772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77724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Consolas"/>
              </a:rPr>
              <a:t>公理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947672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算子是「可数学验证」的对象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947672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→ 必然要 语义/策略分离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469880" y="2029968"/>
            <a:ext cx="1051560" cy="38404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69880" y="2029968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B1B2E"/>
                </a:solidFill>
                <a:latin typeface="Consolas"/>
              </a:rPr>
              <a:t>F1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660904"/>
            <a:ext cx="11109960" cy="77724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660904"/>
            <a:ext cx="128016" cy="77724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282549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Consolas"/>
              </a:rPr>
              <a:t>公理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2779776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LLM 是决策者，不是代码生成器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779776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→ 必然要 Bounded Action Space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469880" y="2862072"/>
            <a:ext cx="1051560" cy="38404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69880" y="2862072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B1B2E"/>
                </a:solidFill>
                <a:latin typeface="Consolas"/>
              </a:rPr>
              <a:t>F2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493008"/>
            <a:ext cx="11109960" cy="7772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3493008"/>
            <a:ext cx="128016" cy="7772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65760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Consolas"/>
              </a:rPr>
              <a:t>公理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361188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编译器是「可验证 RL 环境」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611880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→ 必然要 多层 IR + 多级验证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69880" y="3694176"/>
            <a:ext cx="1051560" cy="384048"/>
          </a:xfrm>
          <a:prstGeom prst="roundRect">
            <a:avLst>
              <a:gd name="adj" fmla="val 40000"/>
            </a:avLst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69880" y="3694176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B1B2E"/>
                </a:solidFill>
                <a:latin typeface="Consolas"/>
              </a:rPr>
              <a:t>F3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325112"/>
            <a:ext cx="11109960" cy="77724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325112"/>
            <a:ext cx="128016" cy="77724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48970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88AF0"/>
                </a:solidFill>
                <a:latin typeface="Consolas"/>
              </a:rPr>
              <a:t>公理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20" y="4443984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经验必须能沉淀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443984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→ 必然要 @rationale 作为一等公民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69880" y="4526280"/>
            <a:ext cx="1051560" cy="38404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69880" y="4526280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B1B2E"/>
                </a:solidFill>
                <a:latin typeface="Consolas"/>
              </a:rPr>
              <a:t>F5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157216"/>
            <a:ext cx="11109960" cy="7772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8640" y="5157216"/>
            <a:ext cx="128016" cy="77724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5321808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F6E6E"/>
                </a:solidFill>
                <a:latin typeface="Consolas"/>
              </a:rPr>
              <a:t>公理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03120" y="5276088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性能上限来自硬件，不是抽象层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5276088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→ 必然要 渐进下沉到更深的 IR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469880" y="5358384"/>
            <a:ext cx="1051560" cy="384048"/>
          </a:xfrm>
          <a:prstGeom prst="roundRect">
            <a:avLst>
              <a:gd name="adj" fmla="val 40000"/>
            </a:avLst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469880" y="5358384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B1B2E"/>
                </a:solidFill>
                <a:latin typeface="Consolas"/>
              </a:rPr>
              <a:t>F3 + F6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1996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9FB5C9"/>
                </a:solidFill>
                <a:latin typeface="Microsoft YaHei"/>
              </a:rPr>
              <a:t>设计公理 → 体系结构 → 四件套实现，逻辑自上而下闭合。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← 5 条公理直接回应 A2.5 范式判断：公理 1↔❺ · 公理 2↔❹ · 公理 3↔❷❺ · 公理 4↔❺❻ · 公理 5↔❻ (P07)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31 / 41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C2 · 整体架构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唯一的系统总图——一眼看懂 Arke 怎么承载目标态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128016" cy="9144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2024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38D1B8"/>
                </a:solidFill>
                <a:latin typeface="Consolas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901952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EAF2FA"/>
                </a:solidFill>
                <a:latin typeface="Microsoft YaHei"/>
              </a:rPr>
              <a:t>Arke Language (.ak)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286000"/>
            <a:ext cx="7772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kernel { 语义 }   strategy { 决策 + rationale 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95560" y="2057400"/>
            <a:ext cx="1188720" cy="38404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95560" y="2057400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F1 · F5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943600" y="2697480"/>
            <a:ext cx="274320" cy="109728"/>
          </a:xfrm>
          <a:prstGeom prst="downArrow">
            <a:avLst/>
          </a:prstGeom>
          <a:solidFill>
            <a:srgbClr val="9F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80720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2807208"/>
            <a:ext cx="128016" cy="91440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2944368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7AB8FF"/>
                </a:solidFill>
                <a:latin typeface="Consolas"/>
              </a:rPr>
              <a:t>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292608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EAF2FA"/>
                </a:solidFill>
                <a:latin typeface="Microsoft YaHei"/>
              </a:rPr>
              <a:t>Arke IR — 4 层架构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3310128"/>
            <a:ext cx="7772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L4 SemanticIR · L3 StrategyIR · L2 ScheduleIR · L1 InstructionIR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95560" y="3081528"/>
            <a:ext cx="1188720" cy="38404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95560" y="3081528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F2 · F3 · F6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5943600" y="3721608"/>
            <a:ext cx="274320" cy="109728"/>
          </a:xfrm>
          <a:prstGeom prst="downArrow">
            <a:avLst/>
          </a:prstGeom>
          <a:solidFill>
            <a:srgbClr val="9F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383133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3831336"/>
            <a:ext cx="128016" cy="91440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3968496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2C55C"/>
                </a:solidFill>
                <a:latin typeface="Consolas"/>
              </a:rPr>
              <a:t>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3950208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EAF2FA"/>
                </a:solidFill>
                <a:latin typeface="Microsoft YaHei"/>
              </a:rPr>
              <a:t>Compiler Toolchain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4334256"/>
            <a:ext cx="7772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OpRegistry · PassPipeline · V0/V1/V2 · Backend (Triton/MLIR/LLVM)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95560" y="4105656"/>
            <a:ext cx="1188720" cy="384048"/>
          </a:xfrm>
          <a:prstGeom prst="roundRect">
            <a:avLst>
              <a:gd name="adj" fmla="val 40000"/>
            </a:avLst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95560" y="4105656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F3 · F4 · F6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5943600" y="4745736"/>
            <a:ext cx="274320" cy="109728"/>
          </a:xfrm>
          <a:prstGeom prst="downArrow">
            <a:avLst/>
          </a:prstGeom>
          <a:solidFill>
            <a:srgbClr val="9F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" y="485546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4855464"/>
            <a:ext cx="128016" cy="91440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4992624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B88AF0"/>
                </a:solidFill>
                <a:latin typeface="Consolas"/>
              </a:rPr>
              <a:t>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37360" y="4974336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EAF2FA"/>
                </a:solidFill>
                <a:latin typeface="Microsoft YaHei"/>
              </a:rPr>
              <a:t>Agent Engineering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37360" y="5358384"/>
            <a:ext cx="7772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Tool-use 协议 · Bounded Action · Budget · Checkpoint/Rollback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95560" y="5129784"/>
            <a:ext cx="1188720" cy="38404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95560" y="5129784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F2 · F4 · F5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879592"/>
            <a:ext cx="10881360" cy="6400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79592"/>
            <a:ext cx="128016" cy="64008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6044184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GPU / NPU 执行:　 NVIDIA · Ascend · AMD · 未来 NPU / DSA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6656832"/>
            <a:ext cx="10881360" cy="36576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6656832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2C55C"/>
                </a:solidFill>
                <a:latin typeface="Consolas"/>
              </a:rPr>
              <a:t>⑤ Benchmark 体系（横切的「度量层」）：BL × OT × ST × L  ·  多 baseline  ·  统一 reporting schema  ·  ⇒ F7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32 / 41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C3 · 组件 1 · Arke Language (.ak)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LLM 与人共同书写的「算子规约语言」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6766560" cy="4434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443484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659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Consolas"/>
              </a:rPr>
              <a:t>设计要点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468880"/>
            <a:ext cx="6400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kernel { ... } 写纯数学语义（无 tile / 无 thread / 无 memory）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strategy { ... } 写离散决策 + @rationale，每条决策可枚举/回滚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where 子句承载符号维度 / 动态 shape 约束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token 效率：相对手写 Triton 节省一个数量级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可读性：人和 LLM 同时可读、可写、可审计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通用算子抽象：算子通过 OpRegistry 注册，而非内建关键字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single source of truth：.ak 是规范，JSON IR 仅作序列化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1828800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1828800"/>
            <a:ext cx="4160520" cy="54864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1956816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呼应趋势 / 进展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2331720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T4 · 稳定抽象层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T5 · 知识资产化（@rationale）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3355848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3355848"/>
            <a:ext cx="4160520" cy="54864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79" y="3483864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F6E6E"/>
                </a:solidFill>
                <a:latin typeface="Consolas"/>
              </a:rPr>
              <a:t>回应难题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3858768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H1 · 策略可迁移：策略从代码中抽出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H3 · 动态 shape：where + symbolic dim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79" y="4882896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79" y="4882896"/>
            <a:ext cx="4160520" cy="54864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79" y="5010912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承载目标态特征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5385816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F1 · 语义 / 策略分离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F5 · 结构化经验资产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 · 组件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33 / 41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C4 · 组件 2 · Arke IR (多层架构)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LLM-Native 中间表示——4 层各有「LLM 参与度」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6766560" cy="4434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443484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659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Consolas"/>
              </a:rPr>
              <a:t>设计要点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468880"/>
            <a:ext cx="6400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Layer 4 · SemanticIR：纯数学，硬件无关，作为正确性参考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Layer 3 · StrategyIR：决策 + @rationale，LLM 主战场，可 checkpoint / rollback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Layer 2 · ScheduleIR：thread / block / warp 映射，编译器主导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Layer 1 · InstructionIR：近 LLVM IR，全自动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决策空间是有界的，可枚举、可剪枝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每层之间下沉，配合 V0/V1/V2 三级验证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与 MLIR / LLVM 互操作而非依赖：可下沉、可绕过、可演进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符号维度（symbolic dim）贯穿 4 层，动态 shape 一等公民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1828800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1828800"/>
            <a:ext cx="4160520" cy="54864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1956816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呼应趋势 / 进展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2331720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T2 · 工具化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T4 · 抽象层选择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3355848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3355848"/>
            <a:ext cx="4160520" cy="54864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79" y="3483864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F6E6E"/>
                </a:solidFill>
                <a:latin typeface="Consolas"/>
              </a:rPr>
              <a:t>回应难题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3858768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H2 · 多级验证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H7 · 后端天花板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H3 · 动态 / 符号 shape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79" y="4882896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79" y="4882896"/>
            <a:ext cx="4160520" cy="54864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79" y="5010912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承载目标态特征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5385816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F2 · 有界动作空间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F3 · 多层 IR + 多级验证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F6 · 跨硬件统一表达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 · 组件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34 / 41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C5 · 组件 3 · Arke Compiler Toolchain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"Compiler-as-Verifier"——不优化，只把关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6766560" cy="4434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44348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659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Consolas"/>
              </a:rPr>
              <a:t>设计要点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468880"/>
            <a:ext cx="6400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OpRegistry：算子单一事实源，新增算子的成本最小化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Pass Pipeline：可组合的 IR 变换基础设施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多级验证流水：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V0 静态 (&lt;1ms)：结构 / 类型 / 约束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V1 数值：与 NumPy / 参考实现对拍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V2 性能：编译 + profile，进入 LLM 反馈循环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Backend 抽象：Triton / MLIR / LLVM 可插拔，渐进下沉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硬件信号：roofline / occupancy / 寄存器压力可被 Agent 引用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1828800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1828800"/>
            <a:ext cx="4160520" cy="54864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1956816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呼应趋势 / 进展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2331720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G1 · 正确性门禁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G3 · 硬件信号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G4 · 稳定抽象层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3355848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3355848"/>
            <a:ext cx="4160520" cy="54864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79" y="3483864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F6E6E"/>
                </a:solidFill>
                <a:latin typeface="Consolas"/>
              </a:rPr>
              <a:t>回应难题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3858768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H2 · 多级验证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H4 · 跨硬件迁移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H7 · 后端天花板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79" y="4882896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79" y="4882896"/>
            <a:ext cx="4160520" cy="54864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79" y="5010912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承载目标态特征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5385816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F3 · 多级验证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F4 · 硬件信号闭环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F6 · 跨硬件统一表达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 · 组件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35 / 41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C6 · 组件 4 · Arke Agent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让任意 LLM 都能稳定开 kernel 的「工程化运行时」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6766560" cy="4434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443484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659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88AF0"/>
                </a:solidFill>
                <a:latin typeface="Consolas"/>
              </a:rPr>
              <a:t>设计要点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468880"/>
            <a:ext cx="6400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B88AF0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统一工具协议：analyze_compute / list_legal_actions / apply_decision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verify_correctness / compile_and_profile / observe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checkpoint / rollback / nudge / compact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B88AF0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Bounded Action Space：动作来自编译器枚举，杜绝幻觉式自由代码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B88AF0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预算 / 节流：budget · prompt cache · segmented compact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B88AF0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双模集成：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Mode A 内置 agent（CLI / Python API）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Mode B 外部 agent（Cursor / Claude Code 等可直接驱动）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B88AF0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轨迹 + rationale 沉淀：每次会话产出可检索 / 可训练资产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1828800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1828800"/>
            <a:ext cx="4160520" cy="54864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1956816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呼应趋势 / 进展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2331720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T1 · 搜索化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T2 · 工具化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G6 · Agent 编排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3355848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3355848"/>
            <a:ext cx="4160520" cy="54864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79" y="3483864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F6E6E"/>
                </a:solidFill>
                <a:latin typeface="Consolas"/>
              </a:rPr>
              <a:t>回应难题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3858768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H5 · 模型级闭环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H6 · token / 预算治理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H8 · 数据 / 领域模型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79" y="4882896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79" y="4882896"/>
            <a:ext cx="4160520" cy="54864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79" y="5010912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承载目标态特征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5385816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F2 · 有界动作空间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F4 · 硬件信号闭环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F5 · 经验资产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 · 组件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36 / 41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C7 · 组件 ⑤ · Benchmark 体系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OP 覆盖体系 (OT0–OT4 · 45 ops) + Shape 覆盖体系 (ST1–ST4 · ~350 shapes)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38D1B8"/>
                </a:solidFill>
                <a:latin typeface="Consolas"/>
              </a:rPr>
              <a:t>OP 覆盖体系 · Operator Tier (OT)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756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按计算复杂度 / 内核设计难度分 5 层；每层定义代表算子，覆盖 LLM 推理全部主流算子。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423160"/>
            <a:ext cx="11109960" cy="4114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38D1B8"/>
                </a:solidFill>
                <a:latin typeface="Consolas"/>
              </a:rPr>
              <a:t>Tier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51460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38D1B8"/>
                </a:solidFill>
                <a:latin typeface="Consolas"/>
              </a:rPr>
              <a:t>类别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25146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38D1B8"/>
                </a:solidFill>
                <a:latin typeface="Consolas"/>
              </a:rPr>
              <a:t>算子数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251460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38D1B8"/>
                </a:solidFill>
                <a:latin typeface="Consolas"/>
              </a:rPr>
              <a:t>代表算子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514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38D1B8"/>
                </a:solidFill>
                <a:latin typeface="Consolas"/>
              </a:rPr>
              <a:t>核心特性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880360"/>
            <a:ext cx="11109960" cy="329184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880360"/>
            <a:ext cx="54864" cy="329184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2926080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38D1B8"/>
                </a:solidFill>
                <a:latin typeface="Consolas"/>
              </a:rPr>
              <a:t>OT0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926080"/>
            <a:ext cx="1417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Elementwise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292608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7AB8FF"/>
                </a:solidFill>
                <a:latin typeface="Consolas"/>
              </a:rPr>
              <a:t>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2926080"/>
            <a:ext cx="57607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FB5C9"/>
                </a:solidFill>
                <a:latin typeface="Consolas"/>
              </a:rPr>
              <a:t>relu · gelu · silu · tanh · sigmoid · add · mul · where · cast · neg · exp · rsqrt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38360" y="2926080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1">
                <a:solidFill>
                  <a:srgbClr val="EAF2FA"/>
                </a:solidFill>
                <a:latin typeface="Microsoft YaHei"/>
              </a:rPr>
              <a:t>纯访存 · 1:1 element map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246120"/>
            <a:ext cx="11109960" cy="329184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246120"/>
            <a:ext cx="54864" cy="329184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291840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7AB8FF"/>
                </a:solidFill>
                <a:latin typeface="Consolas"/>
              </a:rPr>
              <a:t>OT1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3291840"/>
            <a:ext cx="1417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Reduction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71800" y="329184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7AB8FF"/>
                </a:solidFill>
                <a:latin typeface="Consolas"/>
              </a:rPr>
              <a:t>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86200" y="3291840"/>
            <a:ext cx="57607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FB5C9"/>
                </a:solidFill>
                <a:latin typeface="Consolas"/>
              </a:rPr>
              <a:t>softmax · layernorm · rmsnorm · rmsnorm_residual · reduce_{sum/max/mean} · argmax · topk · cumsum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38360" y="3291840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1">
                <a:solidFill>
                  <a:srgbClr val="EAF2FA"/>
                </a:solidFill>
                <a:latin typeface="Microsoft YaHei"/>
              </a:rPr>
              <a:t>warp 级归约 · 共享内存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3611880"/>
            <a:ext cx="11109960" cy="329184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3611880"/>
            <a:ext cx="54864" cy="329184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657600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2C55C"/>
                </a:solidFill>
                <a:latin typeface="Consolas"/>
              </a:rPr>
              <a:t>OT2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3657600"/>
            <a:ext cx="1417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Data Movement &amp; Dense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71800" y="3657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7AB8FF"/>
                </a:solidFill>
                <a:latin typeface="Consolas"/>
              </a:rPr>
              <a:t>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86200" y="3657600"/>
            <a:ext cx="57607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FB5C9"/>
                </a:solidFill>
                <a:latin typeface="Consolas"/>
              </a:rPr>
              <a:t>matmul · batch_matmul · grouped_matmul · transpose · concat · split · gather · scatter · embedding · permute · copy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38360" y="3657600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1">
                <a:solidFill>
                  <a:srgbClr val="EAF2FA"/>
                </a:solidFill>
                <a:latin typeface="Microsoft YaHei"/>
              </a:rPr>
              <a:t>Tensor Core · tile · 内存布局变换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3977640"/>
            <a:ext cx="11109960" cy="329184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3977640"/>
            <a:ext cx="54864" cy="329184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4023360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B88AF0"/>
                </a:solidFill>
                <a:latin typeface="Consolas"/>
              </a:rPr>
              <a:t>OT3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63040" y="4023360"/>
            <a:ext cx="1417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Fused Compound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71800" y="402336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7AB8FF"/>
                </a:solidFill>
                <a:latin typeface="Consolas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86200" y="4023360"/>
            <a:ext cx="57607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FB5C9"/>
                </a:solidFill>
                <a:latin typeface="Consolas"/>
              </a:rPr>
              <a:t>swiglu · geglu · rope · fused_linear_cross_entropy · cross_entropy · quantize_per_token · dequantize_per_channel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38360" y="4023360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1">
                <a:solidFill>
                  <a:srgbClr val="EAF2FA"/>
                </a:solidFill>
                <a:latin typeface="Microsoft YaHei"/>
              </a:rPr>
              <a:t>split + 多算子融合 · 输出 shape ≠ 输入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4343400"/>
            <a:ext cx="11109960" cy="329184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48640" y="4343400"/>
            <a:ext cx="54864" cy="329184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4389120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EF6E6E"/>
                </a:solidFill>
                <a:latin typeface="Consolas"/>
              </a:rPr>
              <a:t>OT4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63040" y="4389120"/>
            <a:ext cx="1417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Attention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71800" y="438912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7AB8FF"/>
                </a:solidFill>
                <a:latin typeface="Consolas"/>
              </a:rPr>
              <a:t>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86200" y="4389120"/>
            <a:ext cx="57607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FB5C9"/>
                </a:solidFill>
                <a:latin typeface="Consolas"/>
              </a:rPr>
              <a:t>flash_attention · grouped_query_attention · multi_latent_attention · cross_attention · paged_attention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38360" y="4389120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1">
                <a:solidFill>
                  <a:srgbClr val="EAF2FA"/>
                </a:solidFill>
                <a:latin typeface="Microsoft YaHei"/>
              </a:rPr>
              <a:t>多阶段融合 · online softmax · KV cache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738360" y="2075688"/>
            <a:ext cx="1920240" cy="29260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38360" y="2075688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TOTAL · 45 OPS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4370832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2C55C"/>
                </a:solidFill>
                <a:latin typeface="Consolas"/>
              </a:rPr>
              <a:t>Shape 覆盖体系 · Shape Tier (ST)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4663440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按规模 / 对齐 / 生产相关性分 4 层；ST4 对齐真实 LLM 生产 shape，覆盖动态 / 长上下文。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48640" y="5010912"/>
            <a:ext cx="11109960" cy="38404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5800" y="50840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Consolas"/>
              </a:rPr>
              <a:t>Tier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63040" y="50840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Consolas"/>
              </a:rPr>
              <a:t>名称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468880" y="508406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Consolas"/>
              </a:rPr>
              <a:t>对齐特征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14800" y="508406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Consolas"/>
              </a:rPr>
              <a:t>shape 选取原则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49440" y="508406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Consolas"/>
              </a:rPr>
              <a:t>覆盖示例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058400" y="508406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Consolas"/>
              </a:rPr>
              <a:t>规模 (∼/op)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48640" y="5431536"/>
            <a:ext cx="11109960" cy="2926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48640" y="5431536"/>
            <a:ext cx="54864" cy="292608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85800" y="5468112"/>
            <a:ext cx="6858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38D1B8"/>
                </a:solidFill>
                <a:latin typeface="Consolas"/>
              </a:rPr>
              <a:t>ST1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63040" y="5468112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Micro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468880" y="5468112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2 的幂次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14800" y="5468112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AF2FA"/>
                </a:solidFill>
                <a:latin typeface="Microsoft YaHei"/>
              </a:rPr>
              <a:t>small + power-of-2，启动开销主导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49440" y="5468112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7AB8FF"/>
                </a:solidFill>
                <a:latin typeface="Consolas"/>
              </a:rPr>
              <a:t>[32, 64] · [128, 256] · [1024, 1024]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058400" y="5468112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38D1B8"/>
                </a:solidFill>
                <a:latin typeface="Consolas"/>
              </a:rPr>
              <a:t>≈15 shapes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48640" y="5760720"/>
            <a:ext cx="11109960" cy="2926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48640" y="5760720"/>
            <a:ext cx="54864" cy="292608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85800" y="5797296"/>
            <a:ext cx="6858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7AB8FF"/>
                </a:solidFill>
                <a:latin typeface="Consolas"/>
              </a:rPr>
              <a:t>ST2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63040" y="579729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Standard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468880" y="5797296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混合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114800" y="5797296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AF2FA"/>
                </a:solidFill>
                <a:latin typeface="Microsoft YaHei"/>
              </a:rPr>
              <a:t>中等规模 + GPT-2/LLaMA-2/3 / Qwen2.5 推理 shape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949440" y="5797296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7AB8FF"/>
                </a:solidFill>
                <a:latin typeface="Consolas"/>
              </a:rPr>
              <a:t>[B, 768/4096/14336] · [S, head_dim×n_heads]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058400" y="5797296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7AB8FF"/>
                </a:solidFill>
                <a:latin typeface="Consolas"/>
              </a:rPr>
              <a:t>≈30 shapes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48640" y="6089904"/>
            <a:ext cx="11109960" cy="2926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48640" y="6089904"/>
            <a:ext cx="54864" cy="292608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85800" y="6126480"/>
            <a:ext cx="6858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2C55C"/>
                </a:solidFill>
                <a:latin typeface="Consolas"/>
              </a:rPr>
              <a:t>ST3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463040" y="6126480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Stress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468880" y="6126480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非对齐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14800" y="612648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AF2FA"/>
                </a:solidFill>
                <a:latin typeface="Microsoft YaHei"/>
              </a:rPr>
              <a:t>Off-by-one / 非 2 幂次 / 极端纵横比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949440" y="6126480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7AB8FF"/>
                </a:solidFill>
                <a:latin typeface="Consolas"/>
              </a:rPr>
              <a:t>[1, 4097] · [127, 769] · [33, 65]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058400" y="6126480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F2C55C"/>
                </a:solidFill>
                <a:latin typeface="Consolas"/>
              </a:rPr>
              <a:t>≈50 shapes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548640" y="6419088"/>
            <a:ext cx="11109960" cy="2926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48640" y="6419088"/>
            <a:ext cx="54864" cy="292608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85800" y="6455664"/>
            <a:ext cx="6858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EF6E6E"/>
                </a:solidFill>
                <a:latin typeface="Consolas"/>
              </a:rPr>
              <a:t>ST4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463040" y="6455664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Production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468880" y="6455664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混合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114800" y="645566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AF2FA"/>
                </a:solidFill>
                <a:latin typeface="Microsoft YaHei"/>
              </a:rPr>
              <a:t>DeepSeek-V2/V3 · LLaMA-3 · Qwen2.5 长上下文 (仅 OT2–OT4)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6455664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7AB8FF"/>
                </a:solidFill>
                <a:latin typeface="Consolas"/>
              </a:rPr>
              <a:t>DeepSeek-V3 [B, 7168] · ctx 163840 · KV-cache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58400" y="6455664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EF6E6E"/>
                </a:solidFill>
                <a:latin typeface="Consolas"/>
              </a:rPr>
              <a:t>per-op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738360" y="4663440"/>
            <a:ext cx="1920240" cy="292608"/>
          </a:xfrm>
          <a:prstGeom prst="roundRect">
            <a:avLst>
              <a:gd name="adj" fmla="val 40000"/>
            </a:avLst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738360" y="4663440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TOTAL · ~350 SHAPES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8640" y="6437376"/>
            <a:ext cx="11109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6E869F"/>
                </a:solidFill>
                <a:latin typeface="Microsoft YaHei"/>
              </a:rPr>
              <a:t>下一页 (C7 · 2/2)：BL × L 评测矩阵 · 多 baseline 矩阵 · 报告 schema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 · 组件 5 · 1/2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37 / 41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C7 · 组件 ⑤ · Benchmark 体系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BL × L 评测矩阵 + 6 档 baseline + BL6 真实模型 + 报告 schema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BL = OT × ST 覆盖矩阵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21408"/>
            <a:ext cx="1005840" cy="36576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554480" y="2121408"/>
            <a:ext cx="960120" cy="36576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14600" y="2121408"/>
            <a:ext cx="960120" cy="36576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74720" y="2121408"/>
            <a:ext cx="960120" cy="36576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34840" y="2121408"/>
            <a:ext cx="960120" cy="36576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19456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38D1B8"/>
                </a:solidFill>
                <a:latin typeface="Consolas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194560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38D1B8"/>
                </a:solidFill>
                <a:latin typeface="Consolas"/>
              </a:rPr>
              <a:t>ST1 micro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2194560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38D1B8"/>
                </a:solidFill>
                <a:latin typeface="Consolas"/>
              </a:rPr>
              <a:t>ST2 std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194560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38D1B8"/>
                </a:solidFill>
                <a:latin typeface="Consolas"/>
              </a:rPr>
              <a:t>ST3 stress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194560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38D1B8"/>
                </a:solidFill>
                <a:latin typeface="Consolas"/>
              </a:rPr>
              <a:t>ST4 prod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487168"/>
            <a:ext cx="1005840" cy="3657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56032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EAF2FA"/>
                </a:solidFill>
                <a:latin typeface="Consolas"/>
              </a:rPr>
              <a:t>OT0 elem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54480" y="2487168"/>
            <a:ext cx="960120" cy="3657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54480" y="2560320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38D1B8"/>
                </a:solidFill>
                <a:latin typeface="Consolas"/>
              </a:rPr>
              <a:t>BL1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14600" y="2487168"/>
            <a:ext cx="960120" cy="3657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14600" y="2560320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7AB8FF"/>
                </a:solidFill>
                <a:latin typeface="Consolas"/>
              </a:rPr>
              <a:t>BL2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74720" y="2487168"/>
            <a:ext cx="960120" cy="3657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0" y="2560320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2C55C"/>
                </a:solidFill>
                <a:latin typeface="Consolas"/>
              </a:rPr>
              <a:t>BL3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34840" y="2487168"/>
            <a:ext cx="960120" cy="3657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34840" y="2560320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6E869F"/>
                </a:solidFill>
                <a:latin typeface="Consolas"/>
              </a:rPr>
              <a:t>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2852928"/>
            <a:ext cx="1005840" cy="36576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2926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EAF2FA"/>
                </a:solidFill>
                <a:latin typeface="Consolas"/>
              </a:rPr>
              <a:t>OT1 reduce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554480" y="2852928"/>
            <a:ext cx="960120" cy="36576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554480" y="2926080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38D1B8"/>
                </a:solidFill>
                <a:latin typeface="Consolas"/>
              </a:rPr>
              <a:t>BL1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2852928"/>
            <a:ext cx="960120" cy="36576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514600" y="2926080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7AB8FF"/>
                </a:solidFill>
                <a:latin typeface="Consolas"/>
              </a:rPr>
              <a:t>BL2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74720" y="2852928"/>
            <a:ext cx="960120" cy="36576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74720" y="2926080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2C55C"/>
                </a:solidFill>
                <a:latin typeface="Consolas"/>
              </a:rPr>
              <a:t>BL3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34840" y="2852928"/>
            <a:ext cx="960120" cy="36576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34840" y="2926080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6E869F"/>
                </a:solidFill>
                <a:latin typeface="Consolas"/>
              </a:rPr>
              <a:t>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3218688"/>
            <a:ext cx="1005840" cy="3657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329184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EAF2FA"/>
                </a:solidFill>
                <a:latin typeface="Consolas"/>
              </a:rPr>
              <a:t>OT2 dense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554480" y="3218688"/>
            <a:ext cx="960120" cy="3657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554480" y="3291840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38D1B8"/>
                </a:solidFill>
                <a:latin typeface="Consolas"/>
              </a:rPr>
              <a:t>BL1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14600" y="3218688"/>
            <a:ext cx="960120" cy="3657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514600" y="3291840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7AB8FF"/>
                </a:solidFill>
                <a:latin typeface="Consolas"/>
              </a:rPr>
              <a:t>BL2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474720" y="3218688"/>
            <a:ext cx="960120" cy="3657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74720" y="3291840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2C55C"/>
                </a:solidFill>
                <a:latin typeface="Consolas"/>
              </a:rPr>
              <a:t>BL3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434840" y="3218688"/>
            <a:ext cx="960120" cy="3657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34840" y="3291840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EF6E6E"/>
                </a:solidFill>
                <a:latin typeface="Consolas"/>
              </a:rPr>
              <a:t>BL5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3584448"/>
            <a:ext cx="1005840" cy="36576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365760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EAF2FA"/>
                </a:solidFill>
                <a:latin typeface="Consolas"/>
              </a:rPr>
              <a:t>OT3 fused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554480" y="3584448"/>
            <a:ext cx="960120" cy="36576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554480" y="3657600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B88AF0"/>
                </a:solidFill>
                <a:latin typeface="Consolas"/>
              </a:rPr>
              <a:t>BL4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514600" y="3584448"/>
            <a:ext cx="960120" cy="36576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14600" y="3657600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B88AF0"/>
                </a:solidFill>
                <a:latin typeface="Consolas"/>
              </a:rPr>
              <a:t>BL4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474720" y="3584448"/>
            <a:ext cx="960120" cy="36576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74720" y="3657600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6E869F"/>
                </a:solidFill>
                <a:latin typeface="Consolas"/>
              </a:rPr>
              <a:t>—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434840" y="3584448"/>
            <a:ext cx="960120" cy="36576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34840" y="3657600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EF6E6E"/>
                </a:solidFill>
                <a:latin typeface="Consolas"/>
              </a:rPr>
              <a:t>BL5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48640" y="3950208"/>
            <a:ext cx="1005840" cy="3657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402336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EAF2FA"/>
                </a:solidFill>
                <a:latin typeface="Consolas"/>
              </a:rPr>
              <a:t>OT4 attn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554480" y="3950208"/>
            <a:ext cx="960120" cy="3657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554480" y="4023360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6E869F"/>
                </a:solidFill>
                <a:latin typeface="Consolas"/>
              </a:rPr>
              <a:t>—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514600" y="3950208"/>
            <a:ext cx="960120" cy="3657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514600" y="4023360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6E869F"/>
                </a:solidFill>
                <a:latin typeface="Consolas"/>
              </a:rPr>
              <a:t>—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74720" y="3950208"/>
            <a:ext cx="960120" cy="3657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474720" y="4023360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6E869F"/>
                </a:solidFill>
                <a:latin typeface="Consolas"/>
              </a:rPr>
              <a:t>—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434840" y="3950208"/>
            <a:ext cx="960120" cy="3657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434840" y="4023360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EF6E6E"/>
                </a:solidFill>
                <a:latin typeface="Consolas"/>
              </a:rPr>
              <a:t>BL5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48640" y="4315968"/>
            <a:ext cx="4846320" cy="36576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48640" y="4389120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EF6E6E"/>
                </a:solidFill>
                <a:latin typeface="Consolas"/>
              </a:rPr>
              <a:t>BL6 · Model-Complete   ←   GPT-2 · LLaMA-2/3 · DeepSeek-V2/V3 · Qwen2.5 真实模型 forward 算子+shape 集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18120" y="1783080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88AF0"/>
                </a:solidFill>
                <a:latin typeface="Consolas"/>
              </a:rPr>
              <a:t>L1 / L2 / L3 评测层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8120" y="2121408"/>
            <a:ext cx="3840480" cy="7772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818120" y="2121408"/>
            <a:ext cx="91440" cy="77724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955279" y="21945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88AF0"/>
                </a:solidFill>
                <a:latin typeface="Consolas"/>
              </a:rPr>
              <a:t>L1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503920" y="220370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AF2FA"/>
                </a:solidFill>
                <a:latin typeface="Microsoft YaHei"/>
              </a:rPr>
              <a:t>单算子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698480" y="22128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B88AF0"/>
                </a:solidFill>
                <a:latin typeface="Consolas"/>
              </a:rPr>
              <a:t>BL1–BL5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955279" y="2505456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能否打平专家手写单算子？
μs · TFLOPS · GB/s · % vs baseline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818120" y="2990088"/>
            <a:ext cx="3840480" cy="7772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818120" y="2990088"/>
            <a:ext cx="91440" cy="77724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955279" y="3063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Consolas"/>
              </a:rPr>
              <a:t>L2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503920" y="307238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AF2FA"/>
                </a:solidFill>
                <a:latin typeface="Microsoft YaHei"/>
              </a:rPr>
              <a:t>融合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98480" y="308152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7AB8FF"/>
                </a:solidFill>
                <a:latin typeface="Consolas"/>
              </a:rPr>
              <a:t>BL4–BL5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955279" y="3374136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能否做出与专家一致的融合？
matmul+relu/gelu · swiglu · geglu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818120" y="3858768"/>
            <a:ext cx="3840480" cy="7772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818120" y="3858768"/>
            <a:ext cx="91440" cy="77724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955279" y="39319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F6E6E"/>
                </a:solidFill>
                <a:latin typeface="Consolas"/>
              </a:rPr>
              <a:t>L3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503920" y="394106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AF2FA"/>
                </a:solidFill>
                <a:latin typeface="Microsoft YaHei"/>
              </a:rPr>
              <a:t>模型级 E2E ≡ BL6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698480" y="395020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EF6E6E"/>
                </a:solidFill>
                <a:latin typeface="Consolas"/>
              </a:rPr>
              <a:t>BL6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955279" y="4242816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是否真让模型变快？
latency · tok/s · peak mem · top-1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8640" y="4983480"/>
            <a:ext cx="7040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多 Baseline 矩阵 · 6 档对照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548640" y="5349240"/>
            <a:ext cx="2331720" cy="502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48640" y="5349240"/>
            <a:ext cx="73152" cy="5029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13232" y="540410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8D1B8"/>
                </a:solidFill>
                <a:latin typeface="Consolas"/>
              </a:rPr>
              <a:t>P0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88720" y="5404104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AF2FA"/>
                </a:solidFill>
                <a:latin typeface="Microsoft YaHei"/>
              </a:rPr>
              <a:t>厂商极致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13232" y="56235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FB5C9"/>
                </a:solidFill>
                <a:latin typeface="Consolas"/>
              </a:rPr>
              <a:t>cuBLAS · cuDNN · CUTLASS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926080" y="5349240"/>
            <a:ext cx="2331720" cy="502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926080" y="5349240"/>
            <a:ext cx="73152" cy="50292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090672" y="540410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AB8FF"/>
                </a:solidFill>
                <a:latin typeface="Consolas"/>
              </a:rPr>
              <a:t>P1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566160" y="5404104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AF2FA"/>
                </a:solidFill>
                <a:latin typeface="Microsoft YaHei"/>
              </a:rPr>
              <a:t>专家 Triton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090672" y="56235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FB5C9"/>
                </a:solidFill>
                <a:latin typeface="Consolas"/>
              </a:rPr>
              <a:t>FlagGems · Liger-Kernel · FlashAttention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303520" y="5349240"/>
            <a:ext cx="2331720" cy="502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303520" y="5349240"/>
            <a:ext cx="73152" cy="5029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468112" y="540410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Consolas"/>
              </a:rPr>
              <a:t>P2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943600" y="5404104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AF2FA"/>
                </a:solidFill>
                <a:latin typeface="Microsoft YaHei"/>
              </a:rPr>
              <a:t>Triton 教程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468112" y="56235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FB5C9"/>
                </a:solidFill>
                <a:latin typeface="Consolas"/>
              </a:rPr>
              <a:t>Triton 官方 tutorial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48640" y="5907024"/>
            <a:ext cx="2331720" cy="502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548640" y="5907024"/>
            <a:ext cx="73152" cy="50292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13232" y="596188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B88AF0"/>
                </a:solidFill>
                <a:latin typeface="Consolas"/>
              </a:rPr>
              <a:t>P3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88720" y="5961888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AF2FA"/>
                </a:solidFill>
                <a:latin typeface="Microsoft YaHei"/>
              </a:rPr>
              <a:t>PyTorch eager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13232" y="6181344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FB5C9"/>
                </a:solidFill>
                <a:latin typeface="Consolas"/>
              </a:rPr>
              <a:t>torch.nn.functional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2926080" y="5907024"/>
            <a:ext cx="2331720" cy="502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926080" y="5907024"/>
            <a:ext cx="73152" cy="50292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90672" y="596188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F6E6E"/>
                </a:solidFill>
                <a:latin typeface="Consolas"/>
              </a:rPr>
              <a:t>P4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566160" y="5961888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AF2FA"/>
                </a:solidFill>
                <a:latin typeface="Microsoft YaHei"/>
              </a:rPr>
              <a:t>图编译器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090672" y="6181344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FB5C9"/>
                </a:solidFill>
                <a:latin typeface="Consolas"/>
              </a:rPr>
              <a:t>torch.compile (Inductor)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5303520" y="5907024"/>
            <a:ext cx="2331720" cy="502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5303520" y="5907024"/>
            <a:ext cx="73152" cy="502920"/>
          </a:xfrm>
          <a:prstGeom prst="rect">
            <a:avLst/>
          </a:prstGeom>
          <a:solidFill>
            <a:srgbClr val="9F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68112" y="596188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9FB5C9"/>
                </a:solidFill>
                <a:latin typeface="Consolas"/>
              </a:rPr>
              <a:t>P5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943600" y="5961888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AF2FA"/>
                </a:solidFill>
                <a:latin typeface="Microsoft YaHei"/>
              </a:rPr>
              <a:t>LLM-direct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468112" y="6181344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FB5C9"/>
                </a:solidFill>
                <a:latin typeface="Consolas"/>
              </a:rPr>
              <a:t>LLM 直写 Triton（自我对照）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7818120" y="4983480"/>
            <a:ext cx="3840480" cy="14630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7818120" y="4983480"/>
            <a:ext cx="128016" cy="146304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092440" y="5074920"/>
            <a:ext cx="3520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F6E6E"/>
                </a:solidFill>
                <a:latin typeface="Consolas"/>
              </a:rPr>
              <a:t>回应 H9 · 承载 F7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092440" y="5413248"/>
            <a:ext cx="35204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95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950">
                <a:solidFill>
                  <a:srgbClr val="EAF2FA"/>
                </a:solidFill>
                <a:latin typeface="Microsoft YaHei"/>
              </a:rPr>
              <a:t>统一 reporting schema (39 列 CSV + Markdown)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95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950">
                <a:solidFill>
                  <a:srgbClr val="EAF2FA"/>
                </a:solidFill>
                <a:latin typeface="Microsoft YaHei"/>
              </a:rPr>
              <a:t>OP × HW × baseline × shape 全可比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95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950">
                <a:solidFill>
                  <a:srgbClr val="EAF2FA"/>
                </a:solidFill>
                <a:latin typeface="Microsoft YaHei"/>
              </a:rPr>
              <a:t>正确性 / 性能 / token 成本三维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95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950">
                <a:solidFill>
                  <a:srgbClr val="EAF2FA"/>
                </a:solidFill>
                <a:latin typeface="Microsoft YaHei"/>
              </a:rPr>
              <a:t>snapshot 自动同步 (sync_ops.py)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 · 组件 5 · 2/2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38 / 41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C8 · 与目标态 F1–F7 最终对齐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Arke 不是「再做一个 agent」，而是把目标态变成可工程实现的栈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109960" cy="45720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2C55C"/>
                </a:solidFill>
                <a:latin typeface="Consolas"/>
              </a:rPr>
              <a:t>F#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9202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2C55C"/>
                </a:solidFill>
                <a:latin typeface="Consolas"/>
              </a:rPr>
              <a:t>目标态特征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19202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2C55C"/>
                </a:solidFill>
                <a:latin typeface="Consolas"/>
              </a:rPr>
              <a:t>Arke 承载组件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9202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2C55C"/>
                </a:solidFill>
                <a:latin typeface="Consolas"/>
              </a:rPr>
              <a:t>一句话说明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331720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31720"/>
            <a:ext cx="91440" cy="5029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4505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F1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45059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语义 / 策略分离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45059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Consolas"/>
              </a:rPr>
              <a:t>Language + IR L4/L3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45059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.ak 双块 + IR 双层强约束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898648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898648"/>
            <a:ext cx="91440" cy="50292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017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7AB8FF"/>
                </a:solidFill>
                <a:latin typeface="Consolas"/>
              </a:rPr>
              <a:t>F2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301752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有界动作空间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30175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Consolas"/>
              </a:rPr>
              <a:t>IR L3 +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30175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StrategyIR 决策可枚举；Agent 工具协议禁止自由代码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465576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3465576"/>
            <a:ext cx="91440" cy="5029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5844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F3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358444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多层 IR + 多级验证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358444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Consolas"/>
              </a:rPr>
              <a:t>IR L4–L1 + Compiler V0/V1/V2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358444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四层下沉 × 三级验证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032504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4032504"/>
            <a:ext cx="91440" cy="50292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415137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88AF0"/>
                </a:solidFill>
                <a:latin typeface="Consolas"/>
              </a:rPr>
              <a:t>F4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0160" y="415137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硬件信号闭环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4151376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Consolas"/>
              </a:rPr>
              <a:t>Compiler + Agent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41513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compile_and_profile 反馈进入决策循环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599432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4599432"/>
            <a:ext cx="91440" cy="50292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471830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F6E6E"/>
                </a:solidFill>
                <a:latin typeface="Consolas"/>
              </a:rPr>
              <a:t>F5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80160" y="471830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结构化经验资产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06240" y="4718304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Consolas"/>
              </a:rPr>
              <a:t>Language @rationale + Agent 轨迹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0" y="4718304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一等公民 + 跨会话沉淀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166360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8640" y="5166360"/>
            <a:ext cx="91440" cy="5029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5285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F6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80160" y="528523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跨硬件统一表达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06240" y="528523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Consolas"/>
              </a:rPr>
              <a:t>Language + IR + Backend 抽象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528523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单语义多 target；Triton / MLIR / LLVM 渐进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5733288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5733288"/>
            <a:ext cx="91440" cy="5029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" y="58521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F7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80160" y="585216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可复现评测协议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06240" y="58521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Consolas"/>
              </a:rPr>
              <a:t>Benchmark (BL/OT/ST/L)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0" y="5852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多 baseline + 统一 schema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39 / 41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C9 · 讨论与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5 个研讨引导问题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109960" cy="84124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841248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8D1B8"/>
                </a:solidFill>
                <a:latin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975104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有界动作空间的「边界」由谁定义？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3317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9FB5C9"/>
                </a:solidFill>
                <a:latin typeface="Microsoft YaHei"/>
              </a:rPr>
              <a:t>编译器枚举 vs 模型外推——谁说了算？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706624"/>
            <a:ext cx="11109960" cy="84124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706624"/>
            <a:ext cx="128016" cy="841248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907792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7AB8FF"/>
                </a:solidFill>
                <a:latin typeface="Consola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2852928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@rationale 是终极的知识沉淀介质吗？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209544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9FB5C9"/>
                </a:solidFill>
                <a:latin typeface="Microsoft YaHei"/>
              </a:rPr>
              <a:t>还是只是过渡形态？下一形态会是什么？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84448"/>
            <a:ext cx="11109960" cy="84124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584448"/>
            <a:ext cx="128016" cy="841248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785616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2C55C"/>
                </a:solidFill>
                <a:latin typeface="Consola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730752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自研领域模型 vs 复用通用前沿模型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408736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9FB5C9"/>
                </a:solidFill>
                <a:latin typeface="Microsoft YaHei"/>
              </a:rPr>
              <a:t>分界点在哪里？什么时候必须自研？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462272"/>
            <a:ext cx="11109960" cy="84124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462272"/>
            <a:ext cx="128016" cy="841248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663440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B88AF0"/>
                </a:solidFill>
                <a:latin typeface="Consolas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4608576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跨硬件策略迁移：是 IR 层的事，还是模型层的事？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496519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9FB5C9"/>
                </a:solidFill>
                <a:latin typeface="Microsoft YaHei"/>
              </a:rPr>
              <a:t>IR-as-portability vs Model-as-portability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340096"/>
            <a:ext cx="11109960" cy="84124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5340096"/>
            <a:ext cx="128016" cy="841248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541264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F6E6E"/>
                </a:solidFill>
                <a:latin typeface="Consolas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548640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评测的「业界横向可比」由谁主导？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37360" y="5843016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9FB5C9"/>
                </a:solidFill>
                <a:latin typeface="Microsoft YaHei"/>
              </a:rPr>
              <a:t>是否应当推动一个开放协议作为公共物品？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40 / 41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参考资料（论文 · Repo · Blog）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65376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KernelEvolve (arXiv)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865376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https://arxiv.org/abs/2512.23236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57984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194560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KernelEvolve · Meta blog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194560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https://engineering.fb.com/2026/04/02/developer-tools/kernelevolve-...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487168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523744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KernelAgent · repo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523744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https://github.com/meta-pytorch/KernelAgent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2816352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852928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KernelFalcon · PyTorch blog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2852928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https://pytorch.org/blog/kernelfalcon-autonomous-gpu-kernel-...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45536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18211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KernelAgent · PyTorch blog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182112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https://pytorch.org/blog/kernelagent-hardware-guided-...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3474720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511296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AutoKernel (arXiv)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3511296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https://arxiv.org/abs/2603.21331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3803904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840480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AutoKernel · repo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3840480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https://github.com/RightNow-AI/autokernel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4133088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4169664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K-Search (arXiv)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4169664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https://arxiv.org/abs/2602.19128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4462272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4498848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K-Search · repo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4498848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https://github.com/caoshiyi/K-Search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960" y="4791456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482803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AVO (arXiv)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4828032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https://arxiv.org/abs/2603.24517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5120640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157216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CuTeGen (arXiv)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5157216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https://arxiv.org/abs/2604.01489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449824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5486400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AscendKernelGen (arXiv)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97680" y="5486400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https://arxiv.org/abs/2601.07160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2960" y="5779008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5840" y="5815584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Awesome list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0" y="5815584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https://github.com/flagos-ai/awesome-LLM-driven-kernel-generation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2960" y="6108192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6144768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Arke project (this work)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6144768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docs/spec/arke-lang-spec-v2.md, docs/spec/arke-ir-spec-v2.md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References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41 / 41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